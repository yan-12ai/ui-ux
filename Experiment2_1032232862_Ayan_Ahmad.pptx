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8" r:id="rId19"/>
    <p:sldId id="261" r:id="rId7"/>
    <p:sldId id="259" r:id="rId5"/>
    <p:sldId id="262" r:id="rId8"/>
    <p:sldId id="269" r:id="rId20"/>
    <p:sldId id="258" r:id="rId4"/>
    <p:sldId id="260" r:id="rId6"/>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4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  <Relationship Id="rId19" Type="http://schemas.openxmlformats.org/officeDocument/2006/relationships/slide" Target="slides/slide13.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72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D3B"/>
        </a:solidFill>
        <a:effectLst/>
      </p:bgPr>
    </p:bg>
    <p:spTree>
      <p:nvGrpSpPr>
        <p:cNvPr id="1" name=""/>
        <p:cNvGrpSpPr/>
        <p:nvPr/>
      </p:nvGrpSpPr>
      <p:grpSpPr>
        <a:xfrm>
          <a:off x="0" y="0"/>
          <a:ext cx="0" cy="0"/>
          <a:chOff x="0" y="0"/>
          <a:chExt cx="0" cy="0"/>
        </a:xfrm>
      </p:grpSpPr>
      <p:sp>
        <p:nvSpPr>
          <p:cNvPr id="2" name="Shape 0"/>
          <p:cNvSpPr/>
          <p:nvPr/>
        </p:nvSpPr>
        <p:spPr>
          <a:xfrm>
            <a:off x="-1097280" y="-1097280"/>
            <a:ext cx="5486400" cy="5486400"/>
          </a:xfrm>
          <a:prstGeom prst="triangle">
            <a:avLst/>
          </a:prstGeom>
          <a:solidFill>
            <a:srgbClr val="132A52">
              <a:alpha val="80000"/>
            </a:srgbClr>
          </a:solidFill>
          <a:ln/>
        </p:spPr>
      </p:sp>
      <p:sp>
        <p:nvSpPr>
          <p:cNvPr id="3" name="Shape 1"/>
          <p:cNvSpPr/>
          <p:nvPr/>
        </p:nvSpPr>
        <p:spPr>
          <a:xfrm rot="10800000">
            <a:off x="8778240" y="4206240"/>
            <a:ext cx="5029200" cy="5029200"/>
          </a:xfrm>
          <a:prstGeom prst="triangle">
            <a:avLst/>
          </a:prstGeom>
          <a:solidFill>
            <a:srgbClr val="FF6A2B">
              <a:alpha val="22000"/>
            </a:srgbClr>
          </a:solidFill>
          <a:ln/>
        </p:spPr>
      </p:sp>
      <p:sp>
        <p:nvSpPr>
          <p:cNvPr id="4" name="Shape 2"/>
          <p:cNvSpPr/>
          <p:nvPr/>
        </p:nvSpPr>
        <p:spPr>
          <a:xfrm>
            <a:off x="9692640" y="548640"/>
            <a:ext cx="1828800" cy="1828800"/>
          </a:xfrm>
          <a:prstGeom prst="ellipse">
            <a:avLst/>
          </a:prstGeom>
          <a:solidFill>
            <a:srgbClr val="FFFFFF">
              <a:alpha val="8000"/>
            </a:srgbClr>
          </a:solidFill>
          <a:ln w="12700">
            <a:solidFill>
              <a:srgbClr val="FFFFFF">
                <a:alpha val="40000"/>
              </a:srgbClr>
            </a:solidFill>
            <a:prstDash val="solid"/>
          </a:ln>
        </p:spPr>
      </p:sp>
      <p:sp>
        <p:nvSpPr>
          <p:cNvPr id="5" name="Text 3"/>
          <p:cNvSpPr/>
          <p:nvPr/>
        </p:nvSpPr>
        <p:spPr>
          <a:xfrm>
            <a:off x="640079" y="502920"/>
            <a:ext cx="7446645" cy="563880"/>
          </a:xfrm>
          <a:prstGeom prst="rect">
            <a:avLst/>
          </a:prstGeom>
          <a:noFill/>
          <a:ln/>
        </p:spPr>
        <p:txBody>
          <a:bodyPr wrap="square" lIns="0" tIns="0" rIns="0" bIns="0" rtlCol="0" anchor="ctr"/>
          <a:lstStyle/>
          <a:p>
            <a:r>
              <a:rPr lang="en-US" sz="1600" dirty="0">
                <a:solidFill>
                  <a:srgbClr val="AEB9CF"/>
                </a:solidFill>
                <a:latin typeface="Calibri" pitchFamily="34" charset="0"/>
                <a:ea typeface="Calibri" pitchFamily="34" charset="-122"/>
                <a:cs typeface="Calibri" pitchFamily="34" charset="-120"/>
              </a:rPr>
              <a:t>Ayan Ahmad |  PRN - 1032232862  | Batch – D2 |  August 7, 2026</a:t>
            </a:r>
            <a:endParaRPr lang="en-US" sz="1600" dirty="0"/>
          </a:p>
        </p:txBody>
      </p:sp>
      <p:sp>
        <p:nvSpPr>
          <p:cNvPr id="6" name="Text 4"/>
          <p:cNvSpPr/>
          <p:nvPr/>
        </p:nvSpPr>
        <p:spPr>
          <a:xfrm>
            <a:off x="640080" y="2286000"/>
            <a:ext cx="8778240" cy="182880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entury Schoolbook" pitchFamily="34" charset="0"/>
                <a:ea typeface="Century Schoolbook" pitchFamily="34" charset="-122"/>
                <a:cs typeface="Century Schoolbook" pitchFamily="34" charset="-120"/>
              </a:rPr>
              <a:t>USER PERSONA FOR THE</a:t>
            </a:r>
            <a:endParaRPr lang="en-US" sz="4000" dirty="0"/>
          </a:p>
          <a:p>
            <a:pPr marL="0" indent="0">
              <a:lnSpc>
                <a:spcPct val="105000"/>
              </a:lnSpc>
              <a:buNone/>
            </a:pPr>
            <a:r>
              <a:rPr lang="en-US" sz="4000" b="1" dirty="0">
                <a:solidFill>
                  <a:srgbClr val="FFFFFF"/>
                </a:solidFill>
                <a:latin typeface="Century Schoolbook" pitchFamily="34" charset="0"/>
                <a:ea typeface="Century Schoolbook" pitchFamily="34" charset="-122"/>
                <a:cs typeface="Century Schoolbook" pitchFamily="34" charset="-120"/>
              </a:rPr>
              <a:t>ANGEL ONE WEBSITE</a:t>
            </a:r>
            <a:endParaRPr lang="en-US" sz="4000" dirty="0"/>
          </a:p>
        </p:txBody>
      </p:sp>
      <p:sp>
        <p:nvSpPr>
          <p:cNvPr id="7" name="Text 5"/>
          <p:cNvSpPr/>
          <p:nvPr/>
        </p:nvSpPr>
        <p:spPr>
          <a:xfrm>
            <a:off x="640080" y="4160520"/>
            <a:ext cx="7315200" cy="457200"/>
          </a:xfrm>
          <a:prstGeom prst="rect">
            <a:avLst/>
          </a:prstGeom>
          <a:noFill/>
          <a:ln/>
        </p:spPr>
        <p:txBody>
          <a:bodyPr wrap="square" lIns="0" tIns="0" rIns="0" bIns="0" rtlCol="0" anchor="ctr"/>
          <a:lstStyle/>
          <a:p>
            <a:pPr marL="0" indent="0">
              <a:buNone/>
            </a:pPr>
            <a:r>
              <a:rPr lang="en-US" sz="1800" i="1" dirty="0">
                <a:solidFill>
                  <a:srgbClr val="FF6A2B"/>
                </a:solidFill>
                <a:latin typeface="Calibri" pitchFamily="34" charset="0"/>
                <a:ea typeface="Calibri" pitchFamily="34" charset="-122"/>
                <a:cs typeface="Calibri" pitchFamily="34" charset="-120"/>
              </a:rPr>
              <a:t>A UX Research &amp; Interface Analysis</a:t>
            </a:r>
            <a:endParaRPr lang="en-US" sz="1800" dirty="0"/>
          </a:p>
        </p:txBody>
      </p:sp>
      <p:sp>
        <p:nvSpPr>
          <p:cNvPr id="8" name="Shape 6"/>
          <p:cNvSpPr/>
          <p:nvPr/>
        </p:nvSpPr>
        <p:spPr>
          <a:xfrm>
            <a:off x="9784080" y="2377440"/>
            <a:ext cx="1554480" cy="1554480"/>
          </a:xfrm>
          <a:prstGeom prst="ellipse">
            <a:avLst/>
          </a:prstGeom>
          <a:solidFill>
            <a:srgbClr val="132A52"/>
          </a:solidFill>
          <a:ln/>
        </p:spPr>
      </p:sp>
      <p:sp>
        <p:nvSpPr>
          <p:cNvPr id="9" name="Text 7"/>
          <p:cNvSpPr/>
          <p:nvPr/>
        </p:nvSpPr>
        <p:spPr>
          <a:xfrm>
            <a:off x="9784080" y="2377440"/>
            <a:ext cx="1554480" cy="1554480"/>
          </a:xfrm>
          <a:prstGeom prst="rect">
            <a:avLst/>
          </a:prstGeom>
          <a:noFill/>
          <a:ln/>
        </p:spPr>
        <p:txBody>
          <a:bodyPr wrap="square" lIns="0" tIns="0" rIns="0" bIns="0" rtlCol="0" anchor="ctr"/>
          <a:lstStyle/>
          <a:p>
            <a:pPr marL="0" indent="0" algn="ctr">
              <a:buNone/>
            </a:pPr>
            <a:r>
              <a:rPr lang="en-US" sz="4600" dirty="0">
                <a:solidFill>
                  <a:srgbClr val="000000"/>
                </a:solidFill>
              </a:rPr>
              <a:t>🔐</a:t>
            </a:r>
            <a:endParaRPr lang="en-US" sz="4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Table of Contents</a:t>
            </a:r>
            <a:endParaRPr lang="en-US" sz="3200" dirty="0"/>
          </a:p>
        </p:txBody>
      </p:sp>
      <p:sp>
        <p:nvSpPr>
          <p:cNvPr id="7" name="Shape 5"/>
          <p:cNvSpPr/>
          <p:nvPr/>
        </p:nvSpPr>
        <p:spPr>
          <a:xfrm>
            <a:off x="640080" y="182880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8" name="Text 6"/>
          <p:cNvSpPr/>
          <p:nvPr/>
        </p:nvSpPr>
        <p:spPr>
          <a:xfrm>
            <a:off x="868680" y="182880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01</a:t>
            </a:r>
            <a:endParaRPr lang="en-US" sz="2200" dirty="0"/>
          </a:p>
        </p:txBody>
      </p:sp>
      <p:sp>
        <p:nvSpPr>
          <p:cNvPr id="9" name="Text 7"/>
          <p:cNvSpPr/>
          <p:nvPr/>
        </p:nvSpPr>
        <p:spPr>
          <a:xfrm>
            <a:off x="1691640" y="182880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Empathy Map</a:t>
            </a:r>
            <a:endParaRPr lang="en-US" sz="1500" dirty="0"/>
          </a:p>
        </p:txBody>
      </p:sp>
      <p:sp>
        <p:nvSpPr>
          <p:cNvPr id="10" name="Shape 8"/>
          <p:cNvSpPr/>
          <p:nvPr/>
        </p:nvSpPr>
        <p:spPr>
          <a:xfrm>
            <a:off x="640080" y="292608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11" name="Text 9"/>
          <p:cNvSpPr/>
          <p:nvPr/>
        </p:nvSpPr>
        <p:spPr>
          <a:xfrm>
            <a:off x="868680" y="292608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02</a:t>
            </a:r>
            <a:endParaRPr lang="en-US" sz="2200" dirty="0"/>
          </a:p>
        </p:txBody>
      </p:sp>
      <p:sp>
        <p:nvSpPr>
          <p:cNvPr id="12" name="Text 10"/>
          <p:cNvSpPr/>
          <p:nvPr/>
        </p:nvSpPr>
        <p:spPr>
          <a:xfrm>
            <a:off x="1691640" y="292608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Pain Points</a:t>
            </a:r>
            <a:endParaRPr lang="en-US" sz="1500" dirty="0"/>
          </a:p>
        </p:txBody>
      </p:sp>
      <p:sp>
        <p:nvSpPr>
          <p:cNvPr id="13" name="Shape 11"/>
          <p:cNvSpPr/>
          <p:nvPr/>
        </p:nvSpPr>
        <p:spPr>
          <a:xfrm>
            <a:off x="640080" y="402336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14" name="Text 12"/>
          <p:cNvSpPr/>
          <p:nvPr/>
        </p:nvSpPr>
        <p:spPr>
          <a:xfrm>
            <a:off x="868680" y="402336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03</a:t>
            </a:r>
            <a:endParaRPr lang="en-US" sz="2200" dirty="0"/>
          </a:p>
        </p:txBody>
      </p:sp>
      <p:sp>
        <p:nvSpPr>
          <p:cNvPr id="15" name="Text 13"/>
          <p:cNvSpPr/>
          <p:nvPr/>
        </p:nvSpPr>
        <p:spPr>
          <a:xfrm>
            <a:off x="1691640" y="402336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Primary User Persona</a:t>
            </a:r>
            <a:endParaRPr lang="en-US" sz="1500" dirty="0"/>
          </a:p>
        </p:txBody>
      </p:sp>
      <p:sp>
        <p:nvSpPr>
          <p:cNvPr id="16" name="Shape 14"/>
          <p:cNvSpPr/>
          <p:nvPr/>
        </p:nvSpPr>
        <p:spPr>
          <a:xfrm>
            <a:off x="6309360" y="182880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17" name="Text 15"/>
          <p:cNvSpPr/>
          <p:nvPr/>
        </p:nvSpPr>
        <p:spPr>
          <a:xfrm>
            <a:off x="6537960" y="182880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04</a:t>
            </a:r>
            <a:endParaRPr lang="en-US" sz="2200" dirty="0"/>
          </a:p>
        </p:txBody>
      </p:sp>
      <p:sp>
        <p:nvSpPr>
          <p:cNvPr id="18" name="Text 16"/>
          <p:cNvSpPr/>
          <p:nvPr/>
        </p:nvSpPr>
        <p:spPr>
          <a:xfrm>
            <a:off x="7360920" y="182880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User Journey</a:t>
            </a:r>
            <a:endParaRPr lang="en-US" sz="1500" dirty="0"/>
          </a:p>
        </p:txBody>
      </p:sp>
      <p:sp>
        <p:nvSpPr>
          <p:cNvPr id="19" name="Shape 17"/>
          <p:cNvSpPr/>
          <p:nvPr/>
        </p:nvSpPr>
        <p:spPr>
          <a:xfrm>
            <a:off x="6309360" y="292608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20" name="Text 18"/>
          <p:cNvSpPr/>
          <p:nvPr/>
        </p:nvSpPr>
        <p:spPr>
          <a:xfrm>
            <a:off x="6537960" y="292608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05</a:t>
            </a:r>
            <a:endParaRPr lang="en-US" sz="2200" dirty="0"/>
          </a:p>
        </p:txBody>
      </p:sp>
      <p:sp>
        <p:nvSpPr>
          <p:cNvPr id="21" name="Text 19"/>
          <p:cNvSpPr/>
          <p:nvPr/>
        </p:nvSpPr>
        <p:spPr>
          <a:xfrm>
            <a:off x="7360920" y="292608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Gaps for Future Improvement</a:t>
            </a:r>
            <a:endParaRPr lang="en-US" sz="1500" dirty="0"/>
          </a:p>
        </p:txBody>
      </p:sp>
      <p:sp>
        <p:nvSpPr>
          <p:cNvPr id="22" name="Shape 20"/>
          <p:cNvSpPr/>
          <p:nvPr/>
        </p:nvSpPr>
        <p:spPr>
          <a:xfrm>
            <a:off x="6309360" y="402336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23" name="Text 21"/>
          <p:cNvSpPr/>
          <p:nvPr/>
        </p:nvSpPr>
        <p:spPr>
          <a:xfrm>
            <a:off x="6537960" y="402336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06</a:t>
            </a:r>
            <a:endParaRPr lang="en-US" sz="2200" dirty="0"/>
          </a:p>
        </p:txBody>
      </p:sp>
      <p:sp>
        <p:nvSpPr>
          <p:cNvPr id="24" name="Text 22"/>
          <p:cNvSpPr/>
          <p:nvPr/>
        </p:nvSpPr>
        <p:spPr>
          <a:xfrm>
            <a:off x="7360920" y="402336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About Angel One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About Angel One</a:t>
            </a:r>
            <a:endParaRPr lang="en-US" sz="3200" dirty="0"/>
          </a:p>
        </p:txBody>
      </p:sp>
      <p:sp>
        <p:nvSpPr>
          <p:cNvPr id="7" name="Text 5"/>
          <p:cNvSpPr/>
          <p:nvPr/>
        </p:nvSpPr>
        <p:spPr>
          <a:xfrm>
            <a:off x="640080" y="1691640"/>
            <a:ext cx="6492240" cy="1188720"/>
          </a:xfrm>
          <a:prstGeom prst="rect">
            <a:avLst/>
          </a:prstGeom>
          <a:noFill/>
          <a:ln/>
        </p:spPr>
        <p:txBody>
          <a:bodyPr wrap="square" lIns="0" tIns="0" rIns="0" bIns="0" rtlCol="0" anchor="ctr"/>
          <a:lstStyle/>
          <a:p>
            <a:pPr marL="0" indent="0">
              <a:lnSpc>
                <a:spcPct val="125000"/>
              </a:lnSpc>
              <a:buNone/>
            </a:pPr>
            <a:r>
              <a:rPr lang="en-US" sz="1400" dirty="0">
                <a:solidFill>
                  <a:srgbClr val="2B3A55"/>
                </a:solidFill>
                <a:latin typeface="Calibri" pitchFamily="34" charset="0"/>
                <a:ea typeface="Calibri" pitchFamily="34" charset="-122"/>
                <a:cs typeface="Calibri" pitchFamily="34" charset="-120"/>
              </a:rPr>
              <a:t>Angel One (formerly Angel Broking) is one of India's largest SEBI-registered stockbroking and financial services platforms. Its website serves as both a customer-acquisition funnel and a gateway into a full trading and investment product.</a:t>
            </a:r>
            <a:endParaRPr lang="en-US" sz="1400" dirty="0"/>
          </a:p>
        </p:txBody>
      </p:sp>
      <p:sp>
        <p:nvSpPr>
          <p:cNvPr id="8" name="Shape 6"/>
          <p:cNvSpPr/>
          <p:nvPr/>
        </p:nvSpPr>
        <p:spPr>
          <a:xfrm>
            <a:off x="640080" y="2971800"/>
            <a:ext cx="6492240" cy="777240"/>
          </a:xfrm>
          <a:prstGeom prst="roundRect">
            <a:avLst>
              <a:gd name="adj" fmla="val 9412"/>
            </a:avLst>
          </a:prstGeom>
          <a:solidFill>
            <a:srgbClr val="F4F7FC"/>
          </a:solidFill>
          <a:ln w="12700">
            <a:solidFill>
              <a:srgbClr val="D7E1F2"/>
            </a:solidFill>
            <a:prstDash val="solid"/>
          </a:ln>
        </p:spPr>
      </p:sp>
      <p:sp>
        <p:nvSpPr>
          <p:cNvPr id="9" name="Text 7"/>
          <p:cNvSpPr/>
          <p:nvPr/>
        </p:nvSpPr>
        <p:spPr>
          <a:xfrm>
            <a:off x="868680" y="2971800"/>
            <a:ext cx="6035040" cy="777240"/>
          </a:xfrm>
          <a:prstGeom prst="rect">
            <a:avLst/>
          </a:prstGeom>
          <a:noFill/>
          <a:ln/>
        </p:spPr>
        <p:txBody>
          <a:bodyPr wrap="square" lIns="0" tIns="0" rIns="0" bIns="0" rtlCol="0" anchor="ctr"/>
          <a:lstStyle/>
          <a:p>
            <a:pPr marL="0" indent="0">
              <a:lnSpc>
                <a:spcPct val="115000"/>
              </a:lnSpc>
              <a:buNone/>
            </a:pPr>
            <a:r>
              <a:rPr lang="en-US" sz="1250" b="1" dirty="0">
                <a:solidFill>
                  <a:srgbClr val="132A52"/>
                </a:solidFill>
                <a:latin typeface="Calibri" pitchFamily="34" charset="0"/>
                <a:ea typeface="Calibri" pitchFamily="34" charset="-122"/>
                <a:cs typeface="Calibri" pitchFamily="34" charset="-120"/>
              </a:rPr>
              <a:t>Website Purpose:  </a:t>
            </a:r>
            <a:r>
              <a:rPr lang="en-US" sz="1250" dirty="0">
                <a:solidFill>
                  <a:srgbClr val="2B3A55"/>
                </a:solidFill>
                <a:latin typeface="Calibri" pitchFamily="34" charset="0"/>
                <a:ea typeface="Calibri" pitchFamily="34" charset="-122"/>
                <a:cs typeface="Calibri" pitchFamily="34" charset="-120"/>
              </a:rPr>
              <a:t>Help visitors open a free demat account and provide access to stocks, F&amp;O, mutual funds, IPOs, and research tools for informed investing.</a:t>
            </a:r>
            <a:endParaRPr lang="en-US" sz="1250" dirty="0"/>
          </a:p>
        </p:txBody>
      </p:sp>
      <p:sp>
        <p:nvSpPr>
          <p:cNvPr id="10" name="Text 8"/>
          <p:cNvSpPr/>
          <p:nvPr/>
        </p:nvSpPr>
        <p:spPr>
          <a:xfrm>
            <a:off x="640080" y="3977640"/>
            <a:ext cx="5486400" cy="36576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Main Audiences</a:t>
            </a:r>
            <a:endParaRPr lang="en-US" sz="1500" dirty="0"/>
          </a:p>
        </p:txBody>
      </p:sp>
      <p:sp>
        <p:nvSpPr>
          <p:cNvPr id="11" name="Shape 9"/>
          <p:cNvSpPr/>
          <p:nvPr/>
        </p:nvSpPr>
        <p:spPr>
          <a:xfrm>
            <a:off x="640080" y="4434840"/>
            <a:ext cx="502920" cy="502920"/>
          </a:xfrm>
          <a:prstGeom prst="ellipse">
            <a:avLst/>
          </a:prstGeom>
          <a:solidFill>
            <a:srgbClr val="132A52"/>
          </a:solidFill>
          <a:ln/>
        </p:spPr>
      </p:sp>
      <p:sp>
        <p:nvSpPr>
          <p:cNvPr id="12" name="Text 10"/>
          <p:cNvSpPr/>
          <p:nvPr/>
        </p:nvSpPr>
        <p:spPr>
          <a:xfrm>
            <a:off x="640080" y="443484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1280160" y="441655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First-time Investors</a:t>
            </a:r>
            <a:endParaRPr lang="en-US" sz="1250" dirty="0"/>
          </a:p>
        </p:txBody>
      </p:sp>
      <p:sp>
        <p:nvSpPr>
          <p:cNvPr id="14" name="Text 12"/>
          <p:cNvSpPr/>
          <p:nvPr/>
        </p:nvSpPr>
        <p:spPr>
          <a:xfrm>
            <a:off x="1280160" y="472744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Opening their first demat account</a:t>
            </a:r>
            <a:endParaRPr lang="en-US" sz="1050" dirty="0"/>
          </a:p>
        </p:txBody>
      </p:sp>
      <p:sp>
        <p:nvSpPr>
          <p:cNvPr id="15" name="Shape 13"/>
          <p:cNvSpPr/>
          <p:nvPr/>
        </p:nvSpPr>
        <p:spPr>
          <a:xfrm>
            <a:off x="3931920" y="4434840"/>
            <a:ext cx="502920" cy="502920"/>
          </a:xfrm>
          <a:prstGeom prst="ellipse">
            <a:avLst/>
          </a:prstGeom>
          <a:solidFill>
            <a:srgbClr val="132A52"/>
          </a:solidFill>
          <a:ln/>
        </p:spPr>
      </p:sp>
      <p:sp>
        <p:nvSpPr>
          <p:cNvPr id="16" name="Text 14"/>
          <p:cNvSpPr/>
          <p:nvPr/>
        </p:nvSpPr>
        <p:spPr>
          <a:xfrm>
            <a:off x="3931920" y="443484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4572000" y="441655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Active Traders</a:t>
            </a:r>
            <a:endParaRPr lang="en-US" sz="1250" dirty="0"/>
          </a:p>
        </p:txBody>
      </p:sp>
      <p:sp>
        <p:nvSpPr>
          <p:cNvPr id="18" name="Text 16"/>
          <p:cNvSpPr/>
          <p:nvPr/>
        </p:nvSpPr>
        <p:spPr>
          <a:xfrm>
            <a:off x="4572000" y="472744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Trading F&amp;O, currencies &amp; commodities daily</a:t>
            </a:r>
            <a:endParaRPr lang="en-US" sz="1050" dirty="0"/>
          </a:p>
        </p:txBody>
      </p:sp>
      <p:sp>
        <p:nvSpPr>
          <p:cNvPr id="19" name="Shape 17"/>
          <p:cNvSpPr/>
          <p:nvPr/>
        </p:nvSpPr>
        <p:spPr>
          <a:xfrm>
            <a:off x="640080" y="5394960"/>
            <a:ext cx="502920" cy="502920"/>
          </a:xfrm>
          <a:prstGeom prst="ellipse">
            <a:avLst/>
          </a:prstGeom>
          <a:solidFill>
            <a:srgbClr val="132A52"/>
          </a:solidFill>
          <a:ln/>
        </p:spPr>
      </p:sp>
      <p:sp>
        <p:nvSpPr>
          <p:cNvPr id="20" name="Text 18"/>
          <p:cNvSpPr/>
          <p:nvPr/>
        </p:nvSpPr>
        <p:spPr>
          <a:xfrm>
            <a:off x="640080" y="5394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1280160" y="537667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Working Professionals</a:t>
            </a:r>
            <a:endParaRPr lang="en-US" sz="1250" dirty="0"/>
          </a:p>
        </p:txBody>
      </p:sp>
      <p:sp>
        <p:nvSpPr>
          <p:cNvPr id="22" name="Text 20"/>
          <p:cNvSpPr/>
          <p:nvPr/>
        </p:nvSpPr>
        <p:spPr>
          <a:xfrm>
            <a:off x="1280160" y="568756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Investing monthly savings via SIPs</a:t>
            </a:r>
            <a:endParaRPr lang="en-US" sz="1050" dirty="0"/>
          </a:p>
        </p:txBody>
      </p:sp>
      <p:sp>
        <p:nvSpPr>
          <p:cNvPr id="23" name="Shape 21"/>
          <p:cNvSpPr/>
          <p:nvPr/>
        </p:nvSpPr>
        <p:spPr>
          <a:xfrm>
            <a:off x="3931920" y="5394960"/>
            <a:ext cx="502920" cy="502920"/>
          </a:xfrm>
          <a:prstGeom prst="ellipse">
            <a:avLst/>
          </a:prstGeom>
          <a:solidFill>
            <a:srgbClr val="132A52"/>
          </a:solidFill>
          <a:ln/>
        </p:spPr>
      </p:sp>
      <p:sp>
        <p:nvSpPr>
          <p:cNvPr id="24" name="Text 22"/>
          <p:cNvSpPr/>
          <p:nvPr/>
        </p:nvSpPr>
        <p:spPr>
          <a:xfrm>
            <a:off x="3931920" y="5394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4572000" y="537667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NRIs</a:t>
            </a:r>
            <a:endParaRPr lang="en-US" sz="1250" dirty="0"/>
          </a:p>
        </p:txBody>
      </p:sp>
      <p:sp>
        <p:nvSpPr>
          <p:cNvPr id="26" name="Text 24"/>
          <p:cNvSpPr/>
          <p:nvPr/>
        </p:nvSpPr>
        <p:spPr>
          <a:xfrm>
            <a:off x="4572000" y="568756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Investing in Indian markets from abroad</a:t>
            </a:r>
            <a:endParaRPr lang="en-US" sz="1050" dirty="0"/>
          </a:p>
        </p:txBody>
      </p:sp>
      <p:sp>
        <p:nvSpPr>
          <p:cNvPr id="27" name="Shape 25"/>
          <p:cNvSpPr/>
          <p:nvPr/>
        </p:nvSpPr>
        <p:spPr>
          <a:xfrm>
            <a:off x="7635240" y="1691640"/>
            <a:ext cx="3886200" cy="4480560"/>
          </a:xfrm>
          <a:prstGeom prst="roundRect">
            <a:avLst>
              <a:gd name="adj" fmla="val 2824"/>
            </a:avLst>
          </a:prstGeom>
          <a:solidFill>
            <a:srgbClr val="132A52"/>
          </a:solidFill>
          <a:ln/>
        </p:spPr>
      </p:sp>
      <p:sp>
        <p:nvSpPr>
          <p:cNvPr id="28" name="Text 26"/>
          <p:cNvSpPr/>
          <p:nvPr/>
        </p:nvSpPr>
        <p:spPr>
          <a:xfrm>
            <a:off x="7909560" y="196596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3.5 Cr+</a:t>
            </a:r>
            <a:endParaRPr lang="en-US" sz="2600" dirty="0"/>
          </a:p>
        </p:txBody>
      </p:sp>
      <p:sp>
        <p:nvSpPr>
          <p:cNvPr id="29" name="Text 27"/>
          <p:cNvSpPr/>
          <p:nvPr/>
        </p:nvSpPr>
        <p:spPr>
          <a:xfrm>
            <a:off x="7909560" y="246888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Registered customers</a:t>
            </a:r>
            <a:endParaRPr lang="en-US" sz="1150" dirty="0"/>
          </a:p>
        </p:txBody>
      </p:sp>
      <p:sp>
        <p:nvSpPr>
          <p:cNvPr id="30" name="Text 28"/>
          <p:cNvSpPr/>
          <p:nvPr/>
        </p:nvSpPr>
        <p:spPr>
          <a:xfrm>
            <a:off x="7909560" y="301752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₹20</a:t>
            </a:r>
            <a:endParaRPr lang="en-US" sz="2600" dirty="0"/>
          </a:p>
        </p:txBody>
      </p:sp>
      <p:sp>
        <p:nvSpPr>
          <p:cNvPr id="31" name="Text 29"/>
          <p:cNvSpPr/>
          <p:nvPr/>
        </p:nvSpPr>
        <p:spPr>
          <a:xfrm>
            <a:off x="7909560" y="352044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Flat brokerage per order</a:t>
            </a:r>
            <a:endParaRPr lang="en-US" sz="1150" dirty="0"/>
          </a:p>
        </p:txBody>
      </p:sp>
      <p:sp>
        <p:nvSpPr>
          <p:cNvPr id="32" name="Text 30"/>
          <p:cNvSpPr/>
          <p:nvPr/>
        </p:nvSpPr>
        <p:spPr>
          <a:xfrm>
            <a:off x="7909560" y="406908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7+</a:t>
            </a:r>
            <a:endParaRPr lang="en-US" sz="2600" dirty="0"/>
          </a:p>
        </p:txBody>
      </p:sp>
      <p:sp>
        <p:nvSpPr>
          <p:cNvPr id="33" name="Text 31"/>
          <p:cNvSpPr/>
          <p:nvPr/>
        </p:nvSpPr>
        <p:spPr>
          <a:xfrm>
            <a:off x="7909560" y="457200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Product segments offered</a:t>
            </a:r>
            <a:endParaRPr lang="en-US" sz="1150" dirty="0"/>
          </a:p>
        </p:txBody>
      </p:sp>
      <p:sp>
        <p:nvSpPr>
          <p:cNvPr id="34" name="Text 32"/>
          <p:cNvSpPr/>
          <p:nvPr/>
        </p:nvSpPr>
        <p:spPr>
          <a:xfrm>
            <a:off x="7909560" y="512064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1996</a:t>
            </a:r>
            <a:endParaRPr lang="en-US" sz="2600" dirty="0"/>
          </a:p>
        </p:txBody>
      </p:sp>
      <p:sp>
        <p:nvSpPr>
          <p:cNvPr id="35" name="Text 33"/>
          <p:cNvSpPr/>
          <p:nvPr/>
        </p:nvSpPr>
        <p:spPr>
          <a:xfrm>
            <a:off x="7909560" y="562356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Operating since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Primary User Persona</a:t>
            </a:r>
            <a:endParaRPr lang="en-US" sz="3200" dirty="0"/>
          </a:p>
        </p:txBody>
      </p:sp>
      <p:sp>
        <p:nvSpPr>
          <p:cNvPr id="7" name="Shape 5"/>
          <p:cNvSpPr/>
          <p:nvPr/>
        </p:nvSpPr>
        <p:spPr>
          <a:xfrm>
            <a:off x="640080" y="1737360"/>
            <a:ext cx="4206240" cy="4480560"/>
          </a:xfrm>
          <a:prstGeom prst="roundRect">
            <a:avLst>
              <a:gd name="adj" fmla="val 2609"/>
            </a:avLst>
          </a:prstGeom>
          <a:solidFill>
            <a:srgbClr val="FFFFFF"/>
          </a:solidFill>
          <a:ln w="12700">
            <a:solidFill>
              <a:srgbClr val="D7E1F2"/>
            </a:solidFill>
            <a:prstDash val="solid"/>
          </a:ln>
          <a:effectLst>
            <a:outerShdw blurRad="101600" dist="25400" dir="5400000" algn="bl" rotWithShape="0">
              <a:srgbClr val="1B2A52">
                <a:alpha val="12000"/>
              </a:srgbClr>
            </a:outerShdw>
          </a:effectLst>
        </p:spPr>
      </p:sp>
      <p:sp>
        <p:nvSpPr>
          <p:cNvPr id="8" name="Shape 6"/>
          <p:cNvSpPr/>
          <p:nvPr/>
        </p:nvSpPr>
        <p:spPr>
          <a:xfrm>
            <a:off x="2194560" y="2057400"/>
            <a:ext cx="1463040" cy="1463040"/>
          </a:xfrm>
          <a:prstGeom prst="ellipse">
            <a:avLst/>
          </a:prstGeom>
          <a:solidFill>
            <a:srgbClr val="132A52"/>
          </a:solidFill>
          <a:ln/>
        </p:spPr>
      </p:sp>
      <p:sp>
        <p:nvSpPr>
          <p:cNvPr id="9" name="Text 7"/>
          <p:cNvSpPr/>
          <p:nvPr/>
        </p:nvSpPr>
        <p:spPr>
          <a:xfrm>
            <a:off x="2194560" y="2057400"/>
            <a:ext cx="1463040" cy="1463040"/>
          </a:xfrm>
          <a:prstGeom prst="rect">
            <a:avLst/>
          </a:prstGeom>
          <a:noFill/>
          <a:ln/>
        </p:spPr>
        <p:txBody>
          <a:bodyPr wrap="square" lIns="0" tIns="0" rIns="0" bIns="0" rtlCol="0" anchor="ctr"/>
          <a:lstStyle/>
          <a:p>
            <a:pPr marL="0" indent="0" algn="ctr">
              <a:buNone/>
            </a:pPr>
            <a:r>
              <a:rPr lang="en-US" sz="4400" dirty="0">
                <a:solidFill>
                  <a:srgbClr val="000000"/>
                </a:solidFill>
              </a:rPr>
              <a:t>🙋‍♀️</a:t>
            </a:r>
            <a:endParaRPr lang="en-US" sz="4400" dirty="0"/>
          </a:p>
        </p:txBody>
      </p:sp>
      <p:sp>
        <p:nvSpPr>
          <p:cNvPr id="10" name="Text 8"/>
          <p:cNvSpPr/>
          <p:nvPr/>
        </p:nvSpPr>
        <p:spPr>
          <a:xfrm>
            <a:off x="822960" y="3657600"/>
            <a:ext cx="3840480" cy="457200"/>
          </a:xfrm>
          <a:prstGeom prst="rect">
            <a:avLst/>
          </a:prstGeom>
          <a:noFill/>
          <a:ln/>
        </p:spPr>
        <p:txBody>
          <a:bodyPr wrap="square" lIns="0" tIns="0" rIns="0" bIns="0" rtlCol="0" anchor="ctr"/>
          <a:lstStyle/>
          <a:p>
            <a:pPr marL="0" indent="0" algn="ctr">
              <a:buNone/>
            </a:pPr>
            <a:r>
              <a:rPr lang="en-US" sz="2000" b="1" dirty="0">
                <a:solidFill>
                  <a:srgbClr val="132A52"/>
                </a:solidFill>
                <a:latin typeface="Century Schoolbook" pitchFamily="34" charset="0"/>
                <a:ea typeface="Century Schoolbook" pitchFamily="34" charset="-122"/>
                <a:cs typeface="Century Schoolbook" pitchFamily="34" charset="-120"/>
              </a:rPr>
              <a:t>Priya Deshmukh</a:t>
            </a:r>
            <a:endParaRPr lang="en-US" sz="2000" dirty="0"/>
          </a:p>
        </p:txBody>
      </p:sp>
      <p:sp>
        <p:nvSpPr>
          <p:cNvPr id="11" name="Text 9"/>
          <p:cNvSpPr/>
          <p:nvPr/>
        </p:nvSpPr>
        <p:spPr>
          <a:xfrm>
            <a:off x="914400" y="4160520"/>
            <a:ext cx="3657600" cy="960120"/>
          </a:xfrm>
          <a:prstGeom prst="rect">
            <a:avLst/>
          </a:prstGeom>
          <a:noFill/>
          <a:ln/>
        </p:spPr>
        <p:txBody>
          <a:bodyPr wrap="square" lIns="0" tIns="0" rIns="0" bIns="0" rtlCol="0" anchor="ctr"/>
          <a:lstStyle/>
          <a:p>
            <a:pPr marL="0" indent="0" algn="ctr">
              <a:lnSpc>
                <a:spcPct val="120000"/>
              </a:lnSpc>
              <a:buNone/>
            </a:pPr>
            <a:r>
              <a:rPr lang="en-US" sz="1200" i="1" dirty="0">
                <a:solidFill>
                  <a:srgbClr val="5B6B85"/>
                </a:solidFill>
                <a:latin typeface="Calibri" pitchFamily="34" charset="0"/>
                <a:ea typeface="Calibri" pitchFamily="34" charset="-122"/>
                <a:cs typeface="Calibri" pitchFamily="34" charset="-120"/>
              </a:rPr>
              <a:t>"I want one clear next step — not two banners fighting for my attention — when I'm ready to start investing."</a:t>
            </a:r>
            <a:endParaRPr lang="en-US" sz="1200" dirty="0"/>
          </a:p>
        </p:txBody>
      </p:sp>
      <p:sp>
        <p:nvSpPr>
          <p:cNvPr id="12" name="Shape 10"/>
          <p:cNvSpPr/>
          <p:nvPr/>
        </p:nvSpPr>
        <p:spPr>
          <a:xfrm>
            <a:off x="5074920" y="1737360"/>
            <a:ext cx="6446520" cy="2148840"/>
          </a:xfrm>
          <a:prstGeom prst="roundRect">
            <a:avLst>
              <a:gd name="adj" fmla="val 5106"/>
            </a:avLst>
          </a:prstGeom>
          <a:solidFill>
            <a:srgbClr val="FFFFFF"/>
          </a:solidFill>
          <a:ln w="12700">
            <a:solidFill>
              <a:srgbClr val="D7E1F2"/>
            </a:solidFill>
            <a:prstDash val="solid"/>
          </a:ln>
        </p:spPr>
      </p:sp>
      <p:sp>
        <p:nvSpPr>
          <p:cNvPr id="13" name="Text 11"/>
          <p:cNvSpPr/>
          <p:nvPr/>
        </p:nvSpPr>
        <p:spPr>
          <a:xfrm>
            <a:off x="5349240" y="1965960"/>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4" name="Text 12"/>
          <p:cNvSpPr/>
          <p:nvPr/>
        </p:nvSpPr>
        <p:spPr>
          <a:xfrm>
            <a:off x="5733288" y="1965960"/>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Age: 24 | Software Engineer</a:t>
            </a:r>
            <a:endParaRPr lang="en-US" sz="1150" dirty="0"/>
          </a:p>
        </p:txBody>
      </p:sp>
      <p:sp>
        <p:nvSpPr>
          <p:cNvPr id="15" name="Text 13"/>
          <p:cNvSpPr/>
          <p:nvPr/>
        </p:nvSpPr>
        <p:spPr>
          <a:xfrm>
            <a:off x="5349240" y="2587752"/>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6" name="Text 14"/>
          <p:cNvSpPr/>
          <p:nvPr/>
        </p:nvSpPr>
        <p:spPr>
          <a:xfrm>
            <a:off x="5733288" y="2587752"/>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Location: Bengaluru, India</a:t>
            </a:r>
            <a:endParaRPr lang="en-US" sz="1150" dirty="0"/>
          </a:p>
        </p:txBody>
      </p:sp>
      <p:sp>
        <p:nvSpPr>
          <p:cNvPr id="17" name="Text 15"/>
          <p:cNvSpPr/>
          <p:nvPr/>
        </p:nvSpPr>
        <p:spPr>
          <a:xfrm>
            <a:off x="5349240" y="3209544"/>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8" name="Text 16"/>
          <p:cNvSpPr/>
          <p:nvPr/>
        </p:nvSpPr>
        <p:spPr>
          <a:xfrm>
            <a:off x="5733288" y="3209544"/>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Technical Level: Intermediate</a:t>
            </a:r>
            <a:endParaRPr lang="en-US" sz="1150" dirty="0"/>
          </a:p>
        </p:txBody>
      </p:sp>
      <p:sp>
        <p:nvSpPr>
          <p:cNvPr id="19" name="Text 17"/>
          <p:cNvSpPr/>
          <p:nvPr/>
        </p:nvSpPr>
        <p:spPr>
          <a:xfrm>
            <a:off x="8412480" y="1965960"/>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20" name="Text 18"/>
          <p:cNvSpPr/>
          <p:nvPr/>
        </p:nvSpPr>
        <p:spPr>
          <a:xfrm>
            <a:off x="8796528" y="1965960"/>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Devices: Mobile-first, occasional laptop</a:t>
            </a:r>
            <a:endParaRPr lang="en-US" sz="1150" dirty="0"/>
          </a:p>
        </p:txBody>
      </p:sp>
      <p:sp>
        <p:nvSpPr>
          <p:cNvPr id="21" name="Text 19"/>
          <p:cNvSpPr/>
          <p:nvPr/>
        </p:nvSpPr>
        <p:spPr>
          <a:xfrm>
            <a:off x="8412480" y="2587752"/>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22" name="Text 20"/>
          <p:cNvSpPr/>
          <p:nvPr/>
        </p:nvSpPr>
        <p:spPr>
          <a:xfrm>
            <a:off x="8796528" y="2587752"/>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App Usage: A few times a week</a:t>
            </a:r>
            <a:endParaRPr lang="en-US" sz="1150" dirty="0"/>
          </a:p>
        </p:txBody>
      </p:sp>
      <p:sp>
        <p:nvSpPr>
          <p:cNvPr id="23" name="Text 21"/>
          <p:cNvSpPr/>
          <p:nvPr/>
        </p:nvSpPr>
        <p:spPr>
          <a:xfrm>
            <a:off x="8412480" y="3209544"/>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24" name="Text 22"/>
          <p:cNvSpPr/>
          <p:nvPr/>
        </p:nvSpPr>
        <p:spPr>
          <a:xfrm>
            <a:off x="8796528" y="3209544"/>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Investing Experience: First-time investor</a:t>
            </a:r>
            <a:endParaRPr lang="en-US" sz="1150" dirty="0"/>
          </a:p>
        </p:txBody>
      </p:sp>
      <p:sp>
        <p:nvSpPr>
          <p:cNvPr id="25" name="Shape 23"/>
          <p:cNvSpPr/>
          <p:nvPr/>
        </p:nvSpPr>
        <p:spPr>
          <a:xfrm>
            <a:off x="5074920" y="4069080"/>
            <a:ext cx="6446520" cy="2148840"/>
          </a:xfrm>
          <a:prstGeom prst="roundRect">
            <a:avLst>
              <a:gd name="adj" fmla="val 5106"/>
            </a:avLst>
          </a:prstGeom>
          <a:solidFill>
            <a:srgbClr val="132A52"/>
          </a:solidFill>
          <a:ln/>
        </p:spPr>
      </p:sp>
      <p:sp>
        <p:nvSpPr>
          <p:cNvPr id="26" name="Text 24"/>
          <p:cNvSpPr/>
          <p:nvPr/>
        </p:nvSpPr>
        <p:spPr>
          <a:xfrm>
            <a:off x="5349240" y="4251960"/>
            <a:ext cx="5852160" cy="365760"/>
          </a:xfrm>
          <a:prstGeom prst="rect">
            <a:avLst/>
          </a:prstGeom>
          <a:noFill/>
          <a:ln/>
        </p:spPr>
        <p:txBody>
          <a:bodyPr wrap="square" lIns="0" tIns="0" rIns="0" bIns="0" rtlCol="0" anchor="ctr"/>
          <a:lstStyle/>
          <a:p>
            <a:pPr marL="0" indent="0">
              <a:buNone/>
            </a:pPr>
            <a:r>
              <a:rPr lang="en-US" sz="1400" b="1" dirty="0">
                <a:solidFill>
                  <a:srgbClr val="FF6A2B"/>
                </a:solidFill>
                <a:latin typeface="Calibri" pitchFamily="34" charset="0"/>
                <a:ea typeface="Calibri" pitchFamily="34" charset="-122"/>
                <a:cs typeface="Calibri" pitchFamily="34" charset="-120"/>
              </a:rPr>
              <a:t>Why She's Here</a:t>
            </a:r>
            <a:endParaRPr lang="en-US" sz="1400" dirty="0"/>
          </a:p>
        </p:txBody>
      </p:sp>
      <p:sp>
        <p:nvSpPr>
          <p:cNvPr id="27" name="Text 25"/>
          <p:cNvSpPr/>
          <p:nvPr/>
        </p:nvSpPr>
        <p:spPr>
          <a:xfrm>
            <a:off x="5349240" y="4617720"/>
            <a:ext cx="5852160" cy="1463040"/>
          </a:xfrm>
          <a:prstGeom prst="rect">
            <a:avLst/>
          </a:prstGeom>
          <a:noFill/>
          <a:ln/>
        </p:spPr>
        <p:txBody>
          <a:bodyPr wrap="square" lIns="0" tIns="0" rIns="0" bIns="0" rtlCol="0" anchor="ctr"/>
          <a:lstStyle/>
          <a:p>
            <a:pPr marL="0" indent="0">
              <a:lnSpc>
                <a:spcPct val="130000"/>
              </a:lnSpc>
              <a:buNone/>
            </a:pPr>
            <a:r>
              <a:rPr lang="en-US" sz="1200" dirty="0">
                <a:solidFill>
                  <a:srgbClr val="DCE4F5"/>
                </a:solidFill>
                <a:latin typeface="Calibri" pitchFamily="34" charset="0"/>
                <a:ea typeface="Calibri" pitchFamily="34" charset="-122"/>
                <a:cs typeface="Calibri" pitchFamily="34" charset="-120"/>
              </a:rPr>
              <a:t>Priya has started saving a fixed amount every month and wants to put part of it into stocks and mutual funds through a trusted, well-known broker. She's comfortable with apps generally but has never opened a demat account or placed a trade before, so she is relying on the website itself to tell her clearly what to do first.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Goals &amp; Motivations</a:t>
            </a:r>
            <a:endParaRPr lang="en-US" sz="3200" dirty="0"/>
          </a:p>
        </p:txBody>
      </p:sp>
      <p:sp>
        <p:nvSpPr>
          <p:cNvPr id="7" name="Shape 5"/>
          <p:cNvSpPr/>
          <p:nvPr/>
        </p:nvSpPr>
        <p:spPr>
          <a:xfrm>
            <a:off x="640080" y="1737360"/>
            <a:ext cx="5303520" cy="4480560"/>
          </a:xfrm>
          <a:prstGeom prst="roundRect">
            <a:avLst>
              <a:gd name="adj" fmla="val 2449"/>
            </a:avLst>
          </a:prstGeom>
          <a:solidFill>
            <a:srgbClr val="F4F7FC"/>
          </a:solidFill>
          <a:ln w="12700">
            <a:solidFill>
              <a:srgbClr val="D7E1F2"/>
            </a:solidFill>
            <a:prstDash val="solid"/>
          </a:ln>
        </p:spPr>
      </p:sp>
      <p:sp>
        <p:nvSpPr>
          <p:cNvPr id="8" name="Shape 6"/>
          <p:cNvSpPr/>
          <p:nvPr/>
        </p:nvSpPr>
        <p:spPr>
          <a:xfrm>
            <a:off x="914400" y="1965960"/>
            <a:ext cx="502920" cy="502920"/>
          </a:xfrm>
          <a:prstGeom prst="ellipse">
            <a:avLst/>
          </a:prstGeom>
          <a:solidFill>
            <a:srgbClr val="FF6A2B"/>
          </a:solidFill>
          <a:ln/>
        </p:spPr>
      </p:sp>
      <p:sp>
        <p:nvSpPr>
          <p:cNvPr id="9" name="Text 7"/>
          <p:cNvSpPr/>
          <p:nvPr/>
        </p:nvSpPr>
        <p:spPr>
          <a:xfrm>
            <a:off x="914400" y="1965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554480" y="1965960"/>
            <a:ext cx="2743200" cy="502920"/>
          </a:xfrm>
          <a:prstGeom prst="rect">
            <a:avLst/>
          </a:prstGeom>
          <a:noFill/>
          <a:ln/>
        </p:spPr>
        <p:txBody>
          <a:bodyPr wrap="square" lIns="0" tIns="0" rIns="0" bIns="0" rtlCol="0" anchor="ctr"/>
          <a:lstStyle/>
          <a:p>
            <a:pPr marL="0" indent="0">
              <a:buNone/>
            </a:pPr>
            <a:r>
              <a:rPr lang="en-US" sz="1700" b="1" dirty="0">
                <a:solidFill>
                  <a:srgbClr val="132A52"/>
                </a:solidFill>
                <a:latin typeface="Calibri" pitchFamily="34" charset="0"/>
                <a:ea typeface="Calibri" pitchFamily="34" charset="-122"/>
                <a:cs typeface="Calibri" pitchFamily="34" charset="-120"/>
              </a:rPr>
              <a:t>Goals</a:t>
            </a:r>
            <a:endParaRPr lang="en-US" sz="1700" dirty="0"/>
          </a:p>
        </p:txBody>
      </p:sp>
      <p:sp>
        <p:nvSpPr>
          <p:cNvPr id="11" name="Text 9"/>
          <p:cNvSpPr/>
          <p:nvPr/>
        </p:nvSpPr>
        <p:spPr>
          <a:xfrm>
            <a:off x="914400" y="2606040"/>
            <a:ext cx="4754880" cy="34747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Open a demat account quickly and correctly</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Understand brokerage &amp; charges before committing</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Compare stocks, mutual funds, and SIPs confidently</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Use ARQ recommendations to place a first trade</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Avoid unfamiliar trading jargon while learning</a:t>
            </a:r>
            <a:endParaRPr lang="en-US" sz="1300" dirty="0"/>
          </a:p>
        </p:txBody>
      </p:sp>
      <p:sp>
        <p:nvSpPr>
          <p:cNvPr id="12" name="Shape 10"/>
          <p:cNvSpPr/>
          <p:nvPr/>
        </p:nvSpPr>
        <p:spPr>
          <a:xfrm>
            <a:off x="6217920" y="1737360"/>
            <a:ext cx="5303520" cy="4480560"/>
          </a:xfrm>
          <a:prstGeom prst="roundRect">
            <a:avLst>
              <a:gd name="adj" fmla="val 2449"/>
            </a:avLst>
          </a:prstGeom>
          <a:solidFill>
            <a:srgbClr val="132A52"/>
          </a:solidFill>
          <a:ln/>
        </p:spPr>
      </p:sp>
      <p:sp>
        <p:nvSpPr>
          <p:cNvPr id="13" name="Shape 11"/>
          <p:cNvSpPr/>
          <p:nvPr/>
        </p:nvSpPr>
        <p:spPr>
          <a:xfrm>
            <a:off x="6492240" y="1965960"/>
            <a:ext cx="502920" cy="502920"/>
          </a:xfrm>
          <a:prstGeom prst="ellipse">
            <a:avLst/>
          </a:prstGeom>
          <a:solidFill>
            <a:srgbClr val="FF6A2B"/>
          </a:solidFill>
          <a:ln/>
        </p:spPr>
      </p:sp>
      <p:sp>
        <p:nvSpPr>
          <p:cNvPr id="14" name="Text 12"/>
          <p:cNvSpPr/>
          <p:nvPr/>
        </p:nvSpPr>
        <p:spPr>
          <a:xfrm>
            <a:off x="6492240" y="1965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7132320" y="1965960"/>
            <a:ext cx="274320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Motivations</a:t>
            </a:r>
            <a:endParaRPr lang="en-US" sz="1700" dirty="0"/>
          </a:p>
        </p:txBody>
      </p:sp>
      <p:sp>
        <p:nvSpPr>
          <p:cNvPr id="16" name="Text 14"/>
          <p:cNvSpPr/>
          <p:nvPr/>
        </p:nvSpPr>
        <p:spPr>
          <a:xfrm>
            <a:off x="6492240" y="2606040"/>
            <a:ext cx="4754880" cy="34747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Financial Independence — build savings into real wealth</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Trust &amp; Safety — invest through a regulated, credible platform</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Confidence — feel sure she's not overpaying or missing options</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Simplicity — avoid feeling out of her depth as a beginner</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Long-Term Growth — build a habit of consistent investing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D3B"/>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a:off x="0" y="0"/>
            <a:ext cx="12188952" cy="822960"/>
          </a:xfrm>
          <a:prstGeom prst="rect">
            <a:avLst/>
          </a:prstGeom>
          <a:solidFill>
            <a:srgbClr val="0C1D3B"/>
          </a:solidFill>
          <a:ln/>
        </p:spPr>
      </p:sp>
      <p:sp>
        <p:nvSpPr>
          <p:cNvPr id="5" name="Text 3"/>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AEB9CF"/>
                </a:solidFill>
                <a:latin typeface="Calibri" pitchFamily="34" charset="0"/>
                <a:ea typeface="Calibri" pitchFamily="34" charset="-122"/>
                <a:cs typeface="Calibri" pitchFamily="34" charset="-120"/>
              </a:rPr>
              <a:t>Angel One</a:t>
            </a:r>
            <a:endParaRPr lang="en-US" sz="1100" dirty="0"/>
          </a:p>
        </p:txBody>
      </p:sp>
      <p:sp>
        <p:nvSpPr>
          <p:cNvPr id="6" name="Text 4"/>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AEB9CF"/>
                </a:solidFill>
                <a:latin typeface="Calibri" pitchFamily="34" charset="0"/>
                <a:ea typeface="Calibri" pitchFamily="34" charset="-122"/>
                <a:cs typeface="Calibri" pitchFamily="34" charset="-120"/>
              </a:rPr>
              <a:t>UX Research &amp; Analysis</a:t>
            </a:r>
            <a:endParaRPr lang="en-US" sz="1100" dirty="0"/>
          </a:p>
        </p:txBody>
      </p:sp>
      <p:sp>
        <p:nvSpPr>
          <p:cNvPr id="7" name="Text 5"/>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entury Schoolbook" pitchFamily="34" charset="0"/>
                <a:ea typeface="Century Schoolbook" pitchFamily="34" charset="-122"/>
                <a:cs typeface="Century Schoolbook" pitchFamily="34" charset="-120"/>
              </a:rPr>
              <a:t>Pain Points</a:t>
            </a:r>
            <a:endParaRPr lang="en-US" sz="3200" dirty="0"/>
          </a:p>
        </p:txBody>
      </p:sp>
      <p:sp>
        <p:nvSpPr>
          <p:cNvPr id="8" name="Shape 6"/>
          <p:cNvSpPr/>
          <p:nvPr/>
        </p:nvSpPr>
        <p:spPr>
          <a:xfrm>
            <a:off x="640080" y="1737360"/>
            <a:ext cx="5257800" cy="914400"/>
          </a:xfrm>
          <a:prstGeom prst="roundRect">
            <a:avLst>
              <a:gd name="adj" fmla="val 8000"/>
            </a:avLst>
          </a:prstGeom>
          <a:solidFill>
            <a:srgbClr val="132A52"/>
          </a:solidFill>
          <a:ln/>
        </p:spPr>
      </p:sp>
      <p:sp>
        <p:nvSpPr>
          <p:cNvPr id="9" name="Text 7"/>
          <p:cNvSpPr/>
          <p:nvPr/>
        </p:nvSpPr>
        <p:spPr>
          <a:xfrm>
            <a:off x="777240" y="173736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0" name="Text 8"/>
          <p:cNvSpPr/>
          <p:nvPr/>
        </p:nvSpPr>
        <p:spPr>
          <a:xfrm>
            <a:off x="1234440" y="173736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Two competing top actions — open an account vs. download the app — pull focus in different directions</a:t>
            </a:r>
            <a:endParaRPr lang="en-US" sz="1080" dirty="0"/>
          </a:p>
        </p:txBody>
      </p:sp>
      <p:sp>
        <p:nvSpPr>
          <p:cNvPr id="11" name="Shape 9"/>
          <p:cNvSpPr/>
          <p:nvPr/>
        </p:nvSpPr>
        <p:spPr>
          <a:xfrm>
            <a:off x="640080" y="2788920"/>
            <a:ext cx="5257800" cy="914400"/>
          </a:xfrm>
          <a:prstGeom prst="roundRect">
            <a:avLst>
              <a:gd name="adj" fmla="val 8000"/>
            </a:avLst>
          </a:prstGeom>
          <a:solidFill>
            <a:srgbClr val="132A52"/>
          </a:solidFill>
          <a:ln/>
        </p:spPr>
      </p:sp>
      <p:sp>
        <p:nvSpPr>
          <p:cNvPr id="12" name="Text 10"/>
          <p:cNvSpPr/>
          <p:nvPr/>
        </p:nvSpPr>
        <p:spPr>
          <a:xfrm>
            <a:off x="777240" y="278892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3" name="Text 11"/>
          <p:cNvSpPr/>
          <p:nvPr/>
        </p:nvSpPr>
        <p:spPr>
          <a:xfrm>
            <a:off x="1234440" y="278892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Brokerage &amp; pricing details are spread across several separate pages</a:t>
            </a:r>
            <a:endParaRPr lang="en-US" sz="1080" dirty="0"/>
          </a:p>
        </p:txBody>
      </p:sp>
      <p:sp>
        <p:nvSpPr>
          <p:cNvPr id="14" name="Shape 12"/>
          <p:cNvSpPr/>
          <p:nvPr/>
        </p:nvSpPr>
        <p:spPr>
          <a:xfrm>
            <a:off x="640080" y="3840480"/>
            <a:ext cx="5257800" cy="914400"/>
          </a:xfrm>
          <a:prstGeom prst="roundRect">
            <a:avLst>
              <a:gd name="adj" fmla="val 8000"/>
            </a:avLst>
          </a:prstGeom>
          <a:solidFill>
            <a:srgbClr val="132A52"/>
          </a:solidFill>
          <a:ln/>
        </p:spPr>
      </p:sp>
      <p:sp>
        <p:nvSpPr>
          <p:cNvPr id="15" name="Text 13"/>
          <p:cNvSpPr/>
          <p:nvPr/>
        </p:nvSpPr>
        <p:spPr>
          <a:xfrm>
            <a:off x="777240" y="384048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6" name="Text 14"/>
          <p:cNvSpPr/>
          <p:nvPr/>
        </p:nvSpPr>
        <p:spPr>
          <a:xfrm>
            <a:off x="1234440" y="384048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No visible contrast or text-size accessibility controls anywhere on the site</a:t>
            </a:r>
            <a:endParaRPr lang="en-US" sz="1080" dirty="0"/>
          </a:p>
        </p:txBody>
      </p:sp>
      <p:sp>
        <p:nvSpPr>
          <p:cNvPr id="17" name="Shape 15"/>
          <p:cNvSpPr/>
          <p:nvPr/>
        </p:nvSpPr>
        <p:spPr>
          <a:xfrm>
            <a:off x="640080" y="4892040"/>
            <a:ext cx="5257800" cy="914400"/>
          </a:xfrm>
          <a:prstGeom prst="roundRect">
            <a:avLst>
              <a:gd name="adj" fmla="val 8000"/>
            </a:avLst>
          </a:prstGeom>
          <a:solidFill>
            <a:srgbClr val="132A52"/>
          </a:solidFill>
          <a:ln/>
        </p:spPr>
      </p:sp>
      <p:sp>
        <p:nvSpPr>
          <p:cNvPr id="18" name="Text 16"/>
          <p:cNvSpPr/>
          <p:nvPr/>
        </p:nvSpPr>
        <p:spPr>
          <a:xfrm>
            <a:off x="777240" y="489204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9" name="Text 17"/>
          <p:cNvSpPr/>
          <p:nvPr/>
        </p:nvSpPr>
        <p:spPr>
          <a:xfrm>
            <a:off x="1234440" y="489204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F&amp;O and options tools assume the visitor already knows trading terminology</a:t>
            </a:r>
            <a:endParaRPr lang="en-US" sz="1080" dirty="0"/>
          </a:p>
        </p:txBody>
      </p:sp>
      <p:sp>
        <p:nvSpPr>
          <p:cNvPr id="20" name="Shape 18"/>
          <p:cNvSpPr/>
          <p:nvPr/>
        </p:nvSpPr>
        <p:spPr>
          <a:xfrm>
            <a:off x="6309360" y="1737360"/>
            <a:ext cx="5257800" cy="914400"/>
          </a:xfrm>
          <a:prstGeom prst="roundRect">
            <a:avLst>
              <a:gd name="adj" fmla="val 8000"/>
            </a:avLst>
          </a:prstGeom>
          <a:solidFill>
            <a:srgbClr val="132A52"/>
          </a:solidFill>
          <a:ln/>
        </p:spPr>
      </p:sp>
      <p:sp>
        <p:nvSpPr>
          <p:cNvPr id="21" name="Text 19"/>
          <p:cNvSpPr/>
          <p:nvPr/>
        </p:nvSpPr>
        <p:spPr>
          <a:xfrm>
            <a:off x="6446520" y="173736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22" name="Text 20"/>
          <p:cNvSpPr/>
          <p:nvPr/>
        </p:nvSpPr>
        <p:spPr>
          <a:xfrm>
            <a:off x="6903720" y="173736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The trading app/dashboard looks and feels sharply different from the marketing website</a:t>
            </a:r>
            <a:endParaRPr lang="en-US" sz="1080" dirty="0"/>
          </a:p>
        </p:txBody>
      </p:sp>
      <p:sp>
        <p:nvSpPr>
          <p:cNvPr id="23" name="Shape 21"/>
          <p:cNvSpPr/>
          <p:nvPr/>
        </p:nvSpPr>
        <p:spPr>
          <a:xfrm>
            <a:off x="6309360" y="2788920"/>
            <a:ext cx="5257800" cy="914400"/>
          </a:xfrm>
          <a:prstGeom prst="roundRect">
            <a:avLst>
              <a:gd name="adj" fmla="val 8000"/>
            </a:avLst>
          </a:prstGeom>
          <a:solidFill>
            <a:srgbClr val="132A52"/>
          </a:solidFill>
          <a:ln/>
        </p:spPr>
      </p:sp>
      <p:sp>
        <p:nvSpPr>
          <p:cNvPr id="24" name="Text 22"/>
          <p:cNvSpPr/>
          <p:nvPr/>
        </p:nvSpPr>
        <p:spPr>
          <a:xfrm>
            <a:off x="6446520" y="278892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25" name="Text 23"/>
          <p:cNvSpPr/>
          <p:nvPr/>
        </p:nvSpPr>
        <p:spPr>
          <a:xfrm>
            <a:off x="6903720" y="278892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No role-based entry point for first-time investors vs. active traders</a:t>
            </a:r>
            <a:endParaRPr lang="en-US" sz="1080" dirty="0"/>
          </a:p>
        </p:txBody>
      </p:sp>
      <p:sp>
        <p:nvSpPr>
          <p:cNvPr id="26" name="Shape 24"/>
          <p:cNvSpPr/>
          <p:nvPr/>
        </p:nvSpPr>
        <p:spPr>
          <a:xfrm>
            <a:off x="6309360" y="3840480"/>
            <a:ext cx="5257800" cy="914400"/>
          </a:xfrm>
          <a:prstGeom prst="roundRect">
            <a:avLst>
              <a:gd name="adj" fmla="val 8000"/>
            </a:avLst>
          </a:prstGeom>
          <a:solidFill>
            <a:srgbClr val="132A52"/>
          </a:solidFill>
          <a:ln/>
        </p:spPr>
      </p:sp>
      <p:sp>
        <p:nvSpPr>
          <p:cNvPr id="27" name="Text 25"/>
          <p:cNvSpPr/>
          <p:nvPr/>
        </p:nvSpPr>
        <p:spPr>
          <a:xfrm>
            <a:off x="6446520" y="384048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28" name="Text 26"/>
          <p:cNvSpPr/>
          <p:nvPr/>
        </p:nvSpPr>
        <p:spPr>
          <a:xfrm>
            <a:off x="6903720" y="384048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Heavy promotional content appears before comparison information</a:t>
            </a:r>
            <a:endParaRPr lang="en-US" sz="1080" dirty="0"/>
          </a:p>
        </p:txBody>
      </p:sp>
      <p:sp>
        <p:nvSpPr>
          <p:cNvPr id="29" name="Shape 27"/>
          <p:cNvSpPr/>
          <p:nvPr/>
        </p:nvSpPr>
        <p:spPr>
          <a:xfrm>
            <a:off x="6309360" y="4892040"/>
            <a:ext cx="5257800" cy="914400"/>
          </a:xfrm>
          <a:prstGeom prst="roundRect">
            <a:avLst>
              <a:gd name="adj" fmla="val 8000"/>
            </a:avLst>
          </a:prstGeom>
          <a:solidFill>
            <a:srgbClr val="132A52"/>
          </a:solidFill>
          <a:ln/>
        </p:spPr>
      </p:sp>
      <p:sp>
        <p:nvSpPr>
          <p:cNvPr id="30" name="Text 28"/>
          <p:cNvSpPr/>
          <p:nvPr/>
        </p:nvSpPr>
        <p:spPr>
          <a:xfrm>
            <a:off x="6446520" y="489204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31" name="Text 29"/>
          <p:cNvSpPr/>
          <p:nvPr/>
        </p:nvSpPr>
        <p:spPr>
          <a:xfrm>
            <a:off x="6903720" y="489204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Search is not equally prominent or consistent across marketing pages</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Interface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22960"/>
            <a:ext cx="7315200" cy="548640"/>
          </a:xfrm>
          <a:prstGeom prst="rect">
            <a:avLst/>
          </a:prstGeom>
          <a:noFill/>
          <a:ln/>
        </p:spPr>
        <p:txBody>
          <a:bodyPr wrap="square" lIns="0" tIns="0" rIns="0" bIns="0" rtlCol="0" anchor="ctr"/>
          <a:lstStyle/>
          <a:p>
            <a:pPr marL="0" indent="0">
              <a:buNone/>
            </a:pPr>
            <a:r>
              <a:rPr lang="en-US" sz="3000" b="1" dirty="0">
                <a:solidFill>
                  <a:srgbClr val="132A52"/>
                </a:solidFill>
                <a:latin typeface="Century Schoolbook" pitchFamily="34" charset="0"/>
                <a:ea typeface="Century Schoolbook" pitchFamily="34" charset="-122"/>
                <a:cs typeface="Century Schoolbook" pitchFamily="34" charset="-120"/>
              </a:rPr>
              <a:t>User Journey</a:t>
            </a:r>
            <a:endParaRPr lang="en-US" sz="3000" dirty="0"/>
          </a:p>
        </p:txBody>
      </p:sp>
      <p:sp>
        <p:nvSpPr>
          <p:cNvPr id="7" name="Shape 5"/>
          <p:cNvSpPr/>
          <p:nvPr/>
        </p:nvSpPr>
        <p:spPr>
          <a:xfrm>
            <a:off x="640080" y="1581912"/>
            <a:ext cx="502920" cy="502920"/>
          </a:xfrm>
          <a:prstGeom prst="ellipse">
            <a:avLst/>
          </a:prstGeom>
          <a:solidFill>
            <a:srgbClr val="132A52"/>
          </a:solidFill>
          <a:ln/>
        </p:spPr>
      </p:sp>
      <p:sp>
        <p:nvSpPr>
          <p:cNvPr id="8" name="Text 6"/>
          <p:cNvSpPr/>
          <p:nvPr/>
        </p:nvSpPr>
        <p:spPr>
          <a:xfrm>
            <a:off x="640080" y="1581912"/>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①</a:t>
            </a:r>
            <a:endParaRPr lang="en-US" sz="1600" dirty="0"/>
          </a:p>
        </p:txBody>
      </p:sp>
      <p:sp>
        <p:nvSpPr>
          <p:cNvPr id="9" name="Text 7"/>
          <p:cNvSpPr/>
          <p:nvPr/>
        </p:nvSpPr>
        <p:spPr>
          <a:xfrm>
            <a:off x="1325880" y="1508760"/>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Visits Angel One Website</a:t>
            </a:r>
            <a:endParaRPr lang="en-US" sz="1250" dirty="0"/>
          </a:p>
        </p:txBody>
      </p:sp>
      <p:sp>
        <p:nvSpPr>
          <p:cNvPr id="10" name="Text 8"/>
          <p:cNvSpPr/>
          <p:nvPr/>
        </p:nvSpPr>
        <p:spPr>
          <a:xfrm>
            <a:off x="4343400" y="1508760"/>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Opens homepage looking for how to start investing</a:t>
            </a:r>
            <a:endParaRPr lang="en-US" sz="1030" dirty="0"/>
          </a:p>
        </p:txBody>
      </p:sp>
      <p:sp>
        <p:nvSpPr>
          <p:cNvPr id="11" name="Text 9"/>
          <p:cNvSpPr/>
          <p:nvPr/>
        </p:nvSpPr>
        <p:spPr>
          <a:xfrm>
            <a:off x="7040880" y="1508760"/>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Intrigued, but unsure which banner to follow first</a:t>
            </a:r>
            <a:endParaRPr lang="en-US" sz="1030" dirty="0"/>
          </a:p>
        </p:txBody>
      </p:sp>
      <p:sp>
        <p:nvSpPr>
          <p:cNvPr id="12" name="Text 10"/>
          <p:cNvSpPr/>
          <p:nvPr/>
        </p:nvSpPr>
        <p:spPr>
          <a:xfrm>
            <a:off x="9555480" y="1508760"/>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Establish a single, clear primary call to action</a:t>
            </a:r>
            <a:endParaRPr lang="en-US" sz="1030" dirty="0"/>
          </a:p>
        </p:txBody>
      </p:sp>
      <p:sp>
        <p:nvSpPr>
          <p:cNvPr id="13" name="Shape 11"/>
          <p:cNvSpPr/>
          <p:nvPr/>
        </p:nvSpPr>
        <p:spPr>
          <a:xfrm>
            <a:off x="640080" y="2377440"/>
            <a:ext cx="10972800" cy="0"/>
          </a:xfrm>
          <a:prstGeom prst="line">
            <a:avLst/>
          </a:prstGeom>
          <a:noFill/>
          <a:ln w="12700">
            <a:solidFill>
              <a:srgbClr val="E3E9F5"/>
            </a:solidFill>
            <a:prstDash val="solid"/>
          </a:ln>
        </p:spPr>
      </p:sp>
      <p:sp>
        <p:nvSpPr>
          <p:cNvPr id="14" name="Shape 12"/>
          <p:cNvSpPr/>
          <p:nvPr/>
        </p:nvSpPr>
        <p:spPr>
          <a:xfrm>
            <a:off x="640080" y="2478024"/>
            <a:ext cx="502920" cy="502920"/>
          </a:xfrm>
          <a:prstGeom prst="ellipse">
            <a:avLst/>
          </a:prstGeom>
          <a:solidFill>
            <a:srgbClr val="FF6A2B"/>
          </a:solidFill>
          <a:ln/>
        </p:spPr>
      </p:sp>
      <p:sp>
        <p:nvSpPr>
          <p:cNvPr id="15" name="Text 13"/>
          <p:cNvSpPr/>
          <p:nvPr/>
        </p:nvSpPr>
        <p:spPr>
          <a:xfrm>
            <a:off x="640080" y="2478024"/>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②</a:t>
            </a:r>
            <a:endParaRPr lang="en-US" sz="1600" dirty="0"/>
          </a:p>
        </p:txBody>
      </p:sp>
      <p:sp>
        <p:nvSpPr>
          <p:cNvPr id="16" name="Text 14"/>
          <p:cNvSpPr/>
          <p:nvPr/>
        </p:nvSpPr>
        <p:spPr>
          <a:xfrm>
            <a:off x="1325880" y="2404872"/>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Compares Pricing &amp; Products</a:t>
            </a:r>
            <a:endParaRPr lang="en-US" sz="1250" dirty="0"/>
          </a:p>
        </p:txBody>
      </p:sp>
      <p:sp>
        <p:nvSpPr>
          <p:cNvPr id="17" name="Text 15"/>
          <p:cNvSpPr/>
          <p:nvPr/>
        </p:nvSpPr>
        <p:spPr>
          <a:xfrm>
            <a:off x="4343400" y="2404872"/>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Looks for brokerage charges and product details</a:t>
            </a:r>
            <a:endParaRPr lang="en-US" sz="1030" dirty="0"/>
          </a:p>
        </p:txBody>
      </p:sp>
      <p:sp>
        <p:nvSpPr>
          <p:cNvPr id="18" name="Text 16"/>
          <p:cNvSpPr/>
          <p:nvPr/>
        </p:nvSpPr>
        <p:spPr>
          <a:xfrm>
            <a:off x="7040880" y="2404872"/>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Frustrated navigating between several separate pages</a:t>
            </a:r>
            <a:endParaRPr lang="en-US" sz="1030" dirty="0"/>
          </a:p>
        </p:txBody>
      </p:sp>
      <p:sp>
        <p:nvSpPr>
          <p:cNvPr id="19" name="Text 17"/>
          <p:cNvSpPr/>
          <p:nvPr/>
        </p:nvSpPr>
        <p:spPr>
          <a:xfrm>
            <a:off x="9555480" y="2404872"/>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Build one consolidated pricing &amp; comparison page</a:t>
            </a:r>
            <a:endParaRPr lang="en-US" sz="1030" dirty="0"/>
          </a:p>
        </p:txBody>
      </p:sp>
      <p:sp>
        <p:nvSpPr>
          <p:cNvPr id="20" name="Shape 18"/>
          <p:cNvSpPr/>
          <p:nvPr/>
        </p:nvSpPr>
        <p:spPr>
          <a:xfrm>
            <a:off x="640080" y="3273552"/>
            <a:ext cx="10972800" cy="0"/>
          </a:xfrm>
          <a:prstGeom prst="line">
            <a:avLst/>
          </a:prstGeom>
          <a:noFill/>
          <a:ln w="12700">
            <a:solidFill>
              <a:srgbClr val="E3E9F5"/>
            </a:solidFill>
            <a:prstDash val="solid"/>
          </a:ln>
        </p:spPr>
      </p:sp>
      <p:sp>
        <p:nvSpPr>
          <p:cNvPr id="21" name="Shape 19"/>
          <p:cNvSpPr/>
          <p:nvPr/>
        </p:nvSpPr>
        <p:spPr>
          <a:xfrm>
            <a:off x="640080" y="3374136"/>
            <a:ext cx="502920" cy="502920"/>
          </a:xfrm>
          <a:prstGeom prst="ellipse">
            <a:avLst/>
          </a:prstGeom>
          <a:solidFill>
            <a:srgbClr val="132A52"/>
          </a:solidFill>
          <a:ln/>
        </p:spPr>
      </p:sp>
      <p:sp>
        <p:nvSpPr>
          <p:cNvPr id="22" name="Text 20"/>
          <p:cNvSpPr/>
          <p:nvPr/>
        </p:nvSpPr>
        <p:spPr>
          <a:xfrm>
            <a:off x="640080" y="3374136"/>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③</a:t>
            </a:r>
            <a:endParaRPr lang="en-US" sz="1600" dirty="0"/>
          </a:p>
        </p:txBody>
      </p:sp>
      <p:sp>
        <p:nvSpPr>
          <p:cNvPr id="23" name="Text 21"/>
          <p:cNvSpPr/>
          <p:nvPr/>
        </p:nvSpPr>
        <p:spPr>
          <a:xfrm>
            <a:off x="1325880" y="3300984"/>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Opens Her Account</a:t>
            </a:r>
            <a:endParaRPr lang="en-US" sz="1250" dirty="0"/>
          </a:p>
        </p:txBody>
      </p:sp>
      <p:sp>
        <p:nvSpPr>
          <p:cNvPr id="24" name="Text 22"/>
          <p:cNvSpPr/>
          <p:nvPr/>
        </p:nvSpPr>
        <p:spPr>
          <a:xfrm>
            <a:off x="4343400" y="3300984"/>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Completes the mobile-number, OTP, and e-KYC flow</a:t>
            </a:r>
            <a:endParaRPr lang="en-US" sz="1030" dirty="0"/>
          </a:p>
        </p:txBody>
      </p:sp>
      <p:sp>
        <p:nvSpPr>
          <p:cNvPr id="25" name="Text 23"/>
          <p:cNvSpPr/>
          <p:nvPr/>
        </p:nvSpPr>
        <p:spPr>
          <a:xfrm>
            <a:off x="7040880" y="3300984"/>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Relieved — this part feels fast and modern</a:t>
            </a:r>
            <a:endParaRPr lang="en-US" sz="1030" dirty="0"/>
          </a:p>
        </p:txBody>
      </p:sp>
      <p:sp>
        <p:nvSpPr>
          <p:cNvPr id="26" name="Text 24"/>
          <p:cNvSpPr/>
          <p:nvPr/>
        </p:nvSpPr>
        <p:spPr>
          <a:xfrm>
            <a:off x="9555480" y="3300984"/>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Keep this flow as the benchmark for the rest of the site</a:t>
            </a:r>
            <a:endParaRPr lang="en-US" sz="1030" dirty="0"/>
          </a:p>
        </p:txBody>
      </p:sp>
      <p:sp>
        <p:nvSpPr>
          <p:cNvPr id="27" name="Shape 25"/>
          <p:cNvSpPr/>
          <p:nvPr/>
        </p:nvSpPr>
        <p:spPr>
          <a:xfrm>
            <a:off x="640080" y="4169664"/>
            <a:ext cx="10972800" cy="0"/>
          </a:xfrm>
          <a:prstGeom prst="line">
            <a:avLst/>
          </a:prstGeom>
          <a:noFill/>
          <a:ln w="12700">
            <a:solidFill>
              <a:srgbClr val="E3E9F5"/>
            </a:solidFill>
            <a:prstDash val="solid"/>
          </a:ln>
        </p:spPr>
      </p:sp>
      <p:sp>
        <p:nvSpPr>
          <p:cNvPr id="28" name="Shape 26"/>
          <p:cNvSpPr/>
          <p:nvPr/>
        </p:nvSpPr>
        <p:spPr>
          <a:xfrm>
            <a:off x="640080" y="4270248"/>
            <a:ext cx="502920" cy="502920"/>
          </a:xfrm>
          <a:prstGeom prst="ellipse">
            <a:avLst/>
          </a:prstGeom>
          <a:solidFill>
            <a:srgbClr val="FF6A2B"/>
          </a:solidFill>
          <a:ln/>
        </p:spPr>
      </p:sp>
      <p:sp>
        <p:nvSpPr>
          <p:cNvPr id="29" name="Text 27"/>
          <p:cNvSpPr/>
          <p:nvPr/>
        </p:nvSpPr>
        <p:spPr>
          <a:xfrm>
            <a:off x="640080" y="4270248"/>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④</a:t>
            </a:r>
            <a:endParaRPr lang="en-US" sz="1600" dirty="0"/>
          </a:p>
        </p:txBody>
      </p:sp>
      <p:sp>
        <p:nvSpPr>
          <p:cNvPr id="30" name="Text 28"/>
          <p:cNvSpPr/>
          <p:nvPr/>
        </p:nvSpPr>
        <p:spPr>
          <a:xfrm>
            <a:off x="1325880" y="4197096"/>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Enters the Trading Dashboard</a:t>
            </a:r>
            <a:endParaRPr lang="en-US" sz="1250" dirty="0"/>
          </a:p>
        </p:txBody>
      </p:sp>
      <p:sp>
        <p:nvSpPr>
          <p:cNvPr id="31" name="Text 29"/>
          <p:cNvSpPr/>
          <p:nvPr/>
        </p:nvSpPr>
        <p:spPr>
          <a:xfrm>
            <a:off x="4343400" y="4197096"/>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Lands in a denser, data-heavy trading interface</a:t>
            </a:r>
            <a:endParaRPr lang="en-US" sz="1030" dirty="0"/>
          </a:p>
        </p:txBody>
      </p:sp>
      <p:sp>
        <p:nvSpPr>
          <p:cNvPr id="32" name="Text 30"/>
          <p:cNvSpPr/>
          <p:nvPr/>
        </p:nvSpPr>
        <p:spPr>
          <a:xfrm>
            <a:off x="7040880" y="4197096"/>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Overwhelmed by the shift from marketing site to app</a:t>
            </a:r>
            <a:endParaRPr lang="en-US" sz="1030" dirty="0"/>
          </a:p>
        </p:txBody>
      </p:sp>
      <p:sp>
        <p:nvSpPr>
          <p:cNvPr id="33" name="Text 31"/>
          <p:cNvSpPr/>
          <p:nvPr/>
        </p:nvSpPr>
        <p:spPr>
          <a:xfrm>
            <a:off x="9555480" y="4197096"/>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Offer a short guided tour on first login</a:t>
            </a:r>
            <a:endParaRPr lang="en-US" sz="1030" dirty="0"/>
          </a:p>
        </p:txBody>
      </p:sp>
      <p:sp>
        <p:nvSpPr>
          <p:cNvPr id="34" name="Shape 32"/>
          <p:cNvSpPr/>
          <p:nvPr/>
        </p:nvSpPr>
        <p:spPr>
          <a:xfrm>
            <a:off x="640080" y="5065776"/>
            <a:ext cx="10972800" cy="0"/>
          </a:xfrm>
          <a:prstGeom prst="line">
            <a:avLst/>
          </a:prstGeom>
          <a:noFill/>
          <a:ln w="12700">
            <a:solidFill>
              <a:srgbClr val="E3E9F5"/>
            </a:solidFill>
            <a:prstDash val="solid"/>
          </a:ln>
        </p:spPr>
      </p:sp>
      <p:sp>
        <p:nvSpPr>
          <p:cNvPr id="35" name="Shape 33"/>
          <p:cNvSpPr/>
          <p:nvPr/>
        </p:nvSpPr>
        <p:spPr>
          <a:xfrm>
            <a:off x="640080" y="5166360"/>
            <a:ext cx="502920" cy="502920"/>
          </a:xfrm>
          <a:prstGeom prst="ellipse">
            <a:avLst/>
          </a:prstGeom>
          <a:solidFill>
            <a:srgbClr val="132A52"/>
          </a:solidFill>
          <a:ln/>
        </p:spPr>
      </p:sp>
      <p:sp>
        <p:nvSpPr>
          <p:cNvPr id="36" name="Text 34"/>
          <p:cNvSpPr/>
          <p:nvPr/>
        </p:nvSpPr>
        <p:spPr>
          <a:xfrm>
            <a:off x="640080" y="5166360"/>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⑤</a:t>
            </a:r>
            <a:endParaRPr lang="en-US" sz="1600" dirty="0"/>
          </a:p>
        </p:txBody>
      </p:sp>
      <p:sp>
        <p:nvSpPr>
          <p:cNvPr id="37" name="Text 35"/>
          <p:cNvSpPr/>
          <p:nvPr/>
        </p:nvSpPr>
        <p:spPr>
          <a:xfrm>
            <a:off x="1325880" y="5093208"/>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Places Her First Trade</a:t>
            </a:r>
            <a:endParaRPr lang="en-US" sz="1250" dirty="0"/>
          </a:p>
        </p:txBody>
      </p:sp>
      <p:sp>
        <p:nvSpPr>
          <p:cNvPr id="38" name="Text 36"/>
          <p:cNvSpPr/>
          <p:nvPr/>
        </p:nvSpPr>
        <p:spPr>
          <a:xfrm>
            <a:off x="4343400" y="5093208"/>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Uses ARQ suggestions to invest in a stock or fund</a:t>
            </a:r>
            <a:endParaRPr lang="en-US" sz="1030" dirty="0"/>
          </a:p>
        </p:txBody>
      </p:sp>
      <p:sp>
        <p:nvSpPr>
          <p:cNvPr id="39" name="Text 37"/>
          <p:cNvSpPr/>
          <p:nvPr/>
        </p:nvSpPr>
        <p:spPr>
          <a:xfrm>
            <a:off x="7040880" y="5093208"/>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Confident, but wishes for more built-in guidance</a:t>
            </a:r>
            <a:endParaRPr lang="en-US" sz="1030" dirty="0"/>
          </a:p>
        </p:txBody>
      </p:sp>
      <p:sp>
        <p:nvSpPr>
          <p:cNvPr id="40" name="Text 38"/>
          <p:cNvSpPr/>
          <p:nvPr/>
        </p:nvSpPr>
        <p:spPr>
          <a:xfrm>
            <a:off x="9555480" y="5093208"/>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Add contextual tooltips for a first-time "beginner mode"</a:t>
            </a:r>
            <a:endParaRPr lang="en-US" sz="1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82296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Personality &amp; Scenario</a:t>
            </a:r>
            <a:endParaRPr lang="en-US" sz="3200" dirty="0"/>
          </a:p>
        </p:txBody>
      </p:sp>
      <p:sp>
        <p:nvSpPr>
          <p:cNvPr id="7" name="Text 5"/>
          <p:cNvSpPr/>
          <p:nvPr/>
        </p:nvSpPr>
        <p:spPr>
          <a:xfrm>
            <a:off x="640080" y="1691640"/>
            <a:ext cx="1005840" cy="365760"/>
          </a:xfrm>
          <a:prstGeom prst="rect">
            <a:avLst/>
          </a:prstGeom>
          <a:noFill/>
          <a:ln/>
        </p:spPr>
        <p:txBody>
          <a:bodyPr wrap="square" lIns="0" tIns="0" rIns="0" bIns="0" rtlCol="0" anchor="ctr"/>
          <a:lstStyle/>
          <a:p>
            <a:pPr marL="0" indent="0">
              <a:buNone/>
            </a:pPr>
            <a:r>
              <a:rPr lang="en-US" sz="1300" b="1" dirty="0">
                <a:solidFill>
                  <a:srgbClr val="132A52"/>
                </a:solidFill>
                <a:latin typeface="Calibri" pitchFamily="34" charset="0"/>
                <a:ea typeface="Calibri" pitchFamily="34" charset="-122"/>
                <a:cs typeface="Calibri" pitchFamily="34" charset="-120"/>
              </a:rPr>
              <a:t>Traits: </a:t>
            </a:r>
            <a:endParaRPr lang="en-US" sz="1300" dirty="0"/>
          </a:p>
        </p:txBody>
      </p:sp>
      <p:sp>
        <p:nvSpPr>
          <p:cNvPr id="8" name="Text 6"/>
          <p:cNvSpPr/>
          <p:nvPr/>
        </p:nvSpPr>
        <p:spPr>
          <a:xfrm>
            <a:off x="1600200" y="1691640"/>
            <a:ext cx="8686800" cy="365760"/>
          </a:xfrm>
          <a:prstGeom prst="rect">
            <a:avLst/>
          </a:prstGeom>
          <a:noFill/>
          <a:ln/>
        </p:spPr>
        <p:txBody>
          <a:bodyPr wrap="square" lIns="0" tIns="0" rIns="0" bIns="0" rtlCol="0" anchor="ctr"/>
          <a:lstStyle/>
          <a:p>
            <a:pPr marL="0" indent="0">
              <a:buNone/>
            </a:pPr>
            <a:r>
              <a:rPr lang="en-US" sz="1300" dirty="0">
                <a:solidFill>
                  <a:srgbClr val="2B3A55"/>
                </a:solidFill>
                <a:latin typeface="Calibri" pitchFamily="34" charset="0"/>
                <a:ea typeface="Calibri" pitchFamily="34" charset="-122"/>
                <a:cs typeface="Calibri" pitchFamily="34" charset="-120"/>
              </a:rPr>
              <a:t>Practical  •  Cautious  •  Value-conscious  •  Tech-comfortable  •  Time-poor</a:t>
            </a:r>
            <a:endParaRPr lang="en-US" sz="1300" dirty="0"/>
          </a:p>
        </p:txBody>
      </p:sp>
      <p:sp>
        <p:nvSpPr>
          <p:cNvPr id="9" name="Shape 7"/>
          <p:cNvSpPr/>
          <p:nvPr/>
        </p:nvSpPr>
        <p:spPr>
          <a:xfrm>
            <a:off x="640080" y="2194560"/>
            <a:ext cx="10881360" cy="1005840"/>
          </a:xfrm>
          <a:prstGeom prst="roundRect">
            <a:avLst>
              <a:gd name="adj" fmla="val 9091"/>
            </a:avLst>
          </a:prstGeom>
          <a:solidFill>
            <a:srgbClr val="132A52"/>
          </a:solidFill>
          <a:ln/>
        </p:spPr>
      </p:sp>
      <p:sp>
        <p:nvSpPr>
          <p:cNvPr id="10" name="Text 8"/>
          <p:cNvSpPr/>
          <p:nvPr/>
        </p:nvSpPr>
        <p:spPr>
          <a:xfrm>
            <a:off x="1005840" y="2194560"/>
            <a:ext cx="10149840" cy="100584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"I want one clear next step — not two banners fighting for my attention — when I'm ready to start investing."</a:t>
            </a:r>
            <a:endParaRPr lang="en-US" sz="1500" dirty="0"/>
          </a:p>
        </p:txBody>
      </p:sp>
      <p:sp>
        <p:nvSpPr>
          <p:cNvPr id="11" name="Text 9"/>
          <p:cNvSpPr/>
          <p:nvPr/>
        </p:nvSpPr>
        <p:spPr>
          <a:xfrm>
            <a:off x="640080" y="3429000"/>
            <a:ext cx="3657600" cy="365760"/>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Scenario</a:t>
            </a:r>
            <a:endParaRPr lang="en-US" sz="1400" dirty="0"/>
          </a:p>
        </p:txBody>
      </p:sp>
      <p:sp>
        <p:nvSpPr>
          <p:cNvPr id="12" name="Text 10"/>
          <p:cNvSpPr/>
          <p:nvPr/>
        </p:nvSpPr>
        <p:spPr>
          <a:xfrm>
            <a:off x="640080" y="3840480"/>
            <a:ext cx="10881360" cy="1188720"/>
          </a:xfrm>
          <a:prstGeom prst="rect">
            <a:avLst/>
          </a:prstGeom>
          <a:noFill/>
          <a:ln/>
        </p:spPr>
        <p:txBody>
          <a:bodyPr wrap="square" lIns="0" tIns="0" rIns="0" bIns="0" rtlCol="0" anchor="ctr"/>
          <a:lstStyle/>
          <a:p>
            <a:pPr marL="0" indent="0">
              <a:lnSpc>
                <a:spcPct val="130000"/>
              </a:lnSpc>
              <a:buNone/>
            </a:pPr>
            <a:r>
              <a:rPr lang="en-US" sz="1250" dirty="0">
                <a:solidFill>
                  <a:srgbClr val="2B3A55"/>
                </a:solidFill>
                <a:latin typeface="Calibri" pitchFamily="34" charset="0"/>
                <a:ea typeface="Calibri" pitchFamily="34" charset="-122"/>
                <a:cs typeface="Calibri" pitchFamily="34" charset="-120"/>
              </a:rPr>
              <a:t>Priya opens Angel One's website on a Sunday afternoon intending to start a monthly SIP. The homepage's account-opening banner and app-download banner both compete for her first click, and once she has opened an account, comparing charges before committing means jumping between several separate pages. By the time she reaches the trading dashboard, the shift in interface density leaves her unsure whether she is doing things correctly.</a:t>
            </a:r>
            <a:endParaRPr lang="en-US" sz="1250" dirty="0"/>
          </a:p>
        </p:txBody>
      </p:sp>
      <p:sp>
        <p:nvSpPr>
          <p:cNvPr id="13" name="Shape 11"/>
          <p:cNvSpPr/>
          <p:nvPr/>
        </p:nvSpPr>
        <p:spPr>
          <a:xfrm>
            <a:off x="822960" y="5212080"/>
            <a:ext cx="960120" cy="960120"/>
          </a:xfrm>
          <a:prstGeom prst="ellipse">
            <a:avLst/>
          </a:prstGeom>
          <a:solidFill>
            <a:srgbClr val="FFFFFF"/>
          </a:solidFill>
          <a:ln/>
        </p:spPr>
      </p:sp>
      <p:sp>
        <p:nvSpPr>
          <p:cNvPr id="14" name="Text 12"/>
          <p:cNvSpPr/>
          <p:nvPr/>
        </p:nvSpPr>
        <p:spPr>
          <a:xfrm>
            <a:off x="822960" y="5212080"/>
            <a:ext cx="960120" cy="96012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5" name="Shape 13"/>
          <p:cNvSpPr/>
          <p:nvPr/>
        </p:nvSpPr>
        <p:spPr>
          <a:xfrm>
            <a:off x="822960" y="5212080"/>
            <a:ext cx="960120" cy="960120"/>
          </a:xfrm>
          <a:prstGeom prst="ellipse">
            <a:avLst/>
          </a:prstGeom>
          <a:ln w="19050">
            <a:solidFill>
              <a:srgbClr val="132A52"/>
            </a:solidFill>
            <a:prstDash val="solid"/>
          </a:ln>
        </p:spPr>
      </p:sp>
      <p:sp>
        <p:nvSpPr>
          <p:cNvPr id="16" name="Text 14"/>
          <p:cNvSpPr/>
          <p:nvPr/>
        </p:nvSpPr>
        <p:spPr>
          <a:xfrm>
            <a:off x="320040" y="6263640"/>
            <a:ext cx="196596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Weighs two competing</a:t>
            </a:r>
            <a:endParaRPr lang="en-US" sz="1050" dirty="0"/>
          </a:p>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homepage banners</a:t>
            </a:r>
            <a:endParaRPr lang="en-US" sz="1050" dirty="0"/>
          </a:p>
        </p:txBody>
      </p:sp>
      <p:sp>
        <p:nvSpPr>
          <p:cNvPr id="17" name="Shape 15"/>
          <p:cNvSpPr/>
          <p:nvPr/>
        </p:nvSpPr>
        <p:spPr>
          <a:xfrm>
            <a:off x="4480560" y="5212080"/>
            <a:ext cx="960120" cy="960120"/>
          </a:xfrm>
          <a:prstGeom prst="ellipse">
            <a:avLst/>
          </a:prstGeom>
          <a:solidFill>
            <a:srgbClr val="FFFFFF"/>
          </a:solidFill>
          <a:ln/>
        </p:spPr>
      </p:sp>
      <p:sp>
        <p:nvSpPr>
          <p:cNvPr id="18" name="Text 16"/>
          <p:cNvSpPr/>
          <p:nvPr/>
        </p:nvSpPr>
        <p:spPr>
          <a:xfrm>
            <a:off x="4480560" y="5212080"/>
            <a:ext cx="960120" cy="96012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9" name="Shape 17"/>
          <p:cNvSpPr/>
          <p:nvPr/>
        </p:nvSpPr>
        <p:spPr>
          <a:xfrm>
            <a:off x="4480560" y="5212080"/>
            <a:ext cx="960120" cy="960120"/>
          </a:xfrm>
          <a:prstGeom prst="ellipse">
            <a:avLst/>
          </a:prstGeom>
          <a:ln w="19050">
            <a:solidFill>
              <a:srgbClr val="132A52"/>
            </a:solidFill>
            <a:prstDash val="solid"/>
          </a:ln>
        </p:spPr>
      </p:sp>
      <p:sp>
        <p:nvSpPr>
          <p:cNvPr id="20" name="Text 18"/>
          <p:cNvSpPr/>
          <p:nvPr/>
        </p:nvSpPr>
        <p:spPr>
          <a:xfrm>
            <a:off x="3977640" y="6263640"/>
            <a:ext cx="196596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Hunts across pages for</a:t>
            </a:r>
            <a:endParaRPr lang="en-US" sz="1050" dirty="0"/>
          </a:p>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clear pricing details</a:t>
            </a:r>
            <a:endParaRPr lang="en-US" sz="1050" dirty="0"/>
          </a:p>
        </p:txBody>
      </p:sp>
      <p:sp>
        <p:nvSpPr>
          <p:cNvPr id="21" name="Shape 19"/>
          <p:cNvSpPr/>
          <p:nvPr/>
        </p:nvSpPr>
        <p:spPr>
          <a:xfrm>
            <a:off x="8138160" y="5212080"/>
            <a:ext cx="960120" cy="960120"/>
          </a:xfrm>
          <a:prstGeom prst="ellipse">
            <a:avLst/>
          </a:prstGeom>
          <a:solidFill>
            <a:srgbClr val="FFFFFF"/>
          </a:solidFill>
          <a:ln/>
        </p:spPr>
      </p:sp>
      <p:sp>
        <p:nvSpPr>
          <p:cNvPr id="22" name="Text 20"/>
          <p:cNvSpPr/>
          <p:nvPr/>
        </p:nvSpPr>
        <p:spPr>
          <a:xfrm>
            <a:off x="8138160" y="5212080"/>
            <a:ext cx="960120" cy="96012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3" name="Shape 21"/>
          <p:cNvSpPr/>
          <p:nvPr/>
        </p:nvSpPr>
        <p:spPr>
          <a:xfrm>
            <a:off x="8138160" y="5212080"/>
            <a:ext cx="960120" cy="960120"/>
          </a:xfrm>
          <a:prstGeom prst="ellipse">
            <a:avLst/>
          </a:prstGeom>
          <a:ln w="19050">
            <a:solidFill>
              <a:srgbClr val="132A52"/>
            </a:solidFill>
            <a:prstDash val="solid"/>
          </a:ln>
        </p:spPr>
      </p:sp>
      <p:sp>
        <p:nvSpPr>
          <p:cNvPr id="24" name="Text 22"/>
          <p:cNvSpPr/>
          <p:nvPr/>
        </p:nvSpPr>
        <p:spPr>
          <a:xfrm>
            <a:off x="7635240" y="6263640"/>
            <a:ext cx="196596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Meets a denser dashboard</a:t>
            </a:r>
            <a:endParaRPr lang="en-US" sz="1050" dirty="0"/>
          </a:p>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after signing up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UX Insights</a:t>
            </a:r>
            <a:endParaRPr lang="en-US" sz="3200" dirty="0"/>
          </a:p>
        </p:txBody>
      </p:sp>
      <p:sp>
        <p:nvSpPr>
          <p:cNvPr id="7" name="Shape 5"/>
          <p:cNvSpPr/>
          <p:nvPr/>
        </p:nvSpPr>
        <p:spPr>
          <a:xfrm>
            <a:off x="640080" y="1737360"/>
            <a:ext cx="5303520" cy="4480560"/>
          </a:xfrm>
          <a:prstGeom prst="roundRect">
            <a:avLst>
              <a:gd name="adj" fmla="val 2449"/>
            </a:avLst>
          </a:prstGeom>
          <a:solidFill>
            <a:srgbClr val="132A52"/>
          </a:solidFill>
          <a:ln/>
        </p:spPr>
      </p:sp>
      <p:sp>
        <p:nvSpPr>
          <p:cNvPr id="8" name="Text 6"/>
          <p:cNvSpPr/>
          <p:nvPr/>
        </p:nvSpPr>
        <p:spPr>
          <a:xfrm>
            <a:off x="914400" y="1965960"/>
            <a:ext cx="4572000" cy="457200"/>
          </a:xfrm>
          <a:prstGeom prst="rect">
            <a:avLst/>
          </a:prstGeom>
          <a:noFill/>
          <a:ln/>
        </p:spPr>
        <p:txBody>
          <a:bodyPr wrap="square" lIns="0" tIns="0" rIns="0" bIns="0" rtlCol="0" anchor="ctr"/>
          <a:lstStyle/>
          <a:p>
            <a:pPr marL="0" indent="0">
              <a:buNone/>
            </a:pPr>
            <a:r>
              <a:rPr lang="en-US" sz="1500" b="1" dirty="0">
                <a:solidFill>
                  <a:srgbClr val="5CD6A9"/>
                </a:solidFill>
                <a:latin typeface="Calibri" pitchFamily="34" charset="0"/>
                <a:ea typeface="Calibri" pitchFamily="34" charset="-122"/>
                <a:cs typeface="Calibri" pitchFamily="34" charset="-120"/>
              </a:rPr>
              <a:t>✅  STRENGTHS</a:t>
            </a:r>
            <a:endParaRPr lang="en-US" sz="1500" dirty="0"/>
          </a:p>
        </p:txBody>
      </p:sp>
      <p:sp>
        <p:nvSpPr>
          <p:cNvPr id="9" name="Text 7"/>
          <p:cNvSpPr/>
          <p:nvPr/>
        </p:nvSpPr>
        <p:spPr>
          <a:xfrm>
            <a:off x="914400" y="2468880"/>
            <a:ext cx="4754880" cy="3566160"/>
          </a:xfrm>
          <a:prstGeom prst="rect">
            <a:avLst/>
          </a:prstGeom>
          <a:noFill/>
          <a:ln/>
        </p:spPr>
        <p:txBody>
          <a:bodyPr wrap="square" lIns="0" tIns="0" rIns="0" bIns="0" rtlCol="0" anchor="ctr"/>
          <a:lstStyle/>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Strong regulatory trust — SEBI registration &amp; exchange codes clearly disclosed</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Comprehensive product range: equities, F&amp;O, mutual funds, IPOs, US stocks</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ARQ recommendations give beginners a curated starting point</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Streamlined, fast mobile-number + OTP + e-KYC account opening</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Large, well-established customer base signals reliability</a:t>
            </a:r>
            <a:endParaRPr lang="en-US" sz="1200" dirty="0"/>
          </a:p>
        </p:txBody>
      </p:sp>
      <p:sp>
        <p:nvSpPr>
          <p:cNvPr id="10" name="Shape 8"/>
          <p:cNvSpPr/>
          <p:nvPr/>
        </p:nvSpPr>
        <p:spPr>
          <a:xfrm>
            <a:off x="6217920" y="1737360"/>
            <a:ext cx="5303520" cy="4480560"/>
          </a:xfrm>
          <a:prstGeom prst="roundRect">
            <a:avLst>
              <a:gd name="adj" fmla="val 2449"/>
            </a:avLst>
          </a:prstGeom>
          <a:solidFill>
            <a:srgbClr val="F4F7FC"/>
          </a:solidFill>
          <a:ln w="12700">
            <a:solidFill>
              <a:srgbClr val="D7E1F2"/>
            </a:solidFill>
            <a:prstDash val="solid"/>
          </a:ln>
        </p:spPr>
      </p:sp>
      <p:sp>
        <p:nvSpPr>
          <p:cNvPr id="11" name="Text 9"/>
          <p:cNvSpPr/>
          <p:nvPr/>
        </p:nvSpPr>
        <p:spPr>
          <a:xfrm>
            <a:off x="6492240" y="1965960"/>
            <a:ext cx="4572000" cy="457200"/>
          </a:xfrm>
          <a:prstGeom prst="rect">
            <a:avLst/>
          </a:prstGeom>
          <a:noFill/>
          <a:ln/>
        </p:spPr>
        <p:txBody>
          <a:bodyPr wrap="square" lIns="0" tIns="0" rIns="0" bIns="0" rtlCol="0" anchor="ctr"/>
          <a:lstStyle/>
          <a:p>
            <a:pPr marL="0" indent="0">
              <a:buNone/>
            </a:pPr>
            <a:r>
              <a:rPr lang="en-US" sz="1500" b="1" dirty="0">
                <a:solidFill>
                  <a:srgbClr val="C23B22"/>
                </a:solidFill>
                <a:latin typeface="Calibri" pitchFamily="34" charset="0"/>
                <a:ea typeface="Calibri" pitchFamily="34" charset="-122"/>
                <a:cs typeface="Calibri" pitchFamily="34" charset="-120"/>
              </a:rPr>
              <a:t>⚠  WEAKNESSES</a:t>
            </a:r>
            <a:endParaRPr lang="en-US" sz="1500" dirty="0"/>
          </a:p>
        </p:txBody>
      </p:sp>
      <p:sp>
        <p:nvSpPr>
          <p:cNvPr id="12" name="Text 10"/>
          <p:cNvSpPr/>
          <p:nvPr/>
        </p:nvSpPr>
        <p:spPr>
          <a:xfrm>
            <a:off x="6492240" y="2468880"/>
            <a:ext cx="4754880" cy="3566160"/>
          </a:xfrm>
          <a:prstGeom prst="rect">
            <a:avLst/>
          </a:prstGeom>
          <a:noFill/>
          <a:ln/>
        </p:spPr>
        <p:txBody>
          <a:bodyPr wrap="square" lIns="0" tIns="0" rIns="0" bIns="0" rtlCol="0" anchor="ctr"/>
          <a:lstStyle/>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Two competing homepage CTAs dilute a clear primary action</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Pricing &amp; product comparisons scattered across separate pages</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No accessibility controls for contrast or text size</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Marketing site and trading dashboard feel like different products</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No role-based path for first-time vs. experienced investors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Design Recommendations</a:t>
            </a:r>
            <a:endParaRPr lang="en-US" sz="3200" dirty="0"/>
          </a:p>
        </p:txBody>
      </p:sp>
      <p:sp>
        <p:nvSpPr>
          <p:cNvPr id="7" name="Shape 5"/>
          <p:cNvSpPr/>
          <p:nvPr/>
        </p:nvSpPr>
        <p:spPr>
          <a:xfrm>
            <a:off x="64008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8" name="Shape 6"/>
          <p:cNvSpPr/>
          <p:nvPr/>
        </p:nvSpPr>
        <p:spPr>
          <a:xfrm>
            <a:off x="914400" y="2011680"/>
            <a:ext cx="548640" cy="548640"/>
          </a:xfrm>
          <a:prstGeom prst="ellipse">
            <a:avLst/>
          </a:prstGeom>
          <a:solidFill>
            <a:srgbClr val="FF6A2B"/>
          </a:solidFill>
          <a:ln/>
        </p:spPr>
      </p:sp>
      <p:sp>
        <p:nvSpPr>
          <p:cNvPr id="9" name="Text 7"/>
          <p:cNvSpPr/>
          <p:nvPr/>
        </p:nvSpPr>
        <p:spPr>
          <a:xfrm>
            <a:off x="91440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64592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Establish One Primary Action</a:t>
            </a:r>
            <a:endParaRPr lang="en-US" sz="1350" dirty="0"/>
          </a:p>
        </p:txBody>
      </p:sp>
      <p:sp>
        <p:nvSpPr>
          <p:cNvPr id="11" name="Text 9"/>
          <p:cNvSpPr/>
          <p:nvPr/>
        </p:nvSpPr>
        <p:spPr>
          <a:xfrm>
            <a:off x="914400" y="2651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Prioritize account opening as the clear default homepage action; make app download a secondary, lower-weight prompt shown after sign-up.</a:t>
            </a:r>
            <a:endParaRPr lang="en-US" sz="1080" dirty="0"/>
          </a:p>
        </p:txBody>
      </p:sp>
      <p:sp>
        <p:nvSpPr>
          <p:cNvPr id="12" name="Shape 10"/>
          <p:cNvSpPr/>
          <p:nvPr/>
        </p:nvSpPr>
        <p:spPr>
          <a:xfrm>
            <a:off x="621792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3" name="Shape 11"/>
          <p:cNvSpPr/>
          <p:nvPr/>
        </p:nvSpPr>
        <p:spPr>
          <a:xfrm>
            <a:off x="6492240" y="2011680"/>
            <a:ext cx="548640" cy="548640"/>
          </a:xfrm>
          <a:prstGeom prst="ellipse">
            <a:avLst/>
          </a:prstGeom>
          <a:solidFill>
            <a:srgbClr val="FF6A2B"/>
          </a:solidFill>
          <a:ln/>
        </p:spPr>
      </p:sp>
      <p:sp>
        <p:nvSpPr>
          <p:cNvPr id="14" name="Text 12"/>
          <p:cNvSpPr/>
          <p:nvPr/>
        </p:nvSpPr>
        <p:spPr>
          <a:xfrm>
            <a:off x="649224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722376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Consolidate Pricing &amp; Comparison</a:t>
            </a:r>
            <a:endParaRPr lang="en-US" sz="1350" dirty="0"/>
          </a:p>
        </p:txBody>
      </p:sp>
      <p:sp>
        <p:nvSpPr>
          <p:cNvPr id="16" name="Text 14"/>
          <p:cNvSpPr/>
          <p:nvPr/>
        </p:nvSpPr>
        <p:spPr>
          <a:xfrm>
            <a:off x="6492240" y="2651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Bring brokerage charges, product features, and platform tools together on a single comparison page instead of spreading them across the site.</a:t>
            </a:r>
            <a:endParaRPr lang="en-US" sz="1080" dirty="0"/>
          </a:p>
        </p:txBody>
      </p:sp>
      <p:sp>
        <p:nvSpPr>
          <p:cNvPr id="17" name="Shape 15"/>
          <p:cNvSpPr/>
          <p:nvPr/>
        </p:nvSpPr>
        <p:spPr>
          <a:xfrm>
            <a:off x="64008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8" name="Shape 16"/>
          <p:cNvSpPr/>
          <p:nvPr/>
        </p:nvSpPr>
        <p:spPr>
          <a:xfrm>
            <a:off x="914400" y="4297680"/>
            <a:ext cx="548640" cy="548640"/>
          </a:xfrm>
          <a:prstGeom prst="ellipse">
            <a:avLst/>
          </a:prstGeom>
          <a:solidFill>
            <a:srgbClr val="FF6A2B"/>
          </a:solidFill>
          <a:ln/>
        </p:spPr>
      </p:sp>
      <p:sp>
        <p:nvSpPr>
          <p:cNvPr id="19" name="Text 17"/>
          <p:cNvSpPr/>
          <p:nvPr/>
        </p:nvSpPr>
        <p:spPr>
          <a:xfrm>
            <a:off x="91440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64592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Bridge the Site-to-App Gap</a:t>
            </a:r>
            <a:endParaRPr lang="en-US" sz="1350" dirty="0"/>
          </a:p>
        </p:txBody>
      </p:sp>
      <p:sp>
        <p:nvSpPr>
          <p:cNvPr id="21" name="Text 19"/>
          <p:cNvSpPr/>
          <p:nvPr/>
        </p:nvSpPr>
        <p:spPr>
          <a:xfrm>
            <a:off x="914400" y="4937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Introduce a short guided walkthrough on first login so the shift from the marketing site to the trading dashboard feels like one connected product.</a:t>
            </a:r>
            <a:endParaRPr lang="en-US" sz="1080" dirty="0"/>
          </a:p>
        </p:txBody>
      </p:sp>
      <p:sp>
        <p:nvSpPr>
          <p:cNvPr id="22" name="Shape 20"/>
          <p:cNvSpPr/>
          <p:nvPr/>
        </p:nvSpPr>
        <p:spPr>
          <a:xfrm>
            <a:off x="621792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23" name="Shape 21"/>
          <p:cNvSpPr/>
          <p:nvPr/>
        </p:nvSpPr>
        <p:spPr>
          <a:xfrm>
            <a:off x="6492240" y="4297680"/>
            <a:ext cx="548640" cy="548640"/>
          </a:xfrm>
          <a:prstGeom prst="ellipse">
            <a:avLst/>
          </a:prstGeom>
          <a:solidFill>
            <a:srgbClr val="FF6A2B"/>
          </a:solidFill>
          <a:ln/>
        </p:spPr>
      </p:sp>
      <p:sp>
        <p:nvSpPr>
          <p:cNvPr id="24" name="Text 22"/>
          <p:cNvSpPr/>
          <p:nvPr/>
        </p:nvSpPr>
        <p:spPr>
          <a:xfrm>
            <a:off x="649224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722376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Add Role-Based Entry Points</a:t>
            </a:r>
            <a:endParaRPr lang="en-US" sz="1350" dirty="0"/>
          </a:p>
        </p:txBody>
      </p:sp>
      <p:sp>
        <p:nvSpPr>
          <p:cNvPr id="26" name="Text 24"/>
          <p:cNvSpPr/>
          <p:nvPr/>
        </p:nvSpPr>
        <p:spPr>
          <a:xfrm>
            <a:off x="6492240" y="4937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Offer brief entry paths — "I'm new to investing," "I trade actively," "I'm comparing brokers" — so each visitor reaches relevant content faster.</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Interface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Conclusion</a:t>
            </a:r>
            <a:endParaRPr lang="en-US" sz="3200" dirty="0"/>
          </a:p>
        </p:txBody>
      </p:sp>
      <p:sp>
        <p:nvSpPr>
          <p:cNvPr id="7" name="Shape 5"/>
          <p:cNvSpPr/>
          <p:nvPr/>
        </p:nvSpPr>
        <p:spPr>
          <a:xfrm>
            <a:off x="640080" y="1783080"/>
            <a:ext cx="10881360" cy="1188720"/>
          </a:xfrm>
          <a:prstGeom prst="roundRect">
            <a:avLst>
              <a:gd name="adj" fmla="val 7692"/>
            </a:avLst>
          </a:prstGeom>
          <a:solidFill>
            <a:srgbClr val="F4F7FC"/>
          </a:solidFill>
          <a:ln w="12700">
            <a:solidFill>
              <a:srgbClr val="D7E1F2"/>
            </a:solidFill>
            <a:prstDash val="solid"/>
          </a:ln>
        </p:spPr>
      </p:sp>
      <p:sp>
        <p:nvSpPr>
          <p:cNvPr id="8" name="Shape 6"/>
          <p:cNvSpPr/>
          <p:nvPr/>
        </p:nvSpPr>
        <p:spPr>
          <a:xfrm>
            <a:off x="868680" y="2103120"/>
            <a:ext cx="548640" cy="548640"/>
          </a:xfrm>
          <a:prstGeom prst="ellipse">
            <a:avLst/>
          </a:prstGeom>
          <a:solidFill>
            <a:srgbClr val="132A52"/>
          </a:solidFill>
          <a:ln/>
        </p:spPr>
      </p:sp>
      <p:sp>
        <p:nvSpPr>
          <p:cNvPr id="9" name="Text 7"/>
          <p:cNvSpPr/>
          <p:nvPr/>
        </p:nvSpPr>
        <p:spPr>
          <a:xfrm>
            <a:off x="868680" y="210312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691640" y="1783080"/>
            <a:ext cx="9646920" cy="1188720"/>
          </a:xfrm>
          <a:prstGeom prst="rect">
            <a:avLst/>
          </a:prstGeom>
          <a:noFill/>
          <a:ln/>
        </p:spPr>
        <p:txBody>
          <a:bodyPr wrap="square" lIns="0" tIns="0" rIns="0" bIns="0" rtlCol="0" anchor="ctr"/>
          <a:lstStyle/>
          <a:p>
            <a:pPr marL="0" indent="0">
              <a:lnSpc>
                <a:spcPct val="125000"/>
              </a:lnSpc>
              <a:buNone/>
            </a:pPr>
            <a:r>
              <a:rPr lang="en-US" sz="1300" dirty="0">
                <a:solidFill>
                  <a:srgbClr val="2B3A55"/>
                </a:solidFill>
                <a:latin typeface="Calibri" pitchFamily="34" charset="0"/>
                <a:ea typeface="Calibri" pitchFamily="34" charset="-122"/>
                <a:cs typeface="Calibri" pitchFamily="34" charset="-120"/>
              </a:rPr>
              <a:t>Angel One is a well-trusted, SEBI-registered platform that succeeds at its core goal: converting an interested visitor into a funded, active investing account through a fast, modern onboarding flow.</a:t>
            </a:r>
            <a:endParaRPr lang="en-US" sz="1300" dirty="0"/>
          </a:p>
        </p:txBody>
      </p:sp>
      <p:sp>
        <p:nvSpPr>
          <p:cNvPr id="11" name="Shape 9"/>
          <p:cNvSpPr/>
          <p:nvPr/>
        </p:nvSpPr>
        <p:spPr>
          <a:xfrm>
            <a:off x="640080" y="3200400"/>
            <a:ext cx="10881360" cy="1188720"/>
          </a:xfrm>
          <a:prstGeom prst="roundRect">
            <a:avLst>
              <a:gd name="adj" fmla="val 7692"/>
            </a:avLst>
          </a:prstGeom>
          <a:solidFill>
            <a:srgbClr val="F4F7FC"/>
          </a:solidFill>
          <a:ln w="12700">
            <a:solidFill>
              <a:srgbClr val="D7E1F2"/>
            </a:solidFill>
            <a:prstDash val="solid"/>
          </a:ln>
        </p:spPr>
      </p:sp>
      <p:sp>
        <p:nvSpPr>
          <p:cNvPr id="12" name="Shape 10"/>
          <p:cNvSpPr/>
          <p:nvPr/>
        </p:nvSpPr>
        <p:spPr>
          <a:xfrm>
            <a:off x="868680" y="3520440"/>
            <a:ext cx="548640" cy="548640"/>
          </a:xfrm>
          <a:prstGeom prst="ellipse">
            <a:avLst/>
          </a:prstGeom>
          <a:solidFill>
            <a:srgbClr val="132A52"/>
          </a:solidFill>
          <a:ln/>
        </p:spPr>
      </p:sp>
      <p:sp>
        <p:nvSpPr>
          <p:cNvPr id="13" name="Text 11"/>
          <p:cNvSpPr/>
          <p:nvPr/>
        </p:nvSpPr>
        <p:spPr>
          <a:xfrm>
            <a:off x="868680" y="352044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691640" y="3200400"/>
            <a:ext cx="9646920" cy="1188720"/>
          </a:xfrm>
          <a:prstGeom prst="rect">
            <a:avLst/>
          </a:prstGeom>
          <a:noFill/>
          <a:ln/>
        </p:spPr>
        <p:txBody>
          <a:bodyPr wrap="square" lIns="0" tIns="0" rIns="0" bIns="0" rtlCol="0" anchor="ctr"/>
          <a:lstStyle/>
          <a:p>
            <a:pPr marL="0" indent="0">
              <a:lnSpc>
                <a:spcPct val="125000"/>
              </a:lnSpc>
              <a:buNone/>
            </a:pPr>
            <a:r>
              <a:rPr lang="en-US" sz="1300" dirty="0">
                <a:solidFill>
                  <a:srgbClr val="2B3A55"/>
                </a:solidFill>
                <a:latin typeface="Calibri" pitchFamily="34" charset="0"/>
                <a:ea typeface="Calibri" pitchFamily="34" charset="-122"/>
                <a:cs typeface="Calibri" pitchFamily="34" charset="-120"/>
              </a:rPr>
              <a:t>First-time investors like Priya still face real friction: two competing homepage actions, pricing information spread across several pages, a sharp jump in interface density once inside the trading dashboard, and no role-based path to guide different types of visitors.</a:t>
            </a:r>
            <a:endParaRPr lang="en-US" sz="1300" dirty="0"/>
          </a:p>
        </p:txBody>
      </p:sp>
      <p:sp>
        <p:nvSpPr>
          <p:cNvPr id="15" name="Shape 13"/>
          <p:cNvSpPr/>
          <p:nvPr/>
        </p:nvSpPr>
        <p:spPr>
          <a:xfrm>
            <a:off x="640080" y="4617720"/>
            <a:ext cx="10881360" cy="1188720"/>
          </a:xfrm>
          <a:prstGeom prst="roundRect">
            <a:avLst>
              <a:gd name="adj" fmla="val 7692"/>
            </a:avLst>
          </a:prstGeom>
          <a:solidFill>
            <a:srgbClr val="F4F7FC"/>
          </a:solidFill>
          <a:ln w="12700">
            <a:solidFill>
              <a:srgbClr val="D7E1F2"/>
            </a:solidFill>
            <a:prstDash val="solid"/>
          </a:ln>
        </p:spPr>
      </p:sp>
      <p:sp>
        <p:nvSpPr>
          <p:cNvPr id="16" name="Shape 14"/>
          <p:cNvSpPr/>
          <p:nvPr/>
        </p:nvSpPr>
        <p:spPr>
          <a:xfrm>
            <a:off x="868680" y="4937760"/>
            <a:ext cx="548640" cy="548640"/>
          </a:xfrm>
          <a:prstGeom prst="ellipse">
            <a:avLst/>
          </a:prstGeom>
          <a:solidFill>
            <a:srgbClr val="132A52"/>
          </a:solidFill>
          <a:ln/>
        </p:spPr>
      </p:sp>
      <p:sp>
        <p:nvSpPr>
          <p:cNvPr id="17" name="Text 15"/>
          <p:cNvSpPr/>
          <p:nvPr/>
        </p:nvSpPr>
        <p:spPr>
          <a:xfrm>
            <a:off x="868680" y="493776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691640" y="4617720"/>
            <a:ext cx="9646920" cy="1188720"/>
          </a:xfrm>
          <a:prstGeom prst="rect">
            <a:avLst/>
          </a:prstGeom>
          <a:noFill/>
          <a:ln/>
        </p:spPr>
        <p:txBody>
          <a:bodyPr wrap="square" lIns="0" tIns="0" rIns="0" bIns="0" rtlCol="0" anchor="ctr"/>
          <a:lstStyle/>
          <a:p>
            <a:pPr marL="0" indent="0">
              <a:lnSpc>
                <a:spcPct val="125000"/>
              </a:lnSpc>
              <a:buNone/>
            </a:pPr>
            <a:r>
              <a:rPr lang="en-US" sz="1300" dirty="0">
                <a:solidFill>
                  <a:srgbClr val="2B3A55"/>
                </a:solidFill>
                <a:latin typeface="Calibri" pitchFamily="34" charset="0"/>
                <a:ea typeface="Calibri" pitchFamily="34" charset="-122"/>
                <a:cs typeface="Calibri" pitchFamily="34" charset="-120"/>
              </a:rPr>
              <a:t>Closing these UX gaps — through a single clear primary action, consolidated pricing information, a guided first-login experience, and role-based entry points — would let first-time investors convert their trust in the Angel One brand into genuine confidence using the product.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D3B"/>
        </a:solidFill>
        <a:effectLst/>
      </p:bgPr>
    </p:bg>
    <p:spTree>
      <p:nvGrpSpPr>
        <p:cNvPr id="1" name=""/>
        <p:cNvGrpSpPr/>
        <p:nvPr/>
      </p:nvGrpSpPr>
      <p:grpSpPr>
        <a:xfrm>
          <a:off x="0" y="0"/>
          <a:ext cx="0" cy="0"/>
          <a:chOff x="0" y="0"/>
          <a:chExt cx="0" cy="0"/>
        </a:xfrm>
      </p:grpSpPr>
      <p:sp>
        <p:nvSpPr>
          <p:cNvPr id="2" name="Shape 0"/>
          <p:cNvSpPr/>
          <p:nvPr/>
        </p:nvSpPr>
        <p:spPr>
          <a:xfrm>
            <a:off x="-1097280" y="-1097280"/>
            <a:ext cx="5486400" cy="5486400"/>
          </a:xfrm>
          <a:prstGeom prst="triangle">
            <a:avLst/>
          </a:prstGeom>
          <a:solidFill>
            <a:srgbClr val="132A52">
              <a:alpha val="80000"/>
            </a:srgbClr>
          </a:solidFill>
          <a:ln/>
        </p:spPr>
      </p:sp>
      <p:sp>
        <p:nvSpPr>
          <p:cNvPr id="3" name="Shape 1"/>
          <p:cNvSpPr/>
          <p:nvPr/>
        </p:nvSpPr>
        <p:spPr>
          <a:xfrm rot="10800000">
            <a:off x="8778240" y="4206240"/>
            <a:ext cx="5029200" cy="5029200"/>
          </a:xfrm>
          <a:prstGeom prst="triangle">
            <a:avLst/>
          </a:prstGeom>
          <a:solidFill>
            <a:srgbClr val="FF6A2B">
              <a:alpha val="22000"/>
            </a:srgbClr>
          </a:solidFill>
          <a:ln/>
        </p:spPr>
      </p:sp>
      <p:sp>
        <p:nvSpPr>
          <p:cNvPr id="4" name="Shape 2"/>
          <p:cNvSpPr/>
          <p:nvPr/>
        </p:nvSpPr>
        <p:spPr>
          <a:xfrm>
            <a:off x="5623560" y="1188720"/>
            <a:ext cx="960120" cy="960120"/>
          </a:xfrm>
          <a:prstGeom prst="ellipse">
            <a:avLst/>
          </a:prstGeom>
          <a:solidFill>
            <a:srgbClr val="132A52"/>
          </a:solidFill>
          <a:ln/>
        </p:spPr>
      </p:sp>
      <p:sp>
        <p:nvSpPr>
          <p:cNvPr id="5" name="Text 3"/>
          <p:cNvSpPr/>
          <p:nvPr/>
        </p:nvSpPr>
        <p:spPr>
          <a:xfrm>
            <a:off x="5623560" y="1188720"/>
            <a:ext cx="960120" cy="9601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0" y="2468880"/>
            <a:ext cx="12188952"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entury Schoolbook" pitchFamily="34" charset="0"/>
                <a:ea typeface="Century Schoolbook" pitchFamily="34" charset="-122"/>
                <a:cs typeface="Century Schoolbook" pitchFamily="34" charset="-120"/>
              </a:rPr>
              <a:t>THANK YOU</a:t>
            </a:r>
            <a:endParaRPr lang="en-US" sz="4400" dirty="0"/>
          </a:p>
        </p:txBody>
      </p:sp>
      <p:sp>
        <p:nvSpPr>
          <p:cNvPr id="7" name="Shape 5"/>
          <p:cNvSpPr/>
          <p:nvPr/>
        </p:nvSpPr>
        <p:spPr>
          <a:xfrm>
            <a:off x="3803904" y="3657600"/>
            <a:ext cx="4572000" cy="685800"/>
          </a:xfrm>
          <a:prstGeom prst="roundRect">
            <a:avLst>
              <a:gd name="adj" fmla="val 10667"/>
            </a:avLst>
          </a:prstGeom>
          <a:solidFill>
            <a:srgbClr val="132A52"/>
          </a:solidFill>
          <a:ln/>
        </p:spPr>
      </p:sp>
      <p:sp>
        <p:nvSpPr>
          <p:cNvPr id="8" name="Text 6"/>
          <p:cNvSpPr/>
          <p:nvPr/>
        </p:nvSpPr>
        <p:spPr>
          <a:xfrm>
            <a:off x="3803904" y="3657600"/>
            <a:ext cx="4572000" cy="685800"/>
          </a:xfrm>
          <a:prstGeom prst="rect">
            <a:avLst/>
          </a:prstGeom>
          <a:noFill/>
          <a:ln/>
        </p:spPr>
        <p:txBody>
          <a:bodyPr wrap="square" lIns="0" tIns="0" rIns="0" bIns="0" rtlCol="0" anchor="ctr"/>
          <a:lstStyle/>
          <a:p>
            <a:pPr marL="0" indent="0" algn="ctr">
              <a:buNone/>
            </a:pPr>
            <a:r>
              <a:rPr lang="en-US" sz="1250" dirty="0">
                <a:solidFill>
                  <a:srgbClr val="CBD6EC"/>
                </a:solidFill>
                <a:latin typeface="Calibri" pitchFamily="34" charset="0"/>
                <a:ea typeface="Calibri" pitchFamily="34" charset="-122"/>
                <a:cs typeface="Calibri" pitchFamily="34" charset="-120"/>
              </a:rPr>
              <a:t>User Persona for the Angel One Website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Empathy Map</a:t>
            </a:r>
            <a:endParaRPr lang="en-US" sz="3200" dirty="0"/>
          </a:p>
        </p:txBody>
      </p:sp>
      <p:sp>
        <p:nvSpPr>
          <p:cNvPr id="7" name="Shape 5"/>
          <p:cNvSpPr/>
          <p:nvPr/>
        </p:nvSpPr>
        <p:spPr>
          <a:xfrm>
            <a:off x="64008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8" name="Shape 6"/>
          <p:cNvSpPr/>
          <p:nvPr/>
        </p:nvSpPr>
        <p:spPr>
          <a:xfrm>
            <a:off x="914400" y="2011680"/>
            <a:ext cx="548640" cy="548640"/>
          </a:xfrm>
          <a:prstGeom prst="ellipse">
            <a:avLst/>
          </a:prstGeom>
          <a:solidFill>
            <a:srgbClr val="FF6A2B"/>
          </a:solidFill>
          <a:ln/>
        </p:spPr>
      </p:sp>
      <p:sp>
        <p:nvSpPr>
          <p:cNvPr id="9" name="Text 7"/>
          <p:cNvSpPr/>
          <p:nvPr/>
        </p:nvSpPr>
        <p:spPr>
          <a:xfrm>
            <a:off x="91440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64592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Says</a:t>
            </a:r>
            <a:endParaRPr lang="en-US" sz="1350" dirty="0"/>
          </a:p>
        </p:txBody>
      </p:sp>
      <p:sp>
        <p:nvSpPr>
          <p:cNvPr id="11" name="Text 9"/>
          <p:cNvSpPr/>
          <p:nvPr/>
        </p:nvSpPr>
        <p:spPr>
          <a:xfrm>
            <a:off x="914400" y="2513520"/>
            <a:ext cx="4754880" cy="1188720"/>
          </a:xfrm>
          <a:prstGeom prst="rect">
            <a:avLst/>
          </a:prstGeom>
          <a:noFill/>
          <a:ln/>
        </p:spPr>
        <p:txBody>
          <a:bodyPr wrap="square" lIns="0" tIns="0" rIns="0" bIns="0" rtlCol="0" anchor="ctr"/>
          <a:lstStyle/>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“I want one clear next step, not two banners.”</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“Is this platform actually safe for my money?”</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“I don’t want to pay hidden charges.”</a:t>
            </a:r>
            <a:endParaRPr lang="en-US" sz="1000" dirty="0"/>
          </a:p>
        </p:txBody>
      </p:sp>
      <p:sp>
        <p:nvSpPr>
          <p:cNvPr id="12" name="Shape 10"/>
          <p:cNvSpPr/>
          <p:nvPr/>
        </p:nvSpPr>
        <p:spPr>
          <a:xfrm>
            <a:off x="621792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3" name="Shape 11"/>
          <p:cNvSpPr/>
          <p:nvPr/>
        </p:nvSpPr>
        <p:spPr>
          <a:xfrm>
            <a:off x="6492240" y="2011680"/>
            <a:ext cx="548640" cy="548640"/>
          </a:xfrm>
          <a:prstGeom prst="ellipse">
            <a:avLst/>
          </a:prstGeom>
          <a:solidFill>
            <a:srgbClr val="FF6A2B"/>
          </a:solidFill>
          <a:ln/>
        </p:spPr>
      </p:sp>
      <p:sp>
        <p:nvSpPr>
          <p:cNvPr id="14" name="Text 12"/>
          <p:cNvSpPr/>
          <p:nvPr/>
        </p:nvSpPr>
        <p:spPr>
          <a:xfrm>
            <a:off x="649224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722376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Thinks</a:t>
            </a:r>
            <a:endParaRPr lang="en-US" sz="1350" dirty="0"/>
          </a:p>
        </p:txBody>
      </p:sp>
      <p:sp>
        <p:nvSpPr>
          <p:cNvPr id="16" name="Text 14"/>
          <p:cNvSpPr/>
          <p:nvPr/>
        </p:nvSpPr>
        <p:spPr>
          <a:xfrm>
            <a:off x="6492240" y="2513520"/>
            <a:ext cx="4754880" cy="1188720"/>
          </a:xfrm>
          <a:prstGeom prst="rect">
            <a:avLst/>
          </a:prstGeom>
          <a:noFill/>
          <a:ln/>
        </p:spPr>
        <p:txBody>
          <a:bodyPr wrap="square" lIns="0" tIns="0" rIns="0" bIns="0" rtlCol="0" anchor="ctr"/>
          <a:lstStyle/>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Am I doing this correctly, or missing something?</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This dashboard looks nothing like the site I trusted.</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I hope these recommendations are right for me.</a:t>
            </a:r>
            <a:endParaRPr lang="en-US" sz="1000" dirty="0"/>
          </a:p>
        </p:txBody>
      </p:sp>
      <p:sp>
        <p:nvSpPr>
          <p:cNvPr id="17" name="Shape 15"/>
          <p:cNvSpPr/>
          <p:nvPr/>
        </p:nvSpPr>
        <p:spPr>
          <a:xfrm>
            <a:off x="64008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8" name="Shape 16"/>
          <p:cNvSpPr/>
          <p:nvPr/>
        </p:nvSpPr>
        <p:spPr>
          <a:xfrm>
            <a:off x="914400" y="4297680"/>
            <a:ext cx="548640" cy="548640"/>
          </a:xfrm>
          <a:prstGeom prst="ellipse">
            <a:avLst/>
          </a:prstGeom>
          <a:solidFill>
            <a:srgbClr val="FF6A2B"/>
          </a:solidFill>
          <a:ln/>
        </p:spPr>
      </p:sp>
      <p:sp>
        <p:nvSpPr>
          <p:cNvPr id="19" name="Text 17"/>
          <p:cNvSpPr/>
          <p:nvPr/>
        </p:nvSpPr>
        <p:spPr>
          <a:xfrm>
            <a:off x="91440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64592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Does</a:t>
            </a:r>
            <a:endParaRPr lang="en-US" sz="1350" dirty="0"/>
          </a:p>
        </p:txBody>
      </p:sp>
      <p:sp>
        <p:nvSpPr>
          <p:cNvPr id="21" name="Text 19"/>
          <p:cNvSpPr/>
          <p:nvPr/>
        </p:nvSpPr>
        <p:spPr>
          <a:xfrm>
            <a:off x="914400" y="4799520"/>
            <a:ext cx="4754880" cy="1188720"/>
          </a:xfrm>
          <a:prstGeom prst="rect">
            <a:avLst/>
          </a:prstGeom>
          <a:noFill/>
          <a:ln/>
        </p:spPr>
        <p:txBody>
          <a:bodyPr wrap="square" lIns="0" tIns="0" rIns="0" bIns="0" rtlCol="0" anchor="ctr"/>
          <a:lstStyle/>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Compares plans across several open tabs before deciding.</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Completes KYC quickly once she begins the flow.</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Re-reads pricing pages to double-check the numbers.</a:t>
            </a:r>
            <a:endParaRPr lang="en-US" sz="1000" dirty="0"/>
          </a:p>
        </p:txBody>
      </p:sp>
      <p:sp>
        <p:nvSpPr>
          <p:cNvPr id="22" name="Shape 20"/>
          <p:cNvSpPr/>
          <p:nvPr/>
        </p:nvSpPr>
        <p:spPr>
          <a:xfrm>
            <a:off x="621792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23" name="Shape 21"/>
          <p:cNvSpPr/>
          <p:nvPr/>
        </p:nvSpPr>
        <p:spPr>
          <a:xfrm>
            <a:off x="6492240" y="4297680"/>
            <a:ext cx="548640" cy="548640"/>
          </a:xfrm>
          <a:prstGeom prst="ellipse">
            <a:avLst/>
          </a:prstGeom>
          <a:solidFill>
            <a:srgbClr val="FF6A2B"/>
          </a:solidFill>
          <a:ln/>
        </p:spPr>
      </p:sp>
      <p:sp>
        <p:nvSpPr>
          <p:cNvPr id="24" name="Text 22"/>
          <p:cNvSpPr/>
          <p:nvPr/>
        </p:nvSpPr>
        <p:spPr>
          <a:xfrm>
            <a:off x="649224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722376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Feels</a:t>
            </a:r>
            <a:endParaRPr lang="en-US" sz="1350" dirty="0"/>
          </a:p>
        </p:txBody>
      </p:sp>
      <p:sp>
        <p:nvSpPr>
          <p:cNvPr id="26" name="Text 24"/>
          <p:cNvSpPr/>
          <p:nvPr/>
        </p:nvSpPr>
        <p:spPr>
          <a:xfrm>
            <a:off x="6492240" y="4799520"/>
            <a:ext cx="4754880" cy="1188720"/>
          </a:xfrm>
          <a:prstGeom prst="rect">
            <a:avLst/>
          </a:prstGeom>
          <a:noFill/>
          <a:ln/>
        </p:spPr>
        <p:txBody>
          <a:bodyPr wrap="square" lIns="0" tIns="0" rIns="0" bIns="0" rtlCol="0" anchor="ctr"/>
          <a:lstStyle/>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Intrigued but uncertain on the homepage.</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Relieved once her account opens smoothly.</a:t>
            </a:r>
            <a:endParaRPr lang="en-US" sz="1000" dirty="0"/>
          </a:p>
          <a:p>
            <a:pPr marL="228600" indent="-228600">
              <a:lnSpc>
                <a:spcPct val="112000"/>
              </a:lnSpc>
              <a:spcAft>
                <a:spcPts val="500"/>
              </a:spcAft>
              <a:buSzPct val="100000"/>
              <a:buFont typeface="Arial" pitchFamily="34" charset="0"/>
              <a:buChar char="✦"/>
            </a:pPr>
            <a:r>
              <a:rPr lang="en-US" sz="1000" dirty="0">
                <a:solidFill>
                  <a:srgbClr val="2B3A55"/>
                </a:solidFill>
                <a:latin typeface="Calibri" pitchFamily="34" charset="0"/>
                <a:ea typeface="Calibri" pitchFamily="34" charset="-122"/>
                <a:cs typeface="Calibri" pitchFamily="34" charset="-120"/>
              </a:rPr>
              <a:t>Overwhelmed entering the dense trading dashboard.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Gaps for Future Improvement</a:t>
            </a:r>
            <a:endParaRPr lang="en-US" sz="3200" dirty="0"/>
          </a:p>
        </p:txBody>
      </p:sp>
      <p:sp>
        <p:nvSpPr>
          <p:cNvPr id="7" name="Shape 5"/>
          <p:cNvSpPr/>
          <p:nvPr/>
        </p:nvSpPr>
        <p:spPr>
          <a:xfrm>
            <a:off x="64008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8" name="Shape 6"/>
          <p:cNvSpPr/>
          <p:nvPr/>
        </p:nvSpPr>
        <p:spPr>
          <a:xfrm>
            <a:off x="914400" y="2011680"/>
            <a:ext cx="548640" cy="548640"/>
          </a:xfrm>
          <a:prstGeom prst="ellipse">
            <a:avLst/>
          </a:prstGeom>
          <a:solidFill>
            <a:srgbClr val="FF6A2B"/>
          </a:solidFill>
          <a:ln/>
        </p:spPr>
      </p:sp>
      <p:sp>
        <p:nvSpPr>
          <p:cNvPr id="9" name="Text 7"/>
          <p:cNvSpPr/>
          <p:nvPr/>
        </p:nvSpPr>
        <p:spPr>
          <a:xfrm>
            <a:off x="91440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64592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Build Accessibility In</a:t>
            </a:r>
            <a:endParaRPr lang="en-US" sz="1350" dirty="0"/>
          </a:p>
        </p:txBody>
      </p:sp>
      <p:sp>
        <p:nvSpPr>
          <p:cNvPr id="11" name="Text 9"/>
          <p:cNvSpPr/>
          <p:nvPr/>
        </p:nvSpPr>
        <p:spPr>
          <a:xfrm>
            <a:off x="914400" y="2651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No contrast or text-size controls exist today; future releases should meet WCAG 2.1 AA with adjustable themes and screen-reader-friendly components.</a:t>
            </a:r>
            <a:endParaRPr lang="en-US" sz="1080" dirty="0"/>
          </a:p>
        </p:txBody>
      </p:sp>
      <p:sp>
        <p:nvSpPr>
          <p:cNvPr id="12" name="Shape 10"/>
          <p:cNvSpPr/>
          <p:nvPr/>
        </p:nvSpPr>
        <p:spPr>
          <a:xfrm>
            <a:off x="621792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3" name="Shape 11"/>
          <p:cNvSpPr/>
          <p:nvPr/>
        </p:nvSpPr>
        <p:spPr>
          <a:xfrm>
            <a:off x="6492240" y="2011680"/>
            <a:ext cx="548640" cy="548640"/>
          </a:xfrm>
          <a:prstGeom prst="ellipse">
            <a:avLst/>
          </a:prstGeom>
          <a:solidFill>
            <a:srgbClr val="FF6A2B"/>
          </a:solidFill>
          <a:ln/>
        </p:spPr>
      </p:sp>
      <p:sp>
        <p:nvSpPr>
          <p:cNvPr id="14" name="Text 12"/>
          <p:cNvSpPr/>
          <p:nvPr/>
        </p:nvSpPr>
        <p:spPr>
          <a:xfrm>
            <a:off x="649224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722376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Personalize the Onboarding</a:t>
            </a:r>
            <a:endParaRPr lang="en-US" sz="1350" dirty="0"/>
          </a:p>
        </p:txBody>
      </p:sp>
      <p:sp>
        <p:nvSpPr>
          <p:cNvPr id="16" name="Text 14"/>
          <p:cNvSpPr/>
          <p:nvPr/>
        </p:nvSpPr>
        <p:spPr>
          <a:xfrm>
            <a:off x="6492240" y="2651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Every visitor sees the same static homepage; an adaptive flow that learns from stated goals could tailor content from first visit through first trade.</a:t>
            </a:r>
            <a:endParaRPr lang="en-US" sz="1080" dirty="0"/>
          </a:p>
        </p:txBody>
      </p:sp>
      <p:sp>
        <p:nvSpPr>
          <p:cNvPr id="17" name="Shape 15"/>
          <p:cNvSpPr/>
          <p:nvPr/>
        </p:nvSpPr>
        <p:spPr>
          <a:xfrm>
            <a:off x="64008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8" name="Shape 16"/>
          <p:cNvSpPr/>
          <p:nvPr/>
        </p:nvSpPr>
        <p:spPr>
          <a:xfrm>
            <a:off x="914400" y="4297680"/>
            <a:ext cx="548640" cy="548640"/>
          </a:xfrm>
          <a:prstGeom prst="ellipse">
            <a:avLst/>
          </a:prstGeom>
          <a:solidFill>
            <a:srgbClr val="FF6A2B"/>
          </a:solidFill>
          <a:ln/>
        </p:spPr>
      </p:sp>
      <p:sp>
        <p:nvSpPr>
          <p:cNvPr id="19" name="Text 17"/>
          <p:cNvSpPr/>
          <p:nvPr/>
        </p:nvSpPr>
        <p:spPr>
          <a:xfrm>
            <a:off x="91440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64592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Weave In Financial Education</a:t>
            </a:r>
            <a:endParaRPr lang="en-US" sz="1350" dirty="0"/>
          </a:p>
        </p:txBody>
      </p:sp>
      <p:sp>
        <p:nvSpPr>
          <p:cNvPr id="21" name="Text 19"/>
          <p:cNvSpPr/>
          <p:nvPr/>
        </p:nvSpPr>
        <p:spPr>
          <a:xfrm>
            <a:off x="914400" y="4937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F&amp;O and options tools still assume prior knowledge; contextual glossary terms and short explainers embedded in complex screens would close that gap.</a:t>
            </a:r>
            <a:endParaRPr lang="en-US" sz="1080" dirty="0"/>
          </a:p>
        </p:txBody>
      </p:sp>
      <p:sp>
        <p:nvSpPr>
          <p:cNvPr id="22" name="Shape 20"/>
          <p:cNvSpPr/>
          <p:nvPr/>
        </p:nvSpPr>
        <p:spPr>
          <a:xfrm>
            <a:off x="621792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23" name="Shape 21"/>
          <p:cNvSpPr/>
          <p:nvPr/>
        </p:nvSpPr>
        <p:spPr>
          <a:xfrm>
            <a:off x="6492240" y="4297680"/>
            <a:ext cx="548640" cy="548640"/>
          </a:xfrm>
          <a:prstGeom prst="ellipse">
            <a:avLst/>
          </a:prstGeom>
          <a:solidFill>
            <a:srgbClr val="FF6A2B"/>
          </a:solidFill>
          <a:ln/>
        </p:spPr>
      </p:sp>
      <p:sp>
        <p:nvSpPr>
          <p:cNvPr id="24" name="Text 22"/>
          <p:cNvSpPr/>
          <p:nvPr/>
        </p:nvSpPr>
        <p:spPr>
          <a:xfrm>
            <a:off x="649224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722376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Close the Feedback Loop</a:t>
            </a:r>
            <a:endParaRPr lang="en-US" sz="1350" dirty="0"/>
          </a:p>
        </p:txBody>
      </p:sp>
      <p:sp>
        <p:nvSpPr>
          <p:cNvPr id="26" name="Text 24"/>
          <p:cNvSpPr/>
          <p:nvPr/>
        </p:nvSpPr>
        <p:spPr>
          <a:xfrm>
            <a:off x="6492240" y="4937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There is no visible channel for capturing post-launch friction; in-product prompts after key steps would let the team keep improving with real signal.</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1274</Words>
  <Application>Microsoft Office PowerPoint</Application>
  <PresentationFormat>Widescreen</PresentationFormat>
  <Paragraphs>203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Ayan .</cp:lastModifiedBy>
  <cp:revision>2</cp:revision>
  <dcterms:created xsi:type="dcterms:W3CDTF">2026-08-07T07:34:29Z</dcterms:created>
  <dcterms:modified xsi:type="dcterms:W3CDTF">2026-08-07T10:51:44Z</dcterms:modified>
</cp:coreProperties>
</file>