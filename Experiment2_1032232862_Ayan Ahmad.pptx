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643"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1720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D3B"/>
        </a:solidFill>
        <a:effectLst/>
      </p:bgPr>
    </p:bg>
    <p:spTree>
      <p:nvGrpSpPr>
        <p:cNvPr id="1" name=""/>
        <p:cNvGrpSpPr/>
        <p:nvPr/>
      </p:nvGrpSpPr>
      <p:grpSpPr>
        <a:xfrm>
          <a:off x="0" y="0"/>
          <a:ext cx="0" cy="0"/>
          <a:chOff x="0" y="0"/>
          <a:chExt cx="0" cy="0"/>
        </a:xfrm>
      </p:grpSpPr>
      <p:sp>
        <p:nvSpPr>
          <p:cNvPr id="2" name="Shape 0"/>
          <p:cNvSpPr/>
          <p:nvPr/>
        </p:nvSpPr>
        <p:spPr>
          <a:xfrm>
            <a:off x="-1097280" y="-1097280"/>
            <a:ext cx="5486400" cy="5486400"/>
          </a:xfrm>
          <a:prstGeom prst="triangle">
            <a:avLst/>
          </a:prstGeom>
          <a:solidFill>
            <a:srgbClr val="132A52">
              <a:alpha val="80000"/>
            </a:srgbClr>
          </a:solidFill>
          <a:ln/>
        </p:spPr>
      </p:sp>
      <p:sp>
        <p:nvSpPr>
          <p:cNvPr id="3" name="Shape 1"/>
          <p:cNvSpPr/>
          <p:nvPr/>
        </p:nvSpPr>
        <p:spPr>
          <a:xfrm rot="10800000">
            <a:off x="8778240" y="4206240"/>
            <a:ext cx="5029200" cy="5029200"/>
          </a:xfrm>
          <a:prstGeom prst="triangle">
            <a:avLst/>
          </a:prstGeom>
          <a:solidFill>
            <a:srgbClr val="FF6A2B">
              <a:alpha val="22000"/>
            </a:srgbClr>
          </a:solidFill>
          <a:ln/>
        </p:spPr>
      </p:sp>
      <p:sp>
        <p:nvSpPr>
          <p:cNvPr id="4" name="Shape 2"/>
          <p:cNvSpPr/>
          <p:nvPr/>
        </p:nvSpPr>
        <p:spPr>
          <a:xfrm>
            <a:off x="9692640" y="548640"/>
            <a:ext cx="1828800" cy="1828800"/>
          </a:xfrm>
          <a:prstGeom prst="ellipse">
            <a:avLst/>
          </a:prstGeom>
          <a:solidFill>
            <a:srgbClr val="FFFFFF">
              <a:alpha val="8000"/>
            </a:srgbClr>
          </a:solidFill>
          <a:ln w="12700">
            <a:solidFill>
              <a:srgbClr val="FFFFFF">
                <a:alpha val="40000"/>
              </a:srgbClr>
            </a:solidFill>
            <a:prstDash val="solid"/>
          </a:ln>
        </p:spPr>
      </p:sp>
      <p:sp>
        <p:nvSpPr>
          <p:cNvPr id="5" name="Text 3"/>
          <p:cNvSpPr/>
          <p:nvPr/>
        </p:nvSpPr>
        <p:spPr>
          <a:xfrm>
            <a:off x="640079" y="502920"/>
            <a:ext cx="7446645" cy="563880"/>
          </a:xfrm>
          <a:prstGeom prst="rect">
            <a:avLst/>
          </a:prstGeom>
          <a:noFill/>
          <a:ln/>
        </p:spPr>
        <p:txBody>
          <a:bodyPr wrap="square" lIns="0" tIns="0" rIns="0" bIns="0" rtlCol="0" anchor="ctr"/>
          <a:lstStyle/>
          <a:p>
            <a:r>
              <a:rPr lang="en-US" sz="1600" dirty="0">
                <a:solidFill>
                  <a:srgbClr val="AEB9CF"/>
                </a:solidFill>
                <a:latin typeface="Calibri" pitchFamily="34" charset="0"/>
                <a:ea typeface="Calibri" pitchFamily="34" charset="-122"/>
                <a:cs typeface="Calibri" pitchFamily="34" charset="-120"/>
              </a:rPr>
              <a:t>Ayan Ahmad |  PRN - 1032232862  | Batch – D2 |  August 7, 2026</a:t>
            </a:r>
            <a:endParaRPr lang="en-US" sz="1600" dirty="0"/>
          </a:p>
        </p:txBody>
      </p:sp>
      <p:sp>
        <p:nvSpPr>
          <p:cNvPr id="6" name="Text 4"/>
          <p:cNvSpPr/>
          <p:nvPr/>
        </p:nvSpPr>
        <p:spPr>
          <a:xfrm>
            <a:off x="640080" y="2286000"/>
            <a:ext cx="8778240" cy="1828800"/>
          </a:xfrm>
          <a:prstGeom prst="rect">
            <a:avLst/>
          </a:prstGeom>
          <a:noFill/>
          <a:ln/>
        </p:spPr>
        <p:txBody>
          <a:bodyPr wrap="square" lIns="0" tIns="0" rIns="0" bIns="0" rtlCol="0" anchor="ctr"/>
          <a:lstStyle/>
          <a:p>
            <a:pPr marL="0" indent="0">
              <a:lnSpc>
                <a:spcPct val="105000"/>
              </a:lnSpc>
              <a:buNone/>
            </a:pPr>
            <a:r>
              <a:rPr lang="en-US" sz="4000" b="1" dirty="0">
                <a:solidFill>
                  <a:srgbClr val="FFFFFF"/>
                </a:solidFill>
                <a:latin typeface="Century Schoolbook" pitchFamily="34" charset="0"/>
                <a:ea typeface="Century Schoolbook" pitchFamily="34" charset="-122"/>
                <a:cs typeface="Century Schoolbook" pitchFamily="34" charset="-120"/>
              </a:rPr>
              <a:t>USER PERSONA FOR THE</a:t>
            </a:r>
            <a:endParaRPr lang="en-US" sz="4000" dirty="0"/>
          </a:p>
          <a:p>
            <a:pPr marL="0" indent="0">
              <a:lnSpc>
                <a:spcPct val="105000"/>
              </a:lnSpc>
              <a:buNone/>
            </a:pPr>
            <a:r>
              <a:rPr lang="en-US" sz="4000" b="1" dirty="0">
                <a:solidFill>
                  <a:srgbClr val="FFFFFF"/>
                </a:solidFill>
                <a:latin typeface="Century Schoolbook" pitchFamily="34" charset="0"/>
                <a:ea typeface="Century Schoolbook" pitchFamily="34" charset="-122"/>
                <a:cs typeface="Century Schoolbook" pitchFamily="34" charset="-120"/>
              </a:rPr>
              <a:t>ANGEL ONE WEBSITE</a:t>
            </a:r>
            <a:endParaRPr lang="en-US" sz="4000" dirty="0"/>
          </a:p>
        </p:txBody>
      </p:sp>
      <p:sp>
        <p:nvSpPr>
          <p:cNvPr id="7" name="Text 5"/>
          <p:cNvSpPr/>
          <p:nvPr/>
        </p:nvSpPr>
        <p:spPr>
          <a:xfrm>
            <a:off x="640080" y="4160520"/>
            <a:ext cx="7315200" cy="457200"/>
          </a:xfrm>
          <a:prstGeom prst="rect">
            <a:avLst/>
          </a:prstGeom>
          <a:noFill/>
          <a:ln/>
        </p:spPr>
        <p:txBody>
          <a:bodyPr wrap="square" lIns="0" tIns="0" rIns="0" bIns="0" rtlCol="0" anchor="ctr"/>
          <a:lstStyle/>
          <a:p>
            <a:pPr marL="0" indent="0">
              <a:buNone/>
            </a:pPr>
            <a:r>
              <a:rPr lang="en-US" sz="1800" i="1" dirty="0">
                <a:solidFill>
                  <a:srgbClr val="FF6A2B"/>
                </a:solidFill>
                <a:latin typeface="Calibri" pitchFamily="34" charset="0"/>
                <a:ea typeface="Calibri" pitchFamily="34" charset="-122"/>
                <a:cs typeface="Calibri" pitchFamily="34" charset="-120"/>
              </a:rPr>
              <a:t>A UX Research &amp; Interface Analysis</a:t>
            </a:r>
            <a:endParaRPr lang="en-US" sz="1800" dirty="0"/>
          </a:p>
        </p:txBody>
      </p:sp>
      <p:sp>
        <p:nvSpPr>
          <p:cNvPr id="8" name="Shape 6"/>
          <p:cNvSpPr/>
          <p:nvPr/>
        </p:nvSpPr>
        <p:spPr>
          <a:xfrm>
            <a:off x="9784080" y="2377440"/>
            <a:ext cx="1554480" cy="1554480"/>
          </a:xfrm>
          <a:prstGeom prst="ellipse">
            <a:avLst/>
          </a:prstGeom>
          <a:solidFill>
            <a:srgbClr val="132A52"/>
          </a:solidFill>
          <a:ln/>
        </p:spPr>
      </p:sp>
      <p:sp>
        <p:nvSpPr>
          <p:cNvPr id="9" name="Text 7"/>
          <p:cNvSpPr/>
          <p:nvPr/>
        </p:nvSpPr>
        <p:spPr>
          <a:xfrm>
            <a:off x="9784080" y="2377440"/>
            <a:ext cx="1554480" cy="1554480"/>
          </a:xfrm>
          <a:prstGeom prst="rect">
            <a:avLst/>
          </a:prstGeom>
          <a:noFill/>
          <a:ln/>
        </p:spPr>
        <p:txBody>
          <a:bodyPr wrap="square" lIns="0" tIns="0" rIns="0" bIns="0" rtlCol="0" anchor="ctr"/>
          <a:lstStyle/>
          <a:p>
            <a:pPr marL="0" indent="0" algn="ctr">
              <a:buNone/>
            </a:pPr>
            <a:r>
              <a:rPr lang="en-US" sz="4600" dirty="0">
                <a:solidFill>
                  <a:srgbClr val="000000"/>
                </a:solidFill>
              </a:rPr>
              <a:t>🔐</a:t>
            </a:r>
            <a:endParaRPr lang="en-US" sz="4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AF0FA"/>
        </a:solidFill>
        <a:effectLst/>
      </p:bgPr>
    </p:bg>
    <p:spTree>
      <p:nvGrpSpPr>
        <p:cNvPr id="1" name=""/>
        <p:cNvGrpSpPr/>
        <p:nvPr/>
      </p:nvGrpSpPr>
      <p:grpSpPr>
        <a:xfrm>
          <a:off x="0" y="0"/>
          <a:ext cx="0" cy="0"/>
          <a:chOff x="0" y="0"/>
          <a:chExt cx="0" cy="0"/>
        </a:xfrm>
      </p:grpSpPr>
      <p:sp>
        <p:nvSpPr>
          <p:cNvPr id="2" name="Text 0"/>
          <p:cNvSpPr/>
          <p:nvPr/>
        </p:nvSpPr>
        <p:spPr>
          <a:xfrm>
            <a:off x="457200" y="256032"/>
            <a:ext cx="4572000" cy="320040"/>
          </a:xfrm>
          <a:prstGeom prst="rect">
            <a:avLst/>
          </a:prstGeom>
          <a:noFill/>
          <a:ln/>
        </p:spPr>
        <p:txBody>
          <a:bodyPr wrap="square" lIns="0" tIns="0" rIns="0" bIns="0" rtlCol="0" anchor="ctr"/>
          <a:lstStyle/>
          <a:p>
            <a:pPr marL="0" indent="0">
              <a:buNone/>
            </a:pPr>
            <a:r>
              <a:rPr lang="en-US" sz="1100" b="1" dirty="0">
                <a:solidFill>
                  <a:srgbClr val="132A52"/>
                </a:solidFill>
                <a:latin typeface="Calibri" pitchFamily="34" charset="0"/>
                <a:ea typeface="Calibri" pitchFamily="34" charset="-122"/>
                <a:cs typeface="Calibri" pitchFamily="34" charset="-120"/>
              </a:rPr>
              <a:t>Angel One</a:t>
            </a:r>
            <a:endParaRPr lang="en-US" sz="1100" dirty="0"/>
          </a:p>
        </p:txBody>
      </p:sp>
      <p:sp>
        <p:nvSpPr>
          <p:cNvPr id="3" name="Text 1"/>
          <p:cNvSpPr/>
          <p:nvPr/>
        </p:nvSpPr>
        <p:spPr>
          <a:xfrm>
            <a:off x="7132320" y="256032"/>
            <a:ext cx="4572000" cy="320040"/>
          </a:xfrm>
          <a:prstGeom prst="rect">
            <a:avLst/>
          </a:prstGeom>
          <a:noFill/>
          <a:ln/>
        </p:spPr>
        <p:txBody>
          <a:bodyPr wrap="square" lIns="0" tIns="0" rIns="0" bIns="0" rtlCol="0" anchor="ctr"/>
          <a:lstStyle/>
          <a:p>
            <a:pPr marL="0" indent="0" algn="r">
              <a:buNone/>
            </a:pPr>
            <a:r>
              <a:rPr lang="en-US" sz="1100" dirty="0">
                <a:solidFill>
                  <a:srgbClr val="5B6B85"/>
                </a:solidFill>
                <a:latin typeface="Calibri" pitchFamily="34" charset="0"/>
                <a:ea typeface="Calibri" pitchFamily="34" charset="-122"/>
                <a:cs typeface="Calibri" pitchFamily="34" charset="-120"/>
              </a:rPr>
              <a:t>UX Research &amp; Analysis</a:t>
            </a:r>
            <a:endParaRPr lang="en-US" sz="1100" dirty="0"/>
          </a:p>
        </p:txBody>
      </p:sp>
      <p:sp>
        <p:nvSpPr>
          <p:cNvPr id="4" name="Shape 2"/>
          <p:cNvSpPr/>
          <p:nvPr/>
        </p:nvSpPr>
        <p:spPr>
          <a:xfrm rot="5400000">
            <a:off x="10881360" y="-548640"/>
            <a:ext cx="2377440" cy="2377440"/>
          </a:xfrm>
          <a:prstGeom prst="triangle">
            <a:avLst/>
          </a:prstGeom>
          <a:solidFill>
            <a:srgbClr val="132A52">
              <a:alpha val="8000"/>
            </a:srgbClr>
          </a:solidFill>
          <a:ln/>
        </p:spPr>
      </p:sp>
      <p:sp>
        <p:nvSpPr>
          <p:cNvPr id="5" name="Shape 3"/>
          <p:cNvSpPr/>
          <p:nvPr/>
        </p:nvSpPr>
        <p:spPr>
          <a:xfrm rot="16200000">
            <a:off x="-640080" y="5760720"/>
            <a:ext cx="2011680" cy="2011680"/>
          </a:xfrm>
          <a:prstGeom prst="triangle">
            <a:avLst/>
          </a:prstGeom>
          <a:solidFill>
            <a:srgbClr val="FF6A2B">
              <a:alpha val="6000"/>
            </a:srgbClr>
          </a:solidFill>
          <a:ln/>
        </p:spPr>
      </p:sp>
      <p:sp>
        <p:nvSpPr>
          <p:cNvPr id="6" name="Text 4"/>
          <p:cNvSpPr/>
          <p:nvPr/>
        </p:nvSpPr>
        <p:spPr>
          <a:xfrm>
            <a:off x="640080" y="868680"/>
            <a:ext cx="7315200" cy="640080"/>
          </a:xfrm>
          <a:prstGeom prst="rect">
            <a:avLst/>
          </a:prstGeom>
          <a:noFill/>
          <a:ln/>
        </p:spPr>
        <p:txBody>
          <a:bodyPr wrap="square" lIns="0" tIns="0" rIns="0" bIns="0" rtlCol="0" anchor="ctr"/>
          <a:lstStyle/>
          <a:p>
            <a:pPr marL="0" indent="0">
              <a:buNone/>
            </a:pPr>
            <a:r>
              <a:rPr lang="en-US" sz="3200" b="1" dirty="0">
                <a:solidFill>
                  <a:srgbClr val="132A52"/>
                </a:solidFill>
                <a:latin typeface="Century Schoolbook" pitchFamily="34" charset="0"/>
                <a:ea typeface="Century Schoolbook" pitchFamily="34" charset="-122"/>
                <a:cs typeface="Century Schoolbook" pitchFamily="34" charset="-120"/>
              </a:rPr>
              <a:t>Table of Contents</a:t>
            </a:r>
            <a:endParaRPr lang="en-US" sz="3200" dirty="0"/>
          </a:p>
        </p:txBody>
      </p:sp>
      <p:sp>
        <p:nvSpPr>
          <p:cNvPr id="7" name="Shape 5"/>
          <p:cNvSpPr/>
          <p:nvPr/>
        </p:nvSpPr>
        <p:spPr>
          <a:xfrm>
            <a:off x="640080" y="1828800"/>
            <a:ext cx="5120640" cy="868680"/>
          </a:xfrm>
          <a:prstGeom prst="roundRect">
            <a:avLst>
              <a:gd name="adj" fmla="val 8421"/>
            </a:avLst>
          </a:prstGeom>
          <a:solidFill>
            <a:srgbClr val="FFFFFF"/>
          </a:solidFill>
          <a:ln w="12700">
            <a:solidFill>
              <a:srgbClr val="D7E1F2"/>
            </a:solidFill>
            <a:prstDash val="solid"/>
          </a:ln>
          <a:effectLst>
            <a:outerShdw blurRad="76200" dist="25400" dir="5400000" algn="bl" rotWithShape="0">
              <a:srgbClr val="1B2A52">
                <a:alpha val="12000"/>
              </a:srgbClr>
            </a:outerShdw>
          </a:effectLst>
        </p:spPr>
      </p:sp>
      <p:sp>
        <p:nvSpPr>
          <p:cNvPr id="8" name="Text 6"/>
          <p:cNvSpPr/>
          <p:nvPr/>
        </p:nvSpPr>
        <p:spPr>
          <a:xfrm>
            <a:off x="868680" y="1828800"/>
            <a:ext cx="822960" cy="868680"/>
          </a:xfrm>
          <a:prstGeom prst="rect">
            <a:avLst/>
          </a:prstGeom>
          <a:noFill/>
          <a:ln/>
        </p:spPr>
        <p:txBody>
          <a:bodyPr wrap="square" lIns="0" tIns="0" rIns="0" bIns="0" rtlCol="0" anchor="ctr"/>
          <a:lstStyle/>
          <a:p>
            <a:pPr marL="0" indent="0">
              <a:buNone/>
            </a:pPr>
            <a:r>
              <a:rPr lang="en-US" sz="2200" b="1" dirty="0">
                <a:solidFill>
                  <a:srgbClr val="FF6A2B"/>
                </a:solidFill>
                <a:latin typeface="Century Schoolbook" pitchFamily="34" charset="0"/>
                <a:ea typeface="Century Schoolbook" pitchFamily="34" charset="-122"/>
                <a:cs typeface="Century Schoolbook" pitchFamily="34" charset="-120"/>
              </a:rPr>
              <a:t>01</a:t>
            </a:r>
            <a:endParaRPr lang="en-US" sz="2200" dirty="0"/>
          </a:p>
        </p:txBody>
      </p:sp>
      <p:sp>
        <p:nvSpPr>
          <p:cNvPr id="9" name="Text 7"/>
          <p:cNvSpPr/>
          <p:nvPr/>
        </p:nvSpPr>
        <p:spPr>
          <a:xfrm>
            <a:off x="1691640" y="1828800"/>
            <a:ext cx="3931920" cy="868680"/>
          </a:xfrm>
          <a:prstGeom prst="rect">
            <a:avLst/>
          </a:prstGeom>
          <a:noFill/>
          <a:ln/>
        </p:spPr>
        <p:txBody>
          <a:bodyPr wrap="square" lIns="0" tIns="0" rIns="0" bIns="0" rtlCol="0" anchor="ctr"/>
          <a:lstStyle/>
          <a:p>
            <a:pPr marL="0" indent="0">
              <a:buNone/>
            </a:pPr>
            <a:r>
              <a:rPr lang="en-US" sz="1500" b="1" dirty="0">
                <a:solidFill>
                  <a:srgbClr val="132A52"/>
                </a:solidFill>
                <a:latin typeface="Calibri" pitchFamily="34" charset="0"/>
                <a:ea typeface="Calibri" pitchFamily="34" charset="-122"/>
                <a:cs typeface="Calibri" pitchFamily="34" charset="-120"/>
              </a:rPr>
              <a:t>About Angel One</a:t>
            </a:r>
            <a:endParaRPr lang="en-US" sz="1500" dirty="0"/>
          </a:p>
        </p:txBody>
      </p:sp>
      <p:sp>
        <p:nvSpPr>
          <p:cNvPr id="10" name="Shape 8"/>
          <p:cNvSpPr/>
          <p:nvPr/>
        </p:nvSpPr>
        <p:spPr>
          <a:xfrm>
            <a:off x="640080" y="2926080"/>
            <a:ext cx="5120640" cy="868680"/>
          </a:xfrm>
          <a:prstGeom prst="roundRect">
            <a:avLst>
              <a:gd name="adj" fmla="val 8421"/>
            </a:avLst>
          </a:prstGeom>
          <a:solidFill>
            <a:srgbClr val="FFFFFF"/>
          </a:solidFill>
          <a:ln w="12700">
            <a:solidFill>
              <a:srgbClr val="D7E1F2"/>
            </a:solidFill>
            <a:prstDash val="solid"/>
          </a:ln>
          <a:effectLst>
            <a:outerShdw blurRad="76200" dist="25400" dir="5400000" algn="bl" rotWithShape="0">
              <a:srgbClr val="1B2A52">
                <a:alpha val="12000"/>
              </a:srgbClr>
            </a:outerShdw>
          </a:effectLst>
        </p:spPr>
      </p:sp>
      <p:sp>
        <p:nvSpPr>
          <p:cNvPr id="11" name="Text 9"/>
          <p:cNvSpPr/>
          <p:nvPr/>
        </p:nvSpPr>
        <p:spPr>
          <a:xfrm>
            <a:off x="868680" y="2926080"/>
            <a:ext cx="822960" cy="868680"/>
          </a:xfrm>
          <a:prstGeom prst="rect">
            <a:avLst/>
          </a:prstGeom>
          <a:noFill/>
          <a:ln/>
        </p:spPr>
        <p:txBody>
          <a:bodyPr wrap="square" lIns="0" tIns="0" rIns="0" bIns="0" rtlCol="0" anchor="ctr"/>
          <a:lstStyle/>
          <a:p>
            <a:pPr marL="0" indent="0">
              <a:buNone/>
            </a:pPr>
            <a:r>
              <a:rPr lang="en-US" sz="2200" b="1" dirty="0">
                <a:solidFill>
                  <a:srgbClr val="FF6A2B"/>
                </a:solidFill>
                <a:latin typeface="Century Schoolbook" pitchFamily="34" charset="0"/>
                <a:ea typeface="Century Schoolbook" pitchFamily="34" charset="-122"/>
                <a:cs typeface="Century Schoolbook" pitchFamily="34" charset="-120"/>
              </a:rPr>
              <a:t>02</a:t>
            </a:r>
            <a:endParaRPr lang="en-US" sz="2200" dirty="0"/>
          </a:p>
        </p:txBody>
      </p:sp>
      <p:sp>
        <p:nvSpPr>
          <p:cNvPr id="12" name="Text 10"/>
          <p:cNvSpPr/>
          <p:nvPr/>
        </p:nvSpPr>
        <p:spPr>
          <a:xfrm>
            <a:off x="1691640" y="2926080"/>
            <a:ext cx="3931920" cy="868680"/>
          </a:xfrm>
          <a:prstGeom prst="rect">
            <a:avLst/>
          </a:prstGeom>
          <a:noFill/>
          <a:ln/>
        </p:spPr>
        <p:txBody>
          <a:bodyPr wrap="square" lIns="0" tIns="0" rIns="0" bIns="0" rtlCol="0" anchor="ctr"/>
          <a:lstStyle/>
          <a:p>
            <a:pPr marL="0" indent="0">
              <a:buNone/>
            </a:pPr>
            <a:r>
              <a:rPr lang="en-US" sz="1500" b="1" dirty="0">
                <a:solidFill>
                  <a:srgbClr val="132A52"/>
                </a:solidFill>
                <a:latin typeface="Calibri" pitchFamily="34" charset="0"/>
                <a:ea typeface="Calibri" pitchFamily="34" charset="-122"/>
                <a:cs typeface="Calibri" pitchFamily="34" charset="-120"/>
              </a:rPr>
              <a:t>Pain Points</a:t>
            </a:r>
            <a:endParaRPr lang="en-US" sz="1500" dirty="0"/>
          </a:p>
        </p:txBody>
      </p:sp>
      <p:sp>
        <p:nvSpPr>
          <p:cNvPr id="13" name="Shape 11"/>
          <p:cNvSpPr/>
          <p:nvPr/>
        </p:nvSpPr>
        <p:spPr>
          <a:xfrm>
            <a:off x="640080" y="4023360"/>
            <a:ext cx="5120640" cy="868680"/>
          </a:xfrm>
          <a:prstGeom prst="roundRect">
            <a:avLst>
              <a:gd name="adj" fmla="val 8421"/>
            </a:avLst>
          </a:prstGeom>
          <a:solidFill>
            <a:srgbClr val="FFFFFF"/>
          </a:solidFill>
          <a:ln w="12700">
            <a:solidFill>
              <a:srgbClr val="D7E1F2"/>
            </a:solidFill>
            <a:prstDash val="solid"/>
          </a:ln>
          <a:effectLst>
            <a:outerShdw blurRad="76200" dist="25400" dir="5400000" algn="bl" rotWithShape="0">
              <a:srgbClr val="1B2A52">
                <a:alpha val="12000"/>
              </a:srgbClr>
            </a:outerShdw>
          </a:effectLst>
        </p:spPr>
      </p:sp>
      <p:sp>
        <p:nvSpPr>
          <p:cNvPr id="14" name="Text 12"/>
          <p:cNvSpPr/>
          <p:nvPr/>
        </p:nvSpPr>
        <p:spPr>
          <a:xfrm>
            <a:off x="868680" y="4023360"/>
            <a:ext cx="822960" cy="868680"/>
          </a:xfrm>
          <a:prstGeom prst="rect">
            <a:avLst/>
          </a:prstGeom>
          <a:noFill/>
          <a:ln/>
        </p:spPr>
        <p:txBody>
          <a:bodyPr wrap="square" lIns="0" tIns="0" rIns="0" bIns="0" rtlCol="0" anchor="ctr"/>
          <a:lstStyle/>
          <a:p>
            <a:pPr marL="0" indent="0">
              <a:buNone/>
            </a:pPr>
            <a:r>
              <a:rPr lang="en-US" sz="2200" b="1" dirty="0">
                <a:solidFill>
                  <a:srgbClr val="FF6A2B"/>
                </a:solidFill>
                <a:latin typeface="Century Schoolbook" pitchFamily="34" charset="0"/>
                <a:ea typeface="Century Schoolbook" pitchFamily="34" charset="-122"/>
                <a:cs typeface="Century Schoolbook" pitchFamily="34" charset="-120"/>
              </a:rPr>
              <a:t>03</a:t>
            </a:r>
            <a:endParaRPr lang="en-US" sz="2200" dirty="0"/>
          </a:p>
        </p:txBody>
      </p:sp>
      <p:sp>
        <p:nvSpPr>
          <p:cNvPr id="15" name="Text 13"/>
          <p:cNvSpPr/>
          <p:nvPr/>
        </p:nvSpPr>
        <p:spPr>
          <a:xfrm>
            <a:off x="1691640" y="4023360"/>
            <a:ext cx="3931920" cy="868680"/>
          </a:xfrm>
          <a:prstGeom prst="rect">
            <a:avLst/>
          </a:prstGeom>
          <a:noFill/>
          <a:ln/>
        </p:spPr>
        <p:txBody>
          <a:bodyPr wrap="square" lIns="0" tIns="0" rIns="0" bIns="0" rtlCol="0" anchor="ctr"/>
          <a:lstStyle/>
          <a:p>
            <a:pPr marL="0" indent="0">
              <a:buNone/>
            </a:pPr>
            <a:r>
              <a:rPr lang="en-US" sz="1500" b="1" dirty="0">
                <a:solidFill>
                  <a:srgbClr val="132A52"/>
                </a:solidFill>
                <a:latin typeface="Calibri" pitchFamily="34" charset="0"/>
                <a:ea typeface="Calibri" pitchFamily="34" charset="-122"/>
                <a:cs typeface="Calibri" pitchFamily="34" charset="-120"/>
              </a:rPr>
              <a:t>Primary User Persona</a:t>
            </a:r>
            <a:endParaRPr lang="en-US" sz="1500" dirty="0"/>
          </a:p>
        </p:txBody>
      </p:sp>
      <p:sp>
        <p:nvSpPr>
          <p:cNvPr id="16" name="Shape 14"/>
          <p:cNvSpPr/>
          <p:nvPr/>
        </p:nvSpPr>
        <p:spPr>
          <a:xfrm>
            <a:off x="6309360" y="1828800"/>
            <a:ext cx="5120640" cy="868680"/>
          </a:xfrm>
          <a:prstGeom prst="roundRect">
            <a:avLst>
              <a:gd name="adj" fmla="val 8421"/>
            </a:avLst>
          </a:prstGeom>
          <a:solidFill>
            <a:srgbClr val="FFFFFF"/>
          </a:solidFill>
          <a:ln w="12700">
            <a:solidFill>
              <a:srgbClr val="D7E1F2"/>
            </a:solidFill>
            <a:prstDash val="solid"/>
          </a:ln>
          <a:effectLst>
            <a:outerShdw blurRad="76200" dist="25400" dir="5400000" algn="bl" rotWithShape="0">
              <a:srgbClr val="1B2A52">
                <a:alpha val="12000"/>
              </a:srgbClr>
            </a:outerShdw>
          </a:effectLst>
        </p:spPr>
      </p:sp>
      <p:sp>
        <p:nvSpPr>
          <p:cNvPr id="17" name="Text 15"/>
          <p:cNvSpPr/>
          <p:nvPr/>
        </p:nvSpPr>
        <p:spPr>
          <a:xfrm>
            <a:off x="6537960" y="1828800"/>
            <a:ext cx="822960" cy="868680"/>
          </a:xfrm>
          <a:prstGeom prst="rect">
            <a:avLst/>
          </a:prstGeom>
          <a:noFill/>
          <a:ln/>
        </p:spPr>
        <p:txBody>
          <a:bodyPr wrap="square" lIns="0" tIns="0" rIns="0" bIns="0" rtlCol="0" anchor="ctr"/>
          <a:lstStyle/>
          <a:p>
            <a:pPr marL="0" indent="0">
              <a:buNone/>
            </a:pPr>
            <a:r>
              <a:rPr lang="en-US" sz="2200" b="1" dirty="0">
                <a:solidFill>
                  <a:srgbClr val="FF6A2B"/>
                </a:solidFill>
                <a:latin typeface="Century Schoolbook" pitchFamily="34" charset="0"/>
                <a:ea typeface="Century Schoolbook" pitchFamily="34" charset="-122"/>
                <a:cs typeface="Century Schoolbook" pitchFamily="34" charset="-120"/>
              </a:rPr>
              <a:t>04</a:t>
            </a:r>
            <a:endParaRPr lang="en-US" sz="2200" dirty="0"/>
          </a:p>
        </p:txBody>
      </p:sp>
      <p:sp>
        <p:nvSpPr>
          <p:cNvPr id="18" name="Text 16"/>
          <p:cNvSpPr/>
          <p:nvPr/>
        </p:nvSpPr>
        <p:spPr>
          <a:xfrm>
            <a:off x="7360920" y="1828800"/>
            <a:ext cx="3931920" cy="868680"/>
          </a:xfrm>
          <a:prstGeom prst="rect">
            <a:avLst/>
          </a:prstGeom>
          <a:noFill/>
          <a:ln/>
        </p:spPr>
        <p:txBody>
          <a:bodyPr wrap="square" lIns="0" tIns="0" rIns="0" bIns="0" rtlCol="0" anchor="ctr"/>
          <a:lstStyle/>
          <a:p>
            <a:pPr marL="0" indent="0">
              <a:buNone/>
            </a:pPr>
            <a:r>
              <a:rPr lang="en-US" sz="1500" b="1" dirty="0">
                <a:solidFill>
                  <a:srgbClr val="132A52"/>
                </a:solidFill>
                <a:latin typeface="Calibri" pitchFamily="34" charset="0"/>
                <a:ea typeface="Calibri" pitchFamily="34" charset="-122"/>
                <a:cs typeface="Calibri" pitchFamily="34" charset="-120"/>
              </a:rPr>
              <a:t>User Journey</a:t>
            </a:r>
            <a:endParaRPr lang="en-US" sz="1500" dirty="0"/>
          </a:p>
        </p:txBody>
      </p:sp>
      <p:sp>
        <p:nvSpPr>
          <p:cNvPr id="19" name="Shape 17"/>
          <p:cNvSpPr/>
          <p:nvPr/>
        </p:nvSpPr>
        <p:spPr>
          <a:xfrm>
            <a:off x="6309360" y="2926080"/>
            <a:ext cx="5120640" cy="868680"/>
          </a:xfrm>
          <a:prstGeom prst="roundRect">
            <a:avLst>
              <a:gd name="adj" fmla="val 8421"/>
            </a:avLst>
          </a:prstGeom>
          <a:solidFill>
            <a:srgbClr val="FFFFFF"/>
          </a:solidFill>
          <a:ln w="12700">
            <a:solidFill>
              <a:srgbClr val="D7E1F2"/>
            </a:solidFill>
            <a:prstDash val="solid"/>
          </a:ln>
          <a:effectLst>
            <a:outerShdw blurRad="76200" dist="25400" dir="5400000" algn="bl" rotWithShape="0">
              <a:srgbClr val="1B2A52">
                <a:alpha val="12000"/>
              </a:srgbClr>
            </a:outerShdw>
          </a:effectLst>
        </p:spPr>
      </p:sp>
      <p:sp>
        <p:nvSpPr>
          <p:cNvPr id="20" name="Text 18"/>
          <p:cNvSpPr/>
          <p:nvPr/>
        </p:nvSpPr>
        <p:spPr>
          <a:xfrm>
            <a:off x="6537960" y="2926080"/>
            <a:ext cx="822960" cy="868680"/>
          </a:xfrm>
          <a:prstGeom prst="rect">
            <a:avLst/>
          </a:prstGeom>
          <a:noFill/>
          <a:ln/>
        </p:spPr>
        <p:txBody>
          <a:bodyPr wrap="square" lIns="0" tIns="0" rIns="0" bIns="0" rtlCol="0" anchor="ctr"/>
          <a:lstStyle/>
          <a:p>
            <a:pPr marL="0" indent="0">
              <a:buNone/>
            </a:pPr>
            <a:r>
              <a:rPr lang="en-US" sz="2200" b="1" dirty="0">
                <a:solidFill>
                  <a:srgbClr val="FF6A2B"/>
                </a:solidFill>
                <a:latin typeface="Century Schoolbook" pitchFamily="34" charset="0"/>
                <a:ea typeface="Century Schoolbook" pitchFamily="34" charset="-122"/>
                <a:cs typeface="Century Schoolbook" pitchFamily="34" charset="-120"/>
              </a:rPr>
              <a:t>05</a:t>
            </a:r>
            <a:endParaRPr lang="en-US" sz="2200" dirty="0"/>
          </a:p>
        </p:txBody>
      </p:sp>
      <p:sp>
        <p:nvSpPr>
          <p:cNvPr id="21" name="Text 19"/>
          <p:cNvSpPr/>
          <p:nvPr/>
        </p:nvSpPr>
        <p:spPr>
          <a:xfrm>
            <a:off x="7360920" y="2926080"/>
            <a:ext cx="3931920" cy="868680"/>
          </a:xfrm>
          <a:prstGeom prst="rect">
            <a:avLst/>
          </a:prstGeom>
          <a:noFill/>
          <a:ln/>
        </p:spPr>
        <p:txBody>
          <a:bodyPr wrap="square" lIns="0" tIns="0" rIns="0" bIns="0" rtlCol="0" anchor="ctr"/>
          <a:lstStyle/>
          <a:p>
            <a:pPr marL="0" indent="0">
              <a:buNone/>
            </a:pPr>
            <a:r>
              <a:rPr lang="en-US" sz="1500" b="1" dirty="0">
                <a:solidFill>
                  <a:srgbClr val="132A52"/>
                </a:solidFill>
                <a:latin typeface="Calibri" pitchFamily="34" charset="0"/>
                <a:ea typeface="Calibri" pitchFamily="34" charset="-122"/>
                <a:cs typeface="Calibri" pitchFamily="34" charset="-120"/>
              </a:rPr>
              <a:t>Goals &amp; Motivations</a:t>
            </a:r>
            <a:endParaRPr lang="en-US" sz="1500" dirty="0"/>
          </a:p>
        </p:txBody>
      </p:sp>
      <p:sp>
        <p:nvSpPr>
          <p:cNvPr id="22" name="Shape 20"/>
          <p:cNvSpPr/>
          <p:nvPr/>
        </p:nvSpPr>
        <p:spPr>
          <a:xfrm>
            <a:off x="6309360" y="4023360"/>
            <a:ext cx="5120640" cy="868680"/>
          </a:xfrm>
          <a:prstGeom prst="roundRect">
            <a:avLst>
              <a:gd name="adj" fmla="val 8421"/>
            </a:avLst>
          </a:prstGeom>
          <a:solidFill>
            <a:srgbClr val="FFFFFF"/>
          </a:solidFill>
          <a:ln w="12700">
            <a:solidFill>
              <a:srgbClr val="D7E1F2"/>
            </a:solidFill>
            <a:prstDash val="solid"/>
          </a:ln>
          <a:effectLst>
            <a:outerShdw blurRad="76200" dist="25400" dir="5400000" algn="bl" rotWithShape="0">
              <a:srgbClr val="1B2A52">
                <a:alpha val="12000"/>
              </a:srgbClr>
            </a:outerShdw>
          </a:effectLst>
        </p:spPr>
      </p:sp>
      <p:sp>
        <p:nvSpPr>
          <p:cNvPr id="23" name="Text 21"/>
          <p:cNvSpPr/>
          <p:nvPr/>
        </p:nvSpPr>
        <p:spPr>
          <a:xfrm>
            <a:off x="6537960" y="4023360"/>
            <a:ext cx="822960" cy="868680"/>
          </a:xfrm>
          <a:prstGeom prst="rect">
            <a:avLst/>
          </a:prstGeom>
          <a:noFill/>
          <a:ln/>
        </p:spPr>
        <p:txBody>
          <a:bodyPr wrap="square" lIns="0" tIns="0" rIns="0" bIns="0" rtlCol="0" anchor="ctr"/>
          <a:lstStyle/>
          <a:p>
            <a:pPr marL="0" indent="0">
              <a:buNone/>
            </a:pPr>
            <a:r>
              <a:rPr lang="en-US" sz="2200" b="1" dirty="0">
                <a:solidFill>
                  <a:srgbClr val="FF6A2B"/>
                </a:solidFill>
                <a:latin typeface="Century Schoolbook" pitchFamily="34" charset="0"/>
                <a:ea typeface="Century Schoolbook" pitchFamily="34" charset="-122"/>
                <a:cs typeface="Century Schoolbook" pitchFamily="34" charset="-120"/>
              </a:rPr>
              <a:t>06</a:t>
            </a:r>
            <a:endParaRPr lang="en-US" sz="2200" dirty="0"/>
          </a:p>
        </p:txBody>
      </p:sp>
      <p:sp>
        <p:nvSpPr>
          <p:cNvPr id="24" name="Text 22"/>
          <p:cNvSpPr/>
          <p:nvPr/>
        </p:nvSpPr>
        <p:spPr>
          <a:xfrm>
            <a:off x="7360920" y="4023360"/>
            <a:ext cx="3931920" cy="868680"/>
          </a:xfrm>
          <a:prstGeom prst="rect">
            <a:avLst/>
          </a:prstGeom>
          <a:noFill/>
          <a:ln/>
        </p:spPr>
        <p:txBody>
          <a:bodyPr wrap="square" lIns="0" tIns="0" rIns="0" bIns="0" rtlCol="0" anchor="ctr"/>
          <a:lstStyle/>
          <a:p>
            <a:pPr marL="0" indent="0">
              <a:buNone/>
            </a:pPr>
            <a:r>
              <a:rPr lang="en-US" sz="1500" b="1" dirty="0">
                <a:solidFill>
                  <a:srgbClr val="132A52"/>
                </a:solidFill>
                <a:latin typeface="Calibri" pitchFamily="34" charset="0"/>
                <a:ea typeface="Calibri" pitchFamily="34" charset="-122"/>
                <a:cs typeface="Calibri" pitchFamily="34" charset="-120"/>
              </a:rPr>
              <a:t>Design Recommendations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4572000" cy="320040"/>
          </a:xfrm>
          <a:prstGeom prst="rect">
            <a:avLst/>
          </a:prstGeom>
          <a:noFill/>
          <a:ln/>
        </p:spPr>
        <p:txBody>
          <a:bodyPr wrap="square" lIns="0" tIns="0" rIns="0" bIns="0" rtlCol="0" anchor="ctr"/>
          <a:lstStyle/>
          <a:p>
            <a:pPr marL="0" indent="0">
              <a:buNone/>
            </a:pPr>
            <a:r>
              <a:rPr lang="en-US" sz="1100" b="1" dirty="0">
                <a:solidFill>
                  <a:srgbClr val="132A52"/>
                </a:solidFill>
                <a:latin typeface="Calibri" pitchFamily="34" charset="0"/>
                <a:ea typeface="Calibri" pitchFamily="34" charset="-122"/>
                <a:cs typeface="Calibri" pitchFamily="34" charset="-120"/>
              </a:rPr>
              <a:t>Angel One</a:t>
            </a:r>
            <a:endParaRPr lang="en-US" sz="1100" dirty="0"/>
          </a:p>
        </p:txBody>
      </p:sp>
      <p:sp>
        <p:nvSpPr>
          <p:cNvPr id="3" name="Text 1"/>
          <p:cNvSpPr/>
          <p:nvPr/>
        </p:nvSpPr>
        <p:spPr>
          <a:xfrm>
            <a:off x="7132320" y="256032"/>
            <a:ext cx="4572000" cy="320040"/>
          </a:xfrm>
          <a:prstGeom prst="rect">
            <a:avLst/>
          </a:prstGeom>
          <a:noFill/>
          <a:ln/>
        </p:spPr>
        <p:txBody>
          <a:bodyPr wrap="square" lIns="0" tIns="0" rIns="0" bIns="0" rtlCol="0" anchor="ctr"/>
          <a:lstStyle/>
          <a:p>
            <a:pPr marL="0" indent="0" algn="r">
              <a:buNone/>
            </a:pPr>
            <a:r>
              <a:rPr lang="en-US" sz="1100" dirty="0">
                <a:solidFill>
                  <a:srgbClr val="5B6B85"/>
                </a:solidFill>
                <a:latin typeface="Calibri" pitchFamily="34" charset="0"/>
                <a:ea typeface="Calibri" pitchFamily="34" charset="-122"/>
                <a:cs typeface="Calibri" pitchFamily="34" charset="-120"/>
              </a:rPr>
              <a:t>UX Research &amp; Analysis</a:t>
            </a:r>
            <a:endParaRPr lang="en-US" sz="1100" dirty="0"/>
          </a:p>
        </p:txBody>
      </p:sp>
      <p:sp>
        <p:nvSpPr>
          <p:cNvPr id="4" name="Shape 2"/>
          <p:cNvSpPr/>
          <p:nvPr/>
        </p:nvSpPr>
        <p:spPr>
          <a:xfrm rot="5400000">
            <a:off x="10881360" y="-548640"/>
            <a:ext cx="2377440" cy="2377440"/>
          </a:xfrm>
          <a:prstGeom prst="triangle">
            <a:avLst/>
          </a:prstGeom>
          <a:solidFill>
            <a:srgbClr val="132A52">
              <a:alpha val="8000"/>
            </a:srgbClr>
          </a:solidFill>
          <a:ln/>
        </p:spPr>
      </p:sp>
      <p:sp>
        <p:nvSpPr>
          <p:cNvPr id="5" name="Shape 3"/>
          <p:cNvSpPr/>
          <p:nvPr/>
        </p:nvSpPr>
        <p:spPr>
          <a:xfrm rot="16200000">
            <a:off x="-640080" y="5760720"/>
            <a:ext cx="2011680" cy="2011680"/>
          </a:xfrm>
          <a:prstGeom prst="triangle">
            <a:avLst/>
          </a:prstGeom>
          <a:solidFill>
            <a:srgbClr val="FF6A2B">
              <a:alpha val="6000"/>
            </a:srgbClr>
          </a:solidFill>
          <a:ln/>
        </p:spPr>
      </p:sp>
      <p:sp>
        <p:nvSpPr>
          <p:cNvPr id="6" name="Text 4"/>
          <p:cNvSpPr/>
          <p:nvPr/>
        </p:nvSpPr>
        <p:spPr>
          <a:xfrm>
            <a:off x="640080" y="868680"/>
            <a:ext cx="7315200" cy="640080"/>
          </a:xfrm>
          <a:prstGeom prst="rect">
            <a:avLst/>
          </a:prstGeom>
          <a:noFill/>
          <a:ln/>
        </p:spPr>
        <p:txBody>
          <a:bodyPr wrap="square" lIns="0" tIns="0" rIns="0" bIns="0" rtlCol="0" anchor="ctr"/>
          <a:lstStyle/>
          <a:p>
            <a:pPr marL="0" indent="0">
              <a:buNone/>
            </a:pPr>
            <a:r>
              <a:rPr lang="en-US" sz="3200" b="1" dirty="0">
                <a:solidFill>
                  <a:srgbClr val="132A52"/>
                </a:solidFill>
                <a:latin typeface="Century Schoolbook" pitchFamily="34" charset="0"/>
                <a:ea typeface="Century Schoolbook" pitchFamily="34" charset="-122"/>
                <a:cs typeface="Century Schoolbook" pitchFamily="34" charset="-120"/>
              </a:rPr>
              <a:t>About Angel One</a:t>
            </a:r>
            <a:endParaRPr lang="en-US" sz="3200" dirty="0"/>
          </a:p>
        </p:txBody>
      </p:sp>
      <p:sp>
        <p:nvSpPr>
          <p:cNvPr id="7" name="Text 5"/>
          <p:cNvSpPr/>
          <p:nvPr/>
        </p:nvSpPr>
        <p:spPr>
          <a:xfrm>
            <a:off x="640080" y="1691640"/>
            <a:ext cx="6492240" cy="1188720"/>
          </a:xfrm>
          <a:prstGeom prst="rect">
            <a:avLst/>
          </a:prstGeom>
          <a:noFill/>
          <a:ln/>
        </p:spPr>
        <p:txBody>
          <a:bodyPr wrap="square" lIns="0" tIns="0" rIns="0" bIns="0" rtlCol="0" anchor="ctr"/>
          <a:lstStyle/>
          <a:p>
            <a:pPr marL="0" indent="0">
              <a:lnSpc>
                <a:spcPct val="125000"/>
              </a:lnSpc>
              <a:buNone/>
            </a:pPr>
            <a:r>
              <a:rPr lang="en-US" sz="1400" dirty="0">
                <a:solidFill>
                  <a:srgbClr val="2B3A55"/>
                </a:solidFill>
                <a:latin typeface="Calibri" pitchFamily="34" charset="0"/>
                <a:ea typeface="Calibri" pitchFamily="34" charset="-122"/>
                <a:cs typeface="Calibri" pitchFamily="34" charset="-120"/>
              </a:rPr>
              <a:t>Angel One (formerly Angel Broking) is one of India's largest SEBI-registered stockbroking and financial services platforms. Its website serves as both a customer-acquisition funnel and a gateway into a full trading and investment product.</a:t>
            </a:r>
            <a:endParaRPr lang="en-US" sz="1400" dirty="0"/>
          </a:p>
        </p:txBody>
      </p:sp>
      <p:sp>
        <p:nvSpPr>
          <p:cNvPr id="8" name="Shape 6"/>
          <p:cNvSpPr/>
          <p:nvPr/>
        </p:nvSpPr>
        <p:spPr>
          <a:xfrm>
            <a:off x="640080" y="2971800"/>
            <a:ext cx="6492240" cy="777240"/>
          </a:xfrm>
          <a:prstGeom prst="roundRect">
            <a:avLst>
              <a:gd name="adj" fmla="val 9412"/>
            </a:avLst>
          </a:prstGeom>
          <a:solidFill>
            <a:srgbClr val="F4F7FC"/>
          </a:solidFill>
          <a:ln w="12700">
            <a:solidFill>
              <a:srgbClr val="D7E1F2"/>
            </a:solidFill>
            <a:prstDash val="solid"/>
          </a:ln>
        </p:spPr>
      </p:sp>
      <p:sp>
        <p:nvSpPr>
          <p:cNvPr id="9" name="Text 7"/>
          <p:cNvSpPr/>
          <p:nvPr/>
        </p:nvSpPr>
        <p:spPr>
          <a:xfrm>
            <a:off x="868680" y="2971800"/>
            <a:ext cx="6035040" cy="777240"/>
          </a:xfrm>
          <a:prstGeom prst="rect">
            <a:avLst/>
          </a:prstGeom>
          <a:noFill/>
          <a:ln/>
        </p:spPr>
        <p:txBody>
          <a:bodyPr wrap="square" lIns="0" tIns="0" rIns="0" bIns="0" rtlCol="0" anchor="ctr"/>
          <a:lstStyle/>
          <a:p>
            <a:pPr marL="0" indent="0">
              <a:lnSpc>
                <a:spcPct val="115000"/>
              </a:lnSpc>
              <a:buNone/>
            </a:pPr>
            <a:r>
              <a:rPr lang="en-US" sz="1250" b="1" dirty="0">
                <a:solidFill>
                  <a:srgbClr val="132A52"/>
                </a:solidFill>
                <a:latin typeface="Calibri" pitchFamily="34" charset="0"/>
                <a:ea typeface="Calibri" pitchFamily="34" charset="-122"/>
                <a:cs typeface="Calibri" pitchFamily="34" charset="-120"/>
              </a:rPr>
              <a:t>Website Purpose:  </a:t>
            </a:r>
            <a:r>
              <a:rPr lang="en-US" sz="1250" dirty="0">
                <a:solidFill>
                  <a:srgbClr val="2B3A55"/>
                </a:solidFill>
                <a:latin typeface="Calibri" pitchFamily="34" charset="0"/>
                <a:ea typeface="Calibri" pitchFamily="34" charset="-122"/>
                <a:cs typeface="Calibri" pitchFamily="34" charset="-120"/>
              </a:rPr>
              <a:t>Help visitors open a free demat account and provide access to stocks, F&amp;O, mutual funds, IPOs, and research tools for informed investing.</a:t>
            </a:r>
            <a:endParaRPr lang="en-US" sz="1250" dirty="0"/>
          </a:p>
        </p:txBody>
      </p:sp>
      <p:sp>
        <p:nvSpPr>
          <p:cNvPr id="10" name="Text 8"/>
          <p:cNvSpPr/>
          <p:nvPr/>
        </p:nvSpPr>
        <p:spPr>
          <a:xfrm>
            <a:off x="640080" y="3977640"/>
            <a:ext cx="5486400" cy="365760"/>
          </a:xfrm>
          <a:prstGeom prst="rect">
            <a:avLst/>
          </a:prstGeom>
          <a:noFill/>
          <a:ln/>
        </p:spPr>
        <p:txBody>
          <a:bodyPr wrap="square" lIns="0" tIns="0" rIns="0" bIns="0" rtlCol="0" anchor="ctr"/>
          <a:lstStyle/>
          <a:p>
            <a:pPr marL="0" indent="0">
              <a:buNone/>
            </a:pPr>
            <a:r>
              <a:rPr lang="en-US" sz="1500" b="1" dirty="0">
                <a:solidFill>
                  <a:srgbClr val="132A52"/>
                </a:solidFill>
                <a:latin typeface="Calibri" pitchFamily="34" charset="0"/>
                <a:ea typeface="Calibri" pitchFamily="34" charset="-122"/>
                <a:cs typeface="Calibri" pitchFamily="34" charset="-120"/>
              </a:rPr>
              <a:t>Main Audiences</a:t>
            </a:r>
            <a:endParaRPr lang="en-US" sz="1500" dirty="0"/>
          </a:p>
        </p:txBody>
      </p:sp>
      <p:sp>
        <p:nvSpPr>
          <p:cNvPr id="11" name="Shape 9"/>
          <p:cNvSpPr/>
          <p:nvPr/>
        </p:nvSpPr>
        <p:spPr>
          <a:xfrm>
            <a:off x="640080" y="4434840"/>
            <a:ext cx="502920" cy="502920"/>
          </a:xfrm>
          <a:prstGeom prst="ellipse">
            <a:avLst/>
          </a:prstGeom>
          <a:solidFill>
            <a:srgbClr val="132A52"/>
          </a:solidFill>
          <a:ln/>
        </p:spPr>
      </p:sp>
      <p:sp>
        <p:nvSpPr>
          <p:cNvPr id="12" name="Text 10"/>
          <p:cNvSpPr/>
          <p:nvPr/>
        </p:nvSpPr>
        <p:spPr>
          <a:xfrm>
            <a:off x="640080" y="4434840"/>
            <a:ext cx="502920" cy="50292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3" name="Text 11"/>
          <p:cNvSpPr/>
          <p:nvPr/>
        </p:nvSpPr>
        <p:spPr>
          <a:xfrm>
            <a:off x="1280160" y="4416552"/>
            <a:ext cx="2606040" cy="320040"/>
          </a:xfrm>
          <a:prstGeom prst="rect">
            <a:avLst/>
          </a:prstGeom>
          <a:noFill/>
          <a:ln/>
        </p:spPr>
        <p:txBody>
          <a:bodyPr wrap="square" lIns="0" tIns="0" rIns="0" bIns="0" rtlCol="0" anchor="ctr"/>
          <a:lstStyle/>
          <a:p>
            <a:pPr marL="0" indent="0">
              <a:buNone/>
            </a:pPr>
            <a:r>
              <a:rPr lang="en-US" sz="1250" b="1" dirty="0">
                <a:solidFill>
                  <a:srgbClr val="132A52"/>
                </a:solidFill>
                <a:latin typeface="Calibri" pitchFamily="34" charset="0"/>
                <a:ea typeface="Calibri" pitchFamily="34" charset="-122"/>
                <a:cs typeface="Calibri" pitchFamily="34" charset="-120"/>
              </a:rPr>
              <a:t>First-time Investors</a:t>
            </a:r>
            <a:endParaRPr lang="en-US" sz="1250" dirty="0"/>
          </a:p>
        </p:txBody>
      </p:sp>
      <p:sp>
        <p:nvSpPr>
          <p:cNvPr id="14" name="Text 12"/>
          <p:cNvSpPr/>
          <p:nvPr/>
        </p:nvSpPr>
        <p:spPr>
          <a:xfrm>
            <a:off x="1280160" y="4727448"/>
            <a:ext cx="2606040" cy="502920"/>
          </a:xfrm>
          <a:prstGeom prst="rect">
            <a:avLst/>
          </a:prstGeom>
          <a:noFill/>
          <a:ln/>
        </p:spPr>
        <p:txBody>
          <a:bodyPr wrap="square" lIns="0" tIns="0" rIns="0" bIns="0" rtlCol="0" anchor="ctr"/>
          <a:lstStyle/>
          <a:p>
            <a:pPr marL="0" indent="0">
              <a:buNone/>
            </a:pPr>
            <a:r>
              <a:rPr lang="en-US" sz="1050" dirty="0">
                <a:solidFill>
                  <a:srgbClr val="5B6B85"/>
                </a:solidFill>
                <a:latin typeface="Calibri" pitchFamily="34" charset="0"/>
                <a:ea typeface="Calibri" pitchFamily="34" charset="-122"/>
                <a:cs typeface="Calibri" pitchFamily="34" charset="-120"/>
              </a:rPr>
              <a:t>Opening their first demat account</a:t>
            </a:r>
            <a:endParaRPr lang="en-US" sz="1050" dirty="0"/>
          </a:p>
        </p:txBody>
      </p:sp>
      <p:sp>
        <p:nvSpPr>
          <p:cNvPr id="15" name="Shape 13"/>
          <p:cNvSpPr/>
          <p:nvPr/>
        </p:nvSpPr>
        <p:spPr>
          <a:xfrm>
            <a:off x="3931920" y="4434840"/>
            <a:ext cx="502920" cy="502920"/>
          </a:xfrm>
          <a:prstGeom prst="ellipse">
            <a:avLst/>
          </a:prstGeom>
          <a:solidFill>
            <a:srgbClr val="132A52"/>
          </a:solidFill>
          <a:ln/>
        </p:spPr>
      </p:sp>
      <p:sp>
        <p:nvSpPr>
          <p:cNvPr id="16" name="Text 14"/>
          <p:cNvSpPr/>
          <p:nvPr/>
        </p:nvSpPr>
        <p:spPr>
          <a:xfrm>
            <a:off x="3931920" y="4434840"/>
            <a:ext cx="502920" cy="50292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7" name="Text 15"/>
          <p:cNvSpPr/>
          <p:nvPr/>
        </p:nvSpPr>
        <p:spPr>
          <a:xfrm>
            <a:off x="4572000" y="4416552"/>
            <a:ext cx="2606040" cy="320040"/>
          </a:xfrm>
          <a:prstGeom prst="rect">
            <a:avLst/>
          </a:prstGeom>
          <a:noFill/>
          <a:ln/>
        </p:spPr>
        <p:txBody>
          <a:bodyPr wrap="square" lIns="0" tIns="0" rIns="0" bIns="0" rtlCol="0" anchor="ctr"/>
          <a:lstStyle/>
          <a:p>
            <a:pPr marL="0" indent="0">
              <a:buNone/>
            </a:pPr>
            <a:r>
              <a:rPr lang="en-US" sz="1250" b="1" dirty="0">
                <a:solidFill>
                  <a:srgbClr val="132A52"/>
                </a:solidFill>
                <a:latin typeface="Calibri" pitchFamily="34" charset="0"/>
                <a:ea typeface="Calibri" pitchFamily="34" charset="-122"/>
                <a:cs typeface="Calibri" pitchFamily="34" charset="-120"/>
              </a:rPr>
              <a:t>Active Traders</a:t>
            </a:r>
            <a:endParaRPr lang="en-US" sz="1250" dirty="0"/>
          </a:p>
        </p:txBody>
      </p:sp>
      <p:sp>
        <p:nvSpPr>
          <p:cNvPr id="18" name="Text 16"/>
          <p:cNvSpPr/>
          <p:nvPr/>
        </p:nvSpPr>
        <p:spPr>
          <a:xfrm>
            <a:off x="4572000" y="4727448"/>
            <a:ext cx="2606040" cy="502920"/>
          </a:xfrm>
          <a:prstGeom prst="rect">
            <a:avLst/>
          </a:prstGeom>
          <a:noFill/>
          <a:ln/>
        </p:spPr>
        <p:txBody>
          <a:bodyPr wrap="square" lIns="0" tIns="0" rIns="0" bIns="0" rtlCol="0" anchor="ctr"/>
          <a:lstStyle/>
          <a:p>
            <a:pPr marL="0" indent="0">
              <a:buNone/>
            </a:pPr>
            <a:r>
              <a:rPr lang="en-US" sz="1050" dirty="0">
                <a:solidFill>
                  <a:srgbClr val="5B6B85"/>
                </a:solidFill>
                <a:latin typeface="Calibri" pitchFamily="34" charset="0"/>
                <a:ea typeface="Calibri" pitchFamily="34" charset="-122"/>
                <a:cs typeface="Calibri" pitchFamily="34" charset="-120"/>
              </a:rPr>
              <a:t>Trading F&amp;O, currencies &amp; commodities daily</a:t>
            </a:r>
            <a:endParaRPr lang="en-US" sz="1050" dirty="0"/>
          </a:p>
        </p:txBody>
      </p:sp>
      <p:sp>
        <p:nvSpPr>
          <p:cNvPr id="19" name="Shape 17"/>
          <p:cNvSpPr/>
          <p:nvPr/>
        </p:nvSpPr>
        <p:spPr>
          <a:xfrm>
            <a:off x="640080" y="5394960"/>
            <a:ext cx="502920" cy="502920"/>
          </a:xfrm>
          <a:prstGeom prst="ellipse">
            <a:avLst/>
          </a:prstGeom>
          <a:solidFill>
            <a:srgbClr val="132A52"/>
          </a:solidFill>
          <a:ln/>
        </p:spPr>
      </p:sp>
      <p:sp>
        <p:nvSpPr>
          <p:cNvPr id="20" name="Text 18"/>
          <p:cNvSpPr/>
          <p:nvPr/>
        </p:nvSpPr>
        <p:spPr>
          <a:xfrm>
            <a:off x="640080" y="5394960"/>
            <a:ext cx="502920" cy="50292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1" name="Text 19"/>
          <p:cNvSpPr/>
          <p:nvPr/>
        </p:nvSpPr>
        <p:spPr>
          <a:xfrm>
            <a:off x="1280160" y="5376672"/>
            <a:ext cx="2606040" cy="320040"/>
          </a:xfrm>
          <a:prstGeom prst="rect">
            <a:avLst/>
          </a:prstGeom>
          <a:noFill/>
          <a:ln/>
        </p:spPr>
        <p:txBody>
          <a:bodyPr wrap="square" lIns="0" tIns="0" rIns="0" bIns="0" rtlCol="0" anchor="ctr"/>
          <a:lstStyle/>
          <a:p>
            <a:pPr marL="0" indent="0">
              <a:buNone/>
            </a:pPr>
            <a:r>
              <a:rPr lang="en-US" sz="1250" b="1" dirty="0">
                <a:solidFill>
                  <a:srgbClr val="132A52"/>
                </a:solidFill>
                <a:latin typeface="Calibri" pitchFamily="34" charset="0"/>
                <a:ea typeface="Calibri" pitchFamily="34" charset="-122"/>
                <a:cs typeface="Calibri" pitchFamily="34" charset="-120"/>
              </a:rPr>
              <a:t>Working Professionals</a:t>
            </a:r>
            <a:endParaRPr lang="en-US" sz="1250" dirty="0"/>
          </a:p>
        </p:txBody>
      </p:sp>
      <p:sp>
        <p:nvSpPr>
          <p:cNvPr id="22" name="Text 20"/>
          <p:cNvSpPr/>
          <p:nvPr/>
        </p:nvSpPr>
        <p:spPr>
          <a:xfrm>
            <a:off x="1280160" y="5687568"/>
            <a:ext cx="2606040" cy="502920"/>
          </a:xfrm>
          <a:prstGeom prst="rect">
            <a:avLst/>
          </a:prstGeom>
          <a:noFill/>
          <a:ln/>
        </p:spPr>
        <p:txBody>
          <a:bodyPr wrap="square" lIns="0" tIns="0" rIns="0" bIns="0" rtlCol="0" anchor="ctr"/>
          <a:lstStyle/>
          <a:p>
            <a:pPr marL="0" indent="0">
              <a:buNone/>
            </a:pPr>
            <a:r>
              <a:rPr lang="en-US" sz="1050" dirty="0">
                <a:solidFill>
                  <a:srgbClr val="5B6B85"/>
                </a:solidFill>
                <a:latin typeface="Calibri" pitchFamily="34" charset="0"/>
                <a:ea typeface="Calibri" pitchFamily="34" charset="-122"/>
                <a:cs typeface="Calibri" pitchFamily="34" charset="-120"/>
              </a:rPr>
              <a:t>Investing monthly savings via SIPs</a:t>
            </a:r>
            <a:endParaRPr lang="en-US" sz="1050" dirty="0"/>
          </a:p>
        </p:txBody>
      </p:sp>
      <p:sp>
        <p:nvSpPr>
          <p:cNvPr id="23" name="Shape 21"/>
          <p:cNvSpPr/>
          <p:nvPr/>
        </p:nvSpPr>
        <p:spPr>
          <a:xfrm>
            <a:off x="3931920" y="5394960"/>
            <a:ext cx="502920" cy="502920"/>
          </a:xfrm>
          <a:prstGeom prst="ellipse">
            <a:avLst/>
          </a:prstGeom>
          <a:solidFill>
            <a:srgbClr val="132A52"/>
          </a:solidFill>
          <a:ln/>
        </p:spPr>
      </p:sp>
      <p:sp>
        <p:nvSpPr>
          <p:cNvPr id="24" name="Text 22"/>
          <p:cNvSpPr/>
          <p:nvPr/>
        </p:nvSpPr>
        <p:spPr>
          <a:xfrm>
            <a:off x="3931920" y="5394960"/>
            <a:ext cx="502920" cy="50292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5" name="Text 23"/>
          <p:cNvSpPr/>
          <p:nvPr/>
        </p:nvSpPr>
        <p:spPr>
          <a:xfrm>
            <a:off x="4572000" y="5376672"/>
            <a:ext cx="2606040" cy="320040"/>
          </a:xfrm>
          <a:prstGeom prst="rect">
            <a:avLst/>
          </a:prstGeom>
          <a:noFill/>
          <a:ln/>
        </p:spPr>
        <p:txBody>
          <a:bodyPr wrap="square" lIns="0" tIns="0" rIns="0" bIns="0" rtlCol="0" anchor="ctr"/>
          <a:lstStyle/>
          <a:p>
            <a:pPr marL="0" indent="0">
              <a:buNone/>
            </a:pPr>
            <a:r>
              <a:rPr lang="en-US" sz="1250" b="1" dirty="0">
                <a:solidFill>
                  <a:srgbClr val="132A52"/>
                </a:solidFill>
                <a:latin typeface="Calibri" pitchFamily="34" charset="0"/>
                <a:ea typeface="Calibri" pitchFamily="34" charset="-122"/>
                <a:cs typeface="Calibri" pitchFamily="34" charset="-120"/>
              </a:rPr>
              <a:t>NRIs</a:t>
            </a:r>
            <a:endParaRPr lang="en-US" sz="1250" dirty="0"/>
          </a:p>
        </p:txBody>
      </p:sp>
      <p:sp>
        <p:nvSpPr>
          <p:cNvPr id="26" name="Text 24"/>
          <p:cNvSpPr/>
          <p:nvPr/>
        </p:nvSpPr>
        <p:spPr>
          <a:xfrm>
            <a:off x="4572000" y="5687568"/>
            <a:ext cx="2606040" cy="502920"/>
          </a:xfrm>
          <a:prstGeom prst="rect">
            <a:avLst/>
          </a:prstGeom>
          <a:noFill/>
          <a:ln/>
        </p:spPr>
        <p:txBody>
          <a:bodyPr wrap="square" lIns="0" tIns="0" rIns="0" bIns="0" rtlCol="0" anchor="ctr"/>
          <a:lstStyle/>
          <a:p>
            <a:pPr marL="0" indent="0">
              <a:buNone/>
            </a:pPr>
            <a:r>
              <a:rPr lang="en-US" sz="1050" dirty="0">
                <a:solidFill>
                  <a:srgbClr val="5B6B85"/>
                </a:solidFill>
                <a:latin typeface="Calibri" pitchFamily="34" charset="0"/>
                <a:ea typeface="Calibri" pitchFamily="34" charset="-122"/>
                <a:cs typeface="Calibri" pitchFamily="34" charset="-120"/>
              </a:rPr>
              <a:t>Investing in Indian markets from abroad</a:t>
            </a:r>
            <a:endParaRPr lang="en-US" sz="1050" dirty="0"/>
          </a:p>
        </p:txBody>
      </p:sp>
      <p:sp>
        <p:nvSpPr>
          <p:cNvPr id="27" name="Shape 25"/>
          <p:cNvSpPr/>
          <p:nvPr/>
        </p:nvSpPr>
        <p:spPr>
          <a:xfrm>
            <a:off x="7635240" y="1691640"/>
            <a:ext cx="3886200" cy="4480560"/>
          </a:xfrm>
          <a:prstGeom prst="roundRect">
            <a:avLst>
              <a:gd name="adj" fmla="val 2824"/>
            </a:avLst>
          </a:prstGeom>
          <a:solidFill>
            <a:srgbClr val="132A52"/>
          </a:solidFill>
          <a:ln/>
        </p:spPr>
      </p:sp>
      <p:sp>
        <p:nvSpPr>
          <p:cNvPr id="28" name="Text 26"/>
          <p:cNvSpPr/>
          <p:nvPr/>
        </p:nvSpPr>
        <p:spPr>
          <a:xfrm>
            <a:off x="7909560" y="1965960"/>
            <a:ext cx="3337560" cy="502920"/>
          </a:xfrm>
          <a:prstGeom prst="rect">
            <a:avLst/>
          </a:prstGeom>
          <a:noFill/>
          <a:ln/>
        </p:spPr>
        <p:txBody>
          <a:bodyPr wrap="square" lIns="0" tIns="0" rIns="0" bIns="0" rtlCol="0" anchor="ctr"/>
          <a:lstStyle/>
          <a:p>
            <a:pPr marL="0" indent="0">
              <a:buNone/>
            </a:pPr>
            <a:r>
              <a:rPr lang="en-US" sz="2600" b="1" dirty="0">
                <a:solidFill>
                  <a:srgbClr val="FF6A2B"/>
                </a:solidFill>
                <a:latin typeface="Century Schoolbook" pitchFamily="34" charset="0"/>
                <a:ea typeface="Century Schoolbook" pitchFamily="34" charset="-122"/>
                <a:cs typeface="Century Schoolbook" pitchFamily="34" charset="-120"/>
              </a:rPr>
              <a:t>3.5 Cr+</a:t>
            </a:r>
            <a:endParaRPr lang="en-US" sz="2600" dirty="0"/>
          </a:p>
        </p:txBody>
      </p:sp>
      <p:sp>
        <p:nvSpPr>
          <p:cNvPr id="29" name="Text 27"/>
          <p:cNvSpPr/>
          <p:nvPr/>
        </p:nvSpPr>
        <p:spPr>
          <a:xfrm>
            <a:off x="7909560" y="2468880"/>
            <a:ext cx="3337560" cy="365760"/>
          </a:xfrm>
          <a:prstGeom prst="rect">
            <a:avLst/>
          </a:prstGeom>
          <a:noFill/>
          <a:ln/>
        </p:spPr>
        <p:txBody>
          <a:bodyPr wrap="square" lIns="0" tIns="0" rIns="0" bIns="0" rtlCol="0" anchor="ctr"/>
          <a:lstStyle/>
          <a:p>
            <a:pPr marL="0" indent="0">
              <a:buNone/>
            </a:pPr>
            <a:r>
              <a:rPr lang="en-US" sz="1150" dirty="0">
                <a:solidFill>
                  <a:srgbClr val="CBD6EC"/>
                </a:solidFill>
                <a:latin typeface="Calibri" pitchFamily="34" charset="0"/>
                <a:ea typeface="Calibri" pitchFamily="34" charset="-122"/>
                <a:cs typeface="Calibri" pitchFamily="34" charset="-120"/>
              </a:rPr>
              <a:t>Registered customers</a:t>
            </a:r>
            <a:endParaRPr lang="en-US" sz="1150" dirty="0"/>
          </a:p>
        </p:txBody>
      </p:sp>
      <p:sp>
        <p:nvSpPr>
          <p:cNvPr id="30" name="Text 28"/>
          <p:cNvSpPr/>
          <p:nvPr/>
        </p:nvSpPr>
        <p:spPr>
          <a:xfrm>
            <a:off x="7909560" y="3017520"/>
            <a:ext cx="3337560" cy="502920"/>
          </a:xfrm>
          <a:prstGeom prst="rect">
            <a:avLst/>
          </a:prstGeom>
          <a:noFill/>
          <a:ln/>
        </p:spPr>
        <p:txBody>
          <a:bodyPr wrap="square" lIns="0" tIns="0" rIns="0" bIns="0" rtlCol="0" anchor="ctr"/>
          <a:lstStyle/>
          <a:p>
            <a:pPr marL="0" indent="0">
              <a:buNone/>
            </a:pPr>
            <a:r>
              <a:rPr lang="en-US" sz="2600" b="1" dirty="0">
                <a:solidFill>
                  <a:srgbClr val="FF6A2B"/>
                </a:solidFill>
                <a:latin typeface="Century Schoolbook" pitchFamily="34" charset="0"/>
                <a:ea typeface="Century Schoolbook" pitchFamily="34" charset="-122"/>
                <a:cs typeface="Century Schoolbook" pitchFamily="34" charset="-120"/>
              </a:rPr>
              <a:t>₹20</a:t>
            </a:r>
            <a:endParaRPr lang="en-US" sz="2600" dirty="0"/>
          </a:p>
        </p:txBody>
      </p:sp>
      <p:sp>
        <p:nvSpPr>
          <p:cNvPr id="31" name="Text 29"/>
          <p:cNvSpPr/>
          <p:nvPr/>
        </p:nvSpPr>
        <p:spPr>
          <a:xfrm>
            <a:off x="7909560" y="3520440"/>
            <a:ext cx="3337560" cy="365760"/>
          </a:xfrm>
          <a:prstGeom prst="rect">
            <a:avLst/>
          </a:prstGeom>
          <a:noFill/>
          <a:ln/>
        </p:spPr>
        <p:txBody>
          <a:bodyPr wrap="square" lIns="0" tIns="0" rIns="0" bIns="0" rtlCol="0" anchor="ctr"/>
          <a:lstStyle/>
          <a:p>
            <a:pPr marL="0" indent="0">
              <a:buNone/>
            </a:pPr>
            <a:r>
              <a:rPr lang="en-US" sz="1150" dirty="0">
                <a:solidFill>
                  <a:srgbClr val="CBD6EC"/>
                </a:solidFill>
                <a:latin typeface="Calibri" pitchFamily="34" charset="0"/>
                <a:ea typeface="Calibri" pitchFamily="34" charset="-122"/>
                <a:cs typeface="Calibri" pitchFamily="34" charset="-120"/>
              </a:rPr>
              <a:t>Flat brokerage per order</a:t>
            </a:r>
            <a:endParaRPr lang="en-US" sz="1150" dirty="0"/>
          </a:p>
        </p:txBody>
      </p:sp>
      <p:sp>
        <p:nvSpPr>
          <p:cNvPr id="32" name="Text 30"/>
          <p:cNvSpPr/>
          <p:nvPr/>
        </p:nvSpPr>
        <p:spPr>
          <a:xfrm>
            <a:off x="7909560" y="4069080"/>
            <a:ext cx="3337560" cy="502920"/>
          </a:xfrm>
          <a:prstGeom prst="rect">
            <a:avLst/>
          </a:prstGeom>
          <a:noFill/>
          <a:ln/>
        </p:spPr>
        <p:txBody>
          <a:bodyPr wrap="square" lIns="0" tIns="0" rIns="0" bIns="0" rtlCol="0" anchor="ctr"/>
          <a:lstStyle/>
          <a:p>
            <a:pPr marL="0" indent="0">
              <a:buNone/>
            </a:pPr>
            <a:r>
              <a:rPr lang="en-US" sz="2600" b="1" dirty="0">
                <a:solidFill>
                  <a:srgbClr val="FF6A2B"/>
                </a:solidFill>
                <a:latin typeface="Century Schoolbook" pitchFamily="34" charset="0"/>
                <a:ea typeface="Century Schoolbook" pitchFamily="34" charset="-122"/>
                <a:cs typeface="Century Schoolbook" pitchFamily="34" charset="-120"/>
              </a:rPr>
              <a:t>7+</a:t>
            </a:r>
            <a:endParaRPr lang="en-US" sz="2600" dirty="0"/>
          </a:p>
        </p:txBody>
      </p:sp>
      <p:sp>
        <p:nvSpPr>
          <p:cNvPr id="33" name="Text 31"/>
          <p:cNvSpPr/>
          <p:nvPr/>
        </p:nvSpPr>
        <p:spPr>
          <a:xfrm>
            <a:off x="7909560" y="4572000"/>
            <a:ext cx="3337560" cy="365760"/>
          </a:xfrm>
          <a:prstGeom prst="rect">
            <a:avLst/>
          </a:prstGeom>
          <a:noFill/>
          <a:ln/>
        </p:spPr>
        <p:txBody>
          <a:bodyPr wrap="square" lIns="0" tIns="0" rIns="0" bIns="0" rtlCol="0" anchor="ctr"/>
          <a:lstStyle/>
          <a:p>
            <a:pPr marL="0" indent="0">
              <a:buNone/>
            </a:pPr>
            <a:r>
              <a:rPr lang="en-US" sz="1150" dirty="0">
                <a:solidFill>
                  <a:srgbClr val="CBD6EC"/>
                </a:solidFill>
                <a:latin typeface="Calibri" pitchFamily="34" charset="0"/>
                <a:ea typeface="Calibri" pitchFamily="34" charset="-122"/>
                <a:cs typeface="Calibri" pitchFamily="34" charset="-120"/>
              </a:rPr>
              <a:t>Product segments offered</a:t>
            </a:r>
            <a:endParaRPr lang="en-US" sz="1150" dirty="0"/>
          </a:p>
        </p:txBody>
      </p:sp>
      <p:sp>
        <p:nvSpPr>
          <p:cNvPr id="34" name="Text 32"/>
          <p:cNvSpPr/>
          <p:nvPr/>
        </p:nvSpPr>
        <p:spPr>
          <a:xfrm>
            <a:off x="7909560" y="5120640"/>
            <a:ext cx="3337560" cy="502920"/>
          </a:xfrm>
          <a:prstGeom prst="rect">
            <a:avLst/>
          </a:prstGeom>
          <a:noFill/>
          <a:ln/>
        </p:spPr>
        <p:txBody>
          <a:bodyPr wrap="square" lIns="0" tIns="0" rIns="0" bIns="0" rtlCol="0" anchor="ctr"/>
          <a:lstStyle/>
          <a:p>
            <a:pPr marL="0" indent="0">
              <a:buNone/>
            </a:pPr>
            <a:r>
              <a:rPr lang="en-US" sz="2600" b="1" dirty="0">
                <a:solidFill>
                  <a:srgbClr val="FF6A2B"/>
                </a:solidFill>
                <a:latin typeface="Century Schoolbook" pitchFamily="34" charset="0"/>
                <a:ea typeface="Century Schoolbook" pitchFamily="34" charset="-122"/>
                <a:cs typeface="Century Schoolbook" pitchFamily="34" charset="-120"/>
              </a:rPr>
              <a:t>1996</a:t>
            </a:r>
            <a:endParaRPr lang="en-US" sz="2600" dirty="0"/>
          </a:p>
        </p:txBody>
      </p:sp>
      <p:sp>
        <p:nvSpPr>
          <p:cNvPr id="35" name="Text 33"/>
          <p:cNvSpPr/>
          <p:nvPr/>
        </p:nvSpPr>
        <p:spPr>
          <a:xfrm>
            <a:off x="7909560" y="5623560"/>
            <a:ext cx="3337560" cy="365760"/>
          </a:xfrm>
          <a:prstGeom prst="rect">
            <a:avLst/>
          </a:prstGeom>
          <a:noFill/>
          <a:ln/>
        </p:spPr>
        <p:txBody>
          <a:bodyPr wrap="square" lIns="0" tIns="0" rIns="0" bIns="0" rtlCol="0" anchor="ctr"/>
          <a:lstStyle/>
          <a:p>
            <a:pPr marL="0" indent="0">
              <a:buNone/>
            </a:pPr>
            <a:r>
              <a:rPr lang="en-US" sz="1150" dirty="0">
                <a:solidFill>
                  <a:srgbClr val="CBD6EC"/>
                </a:solidFill>
                <a:latin typeface="Calibri" pitchFamily="34" charset="0"/>
                <a:ea typeface="Calibri" pitchFamily="34" charset="-122"/>
                <a:cs typeface="Calibri" pitchFamily="34" charset="-120"/>
              </a:rPr>
              <a:t>Operating since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F0FA"/>
        </a:solidFill>
        <a:effectLst/>
      </p:bgPr>
    </p:bg>
    <p:spTree>
      <p:nvGrpSpPr>
        <p:cNvPr id="1" name=""/>
        <p:cNvGrpSpPr/>
        <p:nvPr/>
      </p:nvGrpSpPr>
      <p:grpSpPr>
        <a:xfrm>
          <a:off x="0" y="0"/>
          <a:ext cx="0" cy="0"/>
          <a:chOff x="0" y="0"/>
          <a:chExt cx="0" cy="0"/>
        </a:xfrm>
      </p:grpSpPr>
      <p:sp>
        <p:nvSpPr>
          <p:cNvPr id="2" name="Text 0"/>
          <p:cNvSpPr/>
          <p:nvPr/>
        </p:nvSpPr>
        <p:spPr>
          <a:xfrm>
            <a:off x="457200" y="256032"/>
            <a:ext cx="4572000" cy="320040"/>
          </a:xfrm>
          <a:prstGeom prst="rect">
            <a:avLst/>
          </a:prstGeom>
          <a:noFill/>
          <a:ln/>
        </p:spPr>
        <p:txBody>
          <a:bodyPr wrap="square" lIns="0" tIns="0" rIns="0" bIns="0" rtlCol="0" anchor="ctr"/>
          <a:lstStyle/>
          <a:p>
            <a:pPr marL="0" indent="0">
              <a:buNone/>
            </a:pPr>
            <a:r>
              <a:rPr lang="en-US" sz="1100" b="1" dirty="0">
                <a:solidFill>
                  <a:srgbClr val="132A52"/>
                </a:solidFill>
                <a:latin typeface="Calibri" pitchFamily="34" charset="0"/>
                <a:ea typeface="Calibri" pitchFamily="34" charset="-122"/>
                <a:cs typeface="Calibri" pitchFamily="34" charset="-120"/>
              </a:rPr>
              <a:t>Angel One</a:t>
            </a:r>
            <a:endParaRPr lang="en-US" sz="1100" dirty="0"/>
          </a:p>
        </p:txBody>
      </p:sp>
      <p:sp>
        <p:nvSpPr>
          <p:cNvPr id="3" name="Text 1"/>
          <p:cNvSpPr/>
          <p:nvPr/>
        </p:nvSpPr>
        <p:spPr>
          <a:xfrm>
            <a:off x="7132320" y="256032"/>
            <a:ext cx="4572000" cy="320040"/>
          </a:xfrm>
          <a:prstGeom prst="rect">
            <a:avLst/>
          </a:prstGeom>
          <a:noFill/>
          <a:ln/>
        </p:spPr>
        <p:txBody>
          <a:bodyPr wrap="square" lIns="0" tIns="0" rIns="0" bIns="0" rtlCol="0" anchor="ctr"/>
          <a:lstStyle/>
          <a:p>
            <a:pPr marL="0" indent="0" algn="r">
              <a:buNone/>
            </a:pPr>
            <a:r>
              <a:rPr lang="en-US" sz="1100" dirty="0">
                <a:solidFill>
                  <a:srgbClr val="5B6B85"/>
                </a:solidFill>
                <a:latin typeface="Calibri" pitchFamily="34" charset="0"/>
                <a:ea typeface="Calibri" pitchFamily="34" charset="-122"/>
                <a:cs typeface="Calibri" pitchFamily="34" charset="-120"/>
              </a:rPr>
              <a:t>UX Research &amp; Analysis</a:t>
            </a:r>
            <a:endParaRPr lang="en-US" sz="1100" dirty="0"/>
          </a:p>
        </p:txBody>
      </p:sp>
      <p:sp>
        <p:nvSpPr>
          <p:cNvPr id="4" name="Shape 2"/>
          <p:cNvSpPr/>
          <p:nvPr/>
        </p:nvSpPr>
        <p:spPr>
          <a:xfrm rot="5400000">
            <a:off x="10881360" y="-548640"/>
            <a:ext cx="2377440" cy="2377440"/>
          </a:xfrm>
          <a:prstGeom prst="triangle">
            <a:avLst/>
          </a:prstGeom>
          <a:solidFill>
            <a:srgbClr val="132A52">
              <a:alpha val="8000"/>
            </a:srgbClr>
          </a:solidFill>
          <a:ln/>
        </p:spPr>
      </p:sp>
      <p:sp>
        <p:nvSpPr>
          <p:cNvPr id="5" name="Shape 3"/>
          <p:cNvSpPr/>
          <p:nvPr/>
        </p:nvSpPr>
        <p:spPr>
          <a:xfrm rot="16200000">
            <a:off x="-640080" y="5760720"/>
            <a:ext cx="2011680" cy="2011680"/>
          </a:xfrm>
          <a:prstGeom prst="triangle">
            <a:avLst/>
          </a:prstGeom>
          <a:solidFill>
            <a:srgbClr val="FF6A2B">
              <a:alpha val="6000"/>
            </a:srgbClr>
          </a:solidFill>
          <a:ln/>
        </p:spPr>
      </p:sp>
      <p:sp>
        <p:nvSpPr>
          <p:cNvPr id="6" name="Text 4"/>
          <p:cNvSpPr/>
          <p:nvPr/>
        </p:nvSpPr>
        <p:spPr>
          <a:xfrm>
            <a:off x="640080" y="868680"/>
            <a:ext cx="7315200" cy="640080"/>
          </a:xfrm>
          <a:prstGeom prst="rect">
            <a:avLst/>
          </a:prstGeom>
          <a:noFill/>
          <a:ln/>
        </p:spPr>
        <p:txBody>
          <a:bodyPr wrap="square" lIns="0" tIns="0" rIns="0" bIns="0" rtlCol="0" anchor="ctr"/>
          <a:lstStyle/>
          <a:p>
            <a:pPr marL="0" indent="0">
              <a:buNone/>
            </a:pPr>
            <a:r>
              <a:rPr lang="en-US" sz="3200" b="1" dirty="0">
                <a:solidFill>
                  <a:srgbClr val="132A52"/>
                </a:solidFill>
                <a:latin typeface="Century Schoolbook" pitchFamily="34" charset="0"/>
                <a:ea typeface="Century Schoolbook" pitchFamily="34" charset="-122"/>
                <a:cs typeface="Century Schoolbook" pitchFamily="34" charset="-120"/>
              </a:rPr>
              <a:t>Primary User Persona</a:t>
            </a:r>
            <a:endParaRPr lang="en-US" sz="3200" dirty="0"/>
          </a:p>
        </p:txBody>
      </p:sp>
      <p:sp>
        <p:nvSpPr>
          <p:cNvPr id="7" name="Shape 5"/>
          <p:cNvSpPr/>
          <p:nvPr/>
        </p:nvSpPr>
        <p:spPr>
          <a:xfrm>
            <a:off x="640080" y="1737360"/>
            <a:ext cx="4206240" cy="4480560"/>
          </a:xfrm>
          <a:prstGeom prst="roundRect">
            <a:avLst>
              <a:gd name="adj" fmla="val 2609"/>
            </a:avLst>
          </a:prstGeom>
          <a:solidFill>
            <a:srgbClr val="FFFFFF"/>
          </a:solidFill>
          <a:ln w="12700">
            <a:solidFill>
              <a:srgbClr val="D7E1F2"/>
            </a:solidFill>
            <a:prstDash val="solid"/>
          </a:ln>
          <a:effectLst>
            <a:outerShdw blurRad="101600" dist="25400" dir="5400000" algn="bl" rotWithShape="0">
              <a:srgbClr val="1B2A52">
                <a:alpha val="12000"/>
              </a:srgbClr>
            </a:outerShdw>
          </a:effectLst>
        </p:spPr>
      </p:sp>
      <p:sp>
        <p:nvSpPr>
          <p:cNvPr id="8" name="Shape 6"/>
          <p:cNvSpPr/>
          <p:nvPr/>
        </p:nvSpPr>
        <p:spPr>
          <a:xfrm>
            <a:off x="2194560" y="2057400"/>
            <a:ext cx="1463040" cy="1463040"/>
          </a:xfrm>
          <a:prstGeom prst="ellipse">
            <a:avLst/>
          </a:prstGeom>
          <a:solidFill>
            <a:srgbClr val="132A52"/>
          </a:solidFill>
          <a:ln/>
        </p:spPr>
      </p:sp>
      <p:sp>
        <p:nvSpPr>
          <p:cNvPr id="9" name="Text 7"/>
          <p:cNvSpPr/>
          <p:nvPr/>
        </p:nvSpPr>
        <p:spPr>
          <a:xfrm>
            <a:off x="2194560" y="2057400"/>
            <a:ext cx="1463040" cy="1463040"/>
          </a:xfrm>
          <a:prstGeom prst="rect">
            <a:avLst/>
          </a:prstGeom>
          <a:noFill/>
          <a:ln/>
        </p:spPr>
        <p:txBody>
          <a:bodyPr wrap="square" lIns="0" tIns="0" rIns="0" bIns="0" rtlCol="0" anchor="ctr"/>
          <a:lstStyle/>
          <a:p>
            <a:pPr marL="0" indent="0" algn="ctr">
              <a:buNone/>
            </a:pPr>
            <a:r>
              <a:rPr lang="en-US" sz="4400" dirty="0">
                <a:solidFill>
                  <a:srgbClr val="000000"/>
                </a:solidFill>
              </a:rPr>
              <a:t>🙋‍♀️</a:t>
            </a:r>
            <a:endParaRPr lang="en-US" sz="4400" dirty="0"/>
          </a:p>
        </p:txBody>
      </p:sp>
      <p:sp>
        <p:nvSpPr>
          <p:cNvPr id="10" name="Text 8"/>
          <p:cNvSpPr/>
          <p:nvPr/>
        </p:nvSpPr>
        <p:spPr>
          <a:xfrm>
            <a:off x="822960" y="3657600"/>
            <a:ext cx="3840480" cy="457200"/>
          </a:xfrm>
          <a:prstGeom prst="rect">
            <a:avLst/>
          </a:prstGeom>
          <a:noFill/>
          <a:ln/>
        </p:spPr>
        <p:txBody>
          <a:bodyPr wrap="square" lIns="0" tIns="0" rIns="0" bIns="0" rtlCol="0" anchor="ctr"/>
          <a:lstStyle/>
          <a:p>
            <a:pPr marL="0" indent="0" algn="ctr">
              <a:buNone/>
            </a:pPr>
            <a:r>
              <a:rPr lang="en-US" sz="2000" b="1" dirty="0">
                <a:solidFill>
                  <a:srgbClr val="132A52"/>
                </a:solidFill>
                <a:latin typeface="Century Schoolbook" pitchFamily="34" charset="0"/>
                <a:ea typeface="Century Schoolbook" pitchFamily="34" charset="-122"/>
                <a:cs typeface="Century Schoolbook" pitchFamily="34" charset="-120"/>
              </a:rPr>
              <a:t>Priya Deshmukh</a:t>
            </a:r>
            <a:endParaRPr lang="en-US" sz="2000" dirty="0"/>
          </a:p>
        </p:txBody>
      </p:sp>
      <p:sp>
        <p:nvSpPr>
          <p:cNvPr id="11" name="Text 9"/>
          <p:cNvSpPr/>
          <p:nvPr/>
        </p:nvSpPr>
        <p:spPr>
          <a:xfrm>
            <a:off x="914400" y="4160520"/>
            <a:ext cx="3657600" cy="960120"/>
          </a:xfrm>
          <a:prstGeom prst="rect">
            <a:avLst/>
          </a:prstGeom>
          <a:noFill/>
          <a:ln/>
        </p:spPr>
        <p:txBody>
          <a:bodyPr wrap="square" lIns="0" tIns="0" rIns="0" bIns="0" rtlCol="0" anchor="ctr"/>
          <a:lstStyle/>
          <a:p>
            <a:pPr marL="0" indent="0" algn="ctr">
              <a:lnSpc>
                <a:spcPct val="120000"/>
              </a:lnSpc>
              <a:buNone/>
            </a:pPr>
            <a:r>
              <a:rPr lang="en-US" sz="1200" i="1" dirty="0">
                <a:solidFill>
                  <a:srgbClr val="5B6B85"/>
                </a:solidFill>
                <a:latin typeface="Calibri" pitchFamily="34" charset="0"/>
                <a:ea typeface="Calibri" pitchFamily="34" charset="-122"/>
                <a:cs typeface="Calibri" pitchFamily="34" charset="-120"/>
              </a:rPr>
              <a:t>"I want one clear next step — not two banners fighting for my attention — when I'm ready to start investing."</a:t>
            </a:r>
            <a:endParaRPr lang="en-US" sz="1200" dirty="0"/>
          </a:p>
        </p:txBody>
      </p:sp>
      <p:sp>
        <p:nvSpPr>
          <p:cNvPr id="12" name="Shape 10"/>
          <p:cNvSpPr/>
          <p:nvPr/>
        </p:nvSpPr>
        <p:spPr>
          <a:xfrm>
            <a:off x="5074920" y="1737360"/>
            <a:ext cx="6446520" cy="2148840"/>
          </a:xfrm>
          <a:prstGeom prst="roundRect">
            <a:avLst>
              <a:gd name="adj" fmla="val 5106"/>
            </a:avLst>
          </a:prstGeom>
          <a:solidFill>
            <a:srgbClr val="FFFFFF"/>
          </a:solidFill>
          <a:ln w="12700">
            <a:solidFill>
              <a:srgbClr val="D7E1F2"/>
            </a:solidFill>
            <a:prstDash val="solid"/>
          </a:ln>
        </p:spPr>
      </p:sp>
      <p:sp>
        <p:nvSpPr>
          <p:cNvPr id="13" name="Text 11"/>
          <p:cNvSpPr/>
          <p:nvPr/>
        </p:nvSpPr>
        <p:spPr>
          <a:xfrm>
            <a:off x="5349240" y="1965960"/>
            <a:ext cx="365760" cy="457200"/>
          </a:xfrm>
          <a:prstGeom prst="rect">
            <a:avLst/>
          </a:prstGeom>
          <a:noFill/>
          <a:ln/>
        </p:spPr>
        <p:txBody>
          <a:bodyPr wrap="square" lIns="0" tIns="0" rIns="0" bIns="0" rtlCol="0" anchor="ctr"/>
          <a:lstStyle/>
          <a:p>
            <a:pPr marL="0" indent="0">
              <a:buNone/>
            </a:pPr>
            <a:r>
              <a:rPr lang="en-US" sz="1500" dirty="0">
                <a:solidFill>
                  <a:srgbClr val="000000"/>
                </a:solidFill>
              </a:rPr>
              <a:t>🎂</a:t>
            </a:r>
            <a:endParaRPr lang="en-US" sz="1500" dirty="0"/>
          </a:p>
        </p:txBody>
      </p:sp>
      <p:sp>
        <p:nvSpPr>
          <p:cNvPr id="14" name="Text 12"/>
          <p:cNvSpPr/>
          <p:nvPr/>
        </p:nvSpPr>
        <p:spPr>
          <a:xfrm>
            <a:off x="5733288" y="1965960"/>
            <a:ext cx="2606040" cy="457200"/>
          </a:xfrm>
          <a:prstGeom prst="rect">
            <a:avLst/>
          </a:prstGeom>
          <a:noFill/>
          <a:ln/>
        </p:spPr>
        <p:txBody>
          <a:bodyPr wrap="square" lIns="0" tIns="0" rIns="0" bIns="0" rtlCol="0" anchor="ctr"/>
          <a:lstStyle/>
          <a:p>
            <a:pPr marL="0" indent="0">
              <a:buNone/>
            </a:pPr>
            <a:r>
              <a:rPr lang="en-US" sz="1150" dirty="0">
                <a:solidFill>
                  <a:srgbClr val="2B3A55"/>
                </a:solidFill>
                <a:latin typeface="Calibri" pitchFamily="34" charset="0"/>
                <a:ea typeface="Calibri" pitchFamily="34" charset="-122"/>
                <a:cs typeface="Calibri" pitchFamily="34" charset="-120"/>
              </a:rPr>
              <a:t>Age: 24 | Software Engineer</a:t>
            </a:r>
            <a:endParaRPr lang="en-US" sz="1150" dirty="0"/>
          </a:p>
        </p:txBody>
      </p:sp>
      <p:sp>
        <p:nvSpPr>
          <p:cNvPr id="15" name="Text 13"/>
          <p:cNvSpPr/>
          <p:nvPr/>
        </p:nvSpPr>
        <p:spPr>
          <a:xfrm>
            <a:off x="5349240" y="2587752"/>
            <a:ext cx="365760" cy="457200"/>
          </a:xfrm>
          <a:prstGeom prst="rect">
            <a:avLst/>
          </a:prstGeom>
          <a:noFill/>
          <a:ln/>
        </p:spPr>
        <p:txBody>
          <a:bodyPr wrap="square" lIns="0" tIns="0" rIns="0" bIns="0" rtlCol="0" anchor="ctr"/>
          <a:lstStyle/>
          <a:p>
            <a:pPr marL="0" indent="0">
              <a:buNone/>
            </a:pPr>
            <a:r>
              <a:rPr lang="en-US" sz="1500" dirty="0">
                <a:solidFill>
                  <a:srgbClr val="000000"/>
                </a:solidFill>
              </a:rPr>
              <a:t>📍</a:t>
            </a:r>
            <a:endParaRPr lang="en-US" sz="1500" dirty="0"/>
          </a:p>
        </p:txBody>
      </p:sp>
      <p:sp>
        <p:nvSpPr>
          <p:cNvPr id="16" name="Text 14"/>
          <p:cNvSpPr/>
          <p:nvPr/>
        </p:nvSpPr>
        <p:spPr>
          <a:xfrm>
            <a:off x="5733288" y="2587752"/>
            <a:ext cx="2606040" cy="457200"/>
          </a:xfrm>
          <a:prstGeom prst="rect">
            <a:avLst/>
          </a:prstGeom>
          <a:noFill/>
          <a:ln/>
        </p:spPr>
        <p:txBody>
          <a:bodyPr wrap="square" lIns="0" tIns="0" rIns="0" bIns="0" rtlCol="0" anchor="ctr"/>
          <a:lstStyle/>
          <a:p>
            <a:pPr marL="0" indent="0">
              <a:buNone/>
            </a:pPr>
            <a:r>
              <a:rPr lang="en-US" sz="1150" dirty="0">
                <a:solidFill>
                  <a:srgbClr val="2B3A55"/>
                </a:solidFill>
                <a:latin typeface="Calibri" pitchFamily="34" charset="0"/>
                <a:ea typeface="Calibri" pitchFamily="34" charset="-122"/>
                <a:cs typeface="Calibri" pitchFamily="34" charset="-120"/>
              </a:rPr>
              <a:t>Location: Bengaluru, India</a:t>
            </a:r>
            <a:endParaRPr lang="en-US" sz="1150" dirty="0"/>
          </a:p>
        </p:txBody>
      </p:sp>
      <p:sp>
        <p:nvSpPr>
          <p:cNvPr id="17" name="Text 15"/>
          <p:cNvSpPr/>
          <p:nvPr/>
        </p:nvSpPr>
        <p:spPr>
          <a:xfrm>
            <a:off x="5349240" y="3209544"/>
            <a:ext cx="365760" cy="457200"/>
          </a:xfrm>
          <a:prstGeom prst="rect">
            <a:avLst/>
          </a:prstGeom>
          <a:noFill/>
          <a:ln/>
        </p:spPr>
        <p:txBody>
          <a:bodyPr wrap="square" lIns="0" tIns="0" rIns="0" bIns="0" rtlCol="0" anchor="ctr"/>
          <a:lstStyle/>
          <a:p>
            <a:pPr marL="0" indent="0">
              <a:buNone/>
            </a:pPr>
            <a:r>
              <a:rPr lang="en-US" sz="1500" dirty="0">
                <a:solidFill>
                  <a:srgbClr val="000000"/>
                </a:solidFill>
              </a:rPr>
              <a:t>💻</a:t>
            </a:r>
            <a:endParaRPr lang="en-US" sz="1500" dirty="0"/>
          </a:p>
        </p:txBody>
      </p:sp>
      <p:sp>
        <p:nvSpPr>
          <p:cNvPr id="18" name="Text 16"/>
          <p:cNvSpPr/>
          <p:nvPr/>
        </p:nvSpPr>
        <p:spPr>
          <a:xfrm>
            <a:off x="5733288" y="3209544"/>
            <a:ext cx="2606040" cy="457200"/>
          </a:xfrm>
          <a:prstGeom prst="rect">
            <a:avLst/>
          </a:prstGeom>
          <a:noFill/>
          <a:ln/>
        </p:spPr>
        <p:txBody>
          <a:bodyPr wrap="square" lIns="0" tIns="0" rIns="0" bIns="0" rtlCol="0" anchor="ctr"/>
          <a:lstStyle/>
          <a:p>
            <a:pPr marL="0" indent="0">
              <a:buNone/>
            </a:pPr>
            <a:r>
              <a:rPr lang="en-US" sz="1150" dirty="0">
                <a:solidFill>
                  <a:srgbClr val="2B3A55"/>
                </a:solidFill>
                <a:latin typeface="Calibri" pitchFamily="34" charset="0"/>
                <a:ea typeface="Calibri" pitchFamily="34" charset="-122"/>
                <a:cs typeface="Calibri" pitchFamily="34" charset="-120"/>
              </a:rPr>
              <a:t>Technical Level: Intermediate</a:t>
            </a:r>
            <a:endParaRPr lang="en-US" sz="1150" dirty="0"/>
          </a:p>
        </p:txBody>
      </p:sp>
      <p:sp>
        <p:nvSpPr>
          <p:cNvPr id="19" name="Text 17"/>
          <p:cNvSpPr/>
          <p:nvPr/>
        </p:nvSpPr>
        <p:spPr>
          <a:xfrm>
            <a:off x="8412480" y="1965960"/>
            <a:ext cx="365760" cy="457200"/>
          </a:xfrm>
          <a:prstGeom prst="rect">
            <a:avLst/>
          </a:prstGeom>
          <a:noFill/>
          <a:ln/>
        </p:spPr>
        <p:txBody>
          <a:bodyPr wrap="square" lIns="0" tIns="0" rIns="0" bIns="0" rtlCol="0" anchor="ctr"/>
          <a:lstStyle/>
          <a:p>
            <a:pPr marL="0" indent="0">
              <a:buNone/>
            </a:pPr>
            <a:r>
              <a:rPr lang="en-US" sz="1500" dirty="0">
                <a:solidFill>
                  <a:srgbClr val="000000"/>
                </a:solidFill>
              </a:rPr>
              <a:t>📱</a:t>
            </a:r>
            <a:endParaRPr lang="en-US" sz="1500" dirty="0"/>
          </a:p>
        </p:txBody>
      </p:sp>
      <p:sp>
        <p:nvSpPr>
          <p:cNvPr id="20" name="Text 18"/>
          <p:cNvSpPr/>
          <p:nvPr/>
        </p:nvSpPr>
        <p:spPr>
          <a:xfrm>
            <a:off x="8796528" y="1965960"/>
            <a:ext cx="2606040" cy="457200"/>
          </a:xfrm>
          <a:prstGeom prst="rect">
            <a:avLst/>
          </a:prstGeom>
          <a:noFill/>
          <a:ln/>
        </p:spPr>
        <p:txBody>
          <a:bodyPr wrap="square" lIns="0" tIns="0" rIns="0" bIns="0" rtlCol="0" anchor="ctr"/>
          <a:lstStyle/>
          <a:p>
            <a:pPr marL="0" indent="0">
              <a:buNone/>
            </a:pPr>
            <a:r>
              <a:rPr lang="en-US" sz="1150" dirty="0">
                <a:solidFill>
                  <a:srgbClr val="2B3A55"/>
                </a:solidFill>
                <a:latin typeface="Calibri" pitchFamily="34" charset="0"/>
                <a:ea typeface="Calibri" pitchFamily="34" charset="-122"/>
                <a:cs typeface="Calibri" pitchFamily="34" charset="-120"/>
              </a:rPr>
              <a:t>Devices: Mobile-first, occasional laptop</a:t>
            </a:r>
            <a:endParaRPr lang="en-US" sz="1150" dirty="0"/>
          </a:p>
        </p:txBody>
      </p:sp>
      <p:sp>
        <p:nvSpPr>
          <p:cNvPr id="21" name="Text 19"/>
          <p:cNvSpPr/>
          <p:nvPr/>
        </p:nvSpPr>
        <p:spPr>
          <a:xfrm>
            <a:off x="8412480" y="2587752"/>
            <a:ext cx="365760" cy="457200"/>
          </a:xfrm>
          <a:prstGeom prst="rect">
            <a:avLst/>
          </a:prstGeom>
          <a:noFill/>
          <a:ln/>
        </p:spPr>
        <p:txBody>
          <a:bodyPr wrap="square" lIns="0" tIns="0" rIns="0" bIns="0" rtlCol="0" anchor="ctr"/>
          <a:lstStyle/>
          <a:p>
            <a:pPr marL="0" indent="0">
              <a:buNone/>
            </a:pPr>
            <a:r>
              <a:rPr lang="en-US" sz="1500" dirty="0">
                <a:solidFill>
                  <a:srgbClr val="000000"/>
                </a:solidFill>
              </a:rPr>
              <a:t>🗓️</a:t>
            </a:r>
            <a:endParaRPr lang="en-US" sz="1500" dirty="0"/>
          </a:p>
        </p:txBody>
      </p:sp>
      <p:sp>
        <p:nvSpPr>
          <p:cNvPr id="22" name="Text 20"/>
          <p:cNvSpPr/>
          <p:nvPr/>
        </p:nvSpPr>
        <p:spPr>
          <a:xfrm>
            <a:off x="8796528" y="2587752"/>
            <a:ext cx="2606040" cy="457200"/>
          </a:xfrm>
          <a:prstGeom prst="rect">
            <a:avLst/>
          </a:prstGeom>
          <a:noFill/>
          <a:ln/>
        </p:spPr>
        <p:txBody>
          <a:bodyPr wrap="square" lIns="0" tIns="0" rIns="0" bIns="0" rtlCol="0" anchor="ctr"/>
          <a:lstStyle/>
          <a:p>
            <a:pPr marL="0" indent="0">
              <a:buNone/>
            </a:pPr>
            <a:r>
              <a:rPr lang="en-US" sz="1150" dirty="0">
                <a:solidFill>
                  <a:srgbClr val="2B3A55"/>
                </a:solidFill>
                <a:latin typeface="Calibri" pitchFamily="34" charset="0"/>
                <a:ea typeface="Calibri" pitchFamily="34" charset="-122"/>
                <a:cs typeface="Calibri" pitchFamily="34" charset="-120"/>
              </a:rPr>
              <a:t>App Usage: A few times a week</a:t>
            </a:r>
            <a:endParaRPr lang="en-US" sz="1150" dirty="0"/>
          </a:p>
        </p:txBody>
      </p:sp>
      <p:sp>
        <p:nvSpPr>
          <p:cNvPr id="23" name="Text 21"/>
          <p:cNvSpPr/>
          <p:nvPr/>
        </p:nvSpPr>
        <p:spPr>
          <a:xfrm>
            <a:off x="8412480" y="3209544"/>
            <a:ext cx="365760" cy="457200"/>
          </a:xfrm>
          <a:prstGeom prst="rect">
            <a:avLst/>
          </a:prstGeom>
          <a:noFill/>
          <a:ln/>
        </p:spPr>
        <p:txBody>
          <a:bodyPr wrap="square" lIns="0" tIns="0" rIns="0" bIns="0" rtlCol="0" anchor="ctr"/>
          <a:lstStyle/>
          <a:p>
            <a:pPr marL="0" indent="0">
              <a:buNone/>
            </a:pPr>
            <a:r>
              <a:rPr lang="en-US" sz="1500" dirty="0">
                <a:solidFill>
                  <a:srgbClr val="000000"/>
                </a:solidFill>
              </a:rPr>
              <a:t>🎯</a:t>
            </a:r>
            <a:endParaRPr lang="en-US" sz="1500" dirty="0"/>
          </a:p>
        </p:txBody>
      </p:sp>
      <p:sp>
        <p:nvSpPr>
          <p:cNvPr id="24" name="Text 22"/>
          <p:cNvSpPr/>
          <p:nvPr/>
        </p:nvSpPr>
        <p:spPr>
          <a:xfrm>
            <a:off x="8796528" y="3209544"/>
            <a:ext cx="2606040" cy="457200"/>
          </a:xfrm>
          <a:prstGeom prst="rect">
            <a:avLst/>
          </a:prstGeom>
          <a:noFill/>
          <a:ln/>
        </p:spPr>
        <p:txBody>
          <a:bodyPr wrap="square" lIns="0" tIns="0" rIns="0" bIns="0" rtlCol="0" anchor="ctr"/>
          <a:lstStyle/>
          <a:p>
            <a:pPr marL="0" indent="0">
              <a:buNone/>
            </a:pPr>
            <a:r>
              <a:rPr lang="en-US" sz="1150" dirty="0">
                <a:solidFill>
                  <a:srgbClr val="2B3A55"/>
                </a:solidFill>
                <a:latin typeface="Calibri" pitchFamily="34" charset="0"/>
                <a:ea typeface="Calibri" pitchFamily="34" charset="-122"/>
                <a:cs typeface="Calibri" pitchFamily="34" charset="-120"/>
              </a:rPr>
              <a:t>Investing Experience: First-time investor</a:t>
            </a:r>
            <a:endParaRPr lang="en-US" sz="1150" dirty="0"/>
          </a:p>
        </p:txBody>
      </p:sp>
      <p:sp>
        <p:nvSpPr>
          <p:cNvPr id="25" name="Shape 23"/>
          <p:cNvSpPr/>
          <p:nvPr/>
        </p:nvSpPr>
        <p:spPr>
          <a:xfrm>
            <a:off x="5074920" y="4069080"/>
            <a:ext cx="6446520" cy="2148840"/>
          </a:xfrm>
          <a:prstGeom prst="roundRect">
            <a:avLst>
              <a:gd name="adj" fmla="val 5106"/>
            </a:avLst>
          </a:prstGeom>
          <a:solidFill>
            <a:srgbClr val="132A52"/>
          </a:solidFill>
          <a:ln/>
        </p:spPr>
      </p:sp>
      <p:sp>
        <p:nvSpPr>
          <p:cNvPr id="26" name="Text 24"/>
          <p:cNvSpPr/>
          <p:nvPr/>
        </p:nvSpPr>
        <p:spPr>
          <a:xfrm>
            <a:off x="5349240" y="4251960"/>
            <a:ext cx="5852160" cy="365760"/>
          </a:xfrm>
          <a:prstGeom prst="rect">
            <a:avLst/>
          </a:prstGeom>
          <a:noFill/>
          <a:ln/>
        </p:spPr>
        <p:txBody>
          <a:bodyPr wrap="square" lIns="0" tIns="0" rIns="0" bIns="0" rtlCol="0" anchor="ctr"/>
          <a:lstStyle/>
          <a:p>
            <a:pPr marL="0" indent="0">
              <a:buNone/>
            </a:pPr>
            <a:r>
              <a:rPr lang="en-US" sz="1400" b="1" dirty="0">
                <a:solidFill>
                  <a:srgbClr val="FF6A2B"/>
                </a:solidFill>
                <a:latin typeface="Calibri" pitchFamily="34" charset="0"/>
                <a:ea typeface="Calibri" pitchFamily="34" charset="-122"/>
                <a:cs typeface="Calibri" pitchFamily="34" charset="-120"/>
              </a:rPr>
              <a:t>Why She's Here</a:t>
            </a:r>
            <a:endParaRPr lang="en-US" sz="1400" dirty="0"/>
          </a:p>
        </p:txBody>
      </p:sp>
      <p:sp>
        <p:nvSpPr>
          <p:cNvPr id="27" name="Text 25"/>
          <p:cNvSpPr/>
          <p:nvPr/>
        </p:nvSpPr>
        <p:spPr>
          <a:xfrm>
            <a:off x="5349240" y="4617720"/>
            <a:ext cx="5852160" cy="1463040"/>
          </a:xfrm>
          <a:prstGeom prst="rect">
            <a:avLst/>
          </a:prstGeom>
          <a:noFill/>
          <a:ln/>
        </p:spPr>
        <p:txBody>
          <a:bodyPr wrap="square" lIns="0" tIns="0" rIns="0" bIns="0" rtlCol="0" anchor="ctr"/>
          <a:lstStyle/>
          <a:p>
            <a:pPr marL="0" indent="0">
              <a:lnSpc>
                <a:spcPct val="130000"/>
              </a:lnSpc>
              <a:buNone/>
            </a:pPr>
            <a:r>
              <a:rPr lang="en-US" sz="1200" dirty="0">
                <a:solidFill>
                  <a:srgbClr val="DCE4F5"/>
                </a:solidFill>
                <a:latin typeface="Calibri" pitchFamily="34" charset="0"/>
                <a:ea typeface="Calibri" pitchFamily="34" charset="-122"/>
                <a:cs typeface="Calibri" pitchFamily="34" charset="-120"/>
              </a:rPr>
              <a:t>Priya has started saving a fixed amount every month and wants to put part of it into stocks and mutual funds through a trusted, well-known broker. She's comfortable with apps generally but has never opened a demat account or placed a trade before, so she is relying on the website itself to tell her clearly what to do first.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4572000" cy="320040"/>
          </a:xfrm>
          <a:prstGeom prst="rect">
            <a:avLst/>
          </a:prstGeom>
          <a:noFill/>
          <a:ln/>
        </p:spPr>
        <p:txBody>
          <a:bodyPr wrap="square" lIns="0" tIns="0" rIns="0" bIns="0" rtlCol="0" anchor="ctr"/>
          <a:lstStyle/>
          <a:p>
            <a:pPr marL="0" indent="0">
              <a:buNone/>
            </a:pPr>
            <a:r>
              <a:rPr lang="en-US" sz="1100" b="1" dirty="0">
                <a:solidFill>
                  <a:srgbClr val="132A52"/>
                </a:solidFill>
                <a:latin typeface="Calibri" pitchFamily="34" charset="0"/>
                <a:ea typeface="Calibri" pitchFamily="34" charset="-122"/>
                <a:cs typeface="Calibri" pitchFamily="34" charset="-120"/>
              </a:rPr>
              <a:t>Angel One</a:t>
            </a:r>
            <a:endParaRPr lang="en-US" sz="1100" dirty="0"/>
          </a:p>
        </p:txBody>
      </p:sp>
      <p:sp>
        <p:nvSpPr>
          <p:cNvPr id="3" name="Text 1"/>
          <p:cNvSpPr/>
          <p:nvPr/>
        </p:nvSpPr>
        <p:spPr>
          <a:xfrm>
            <a:off x="7132320" y="256032"/>
            <a:ext cx="4572000" cy="320040"/>
          </a:xfrm>
          <a:prstGeom prst="rect">
            <a:avLst/>
          </a:prstGeom>
          <a:noFill/>
          <a:ln/>
        </p:spPr>
        <p:txBody>
          <a:bodyPr wrap="square" lIns="0" tIns="0" rIns="0" bIns="0" rtlCol="0" anchor="ctr"/>
          <a:lstStyle/>
          <a:p>
            <a:pPr marL="0" indent="0" algn="r">
              <a:buNone/>
            </a:pPr>
            <a:r>
              <a:rPr lang="en-US" sz="1100" dirty="0">
                <a:solidFill>
                  <a:srgbClr val="5B6B85"/>
                </a:solidFill>
                <a:latin typeface="Calibri" pitchFamily="34" charset="0"/>
                <a:ea typeface="Calibri" pitchFamily="34" charset="-122"/>
                <a:cs typeface="Calibri" pitchFamily="34" charset="-120"/>
              </a:rPr>
              <a:t>UX Research &amp; Analysis</a:t>
            </a:r>
            <a:endParaRPr lang="en-US" sz="1100" dirty="0"/>
          </a:p>
        </p:txBody>
      </p:sp>
      <p:sp>
        <p:nvSpPr>
          <p:cNvPr id="4" name="Shape 2"/>
          <p:cNvSpPr/>
          <p:nvPr/>
        </p:nvSpPr>
        <p:spPr>
          <a:xfrm rot="5400000">
            <a:off x="10881360" y="-548640"/>
            <a:ext cx="2377440" cy="2377440"/>
          </a:xfrm>
          <a:prstGeom prst="triangle">
            <a:avLst/>
          </a:prstGeom>
          <a:solidFill>
            <a:srgbClr val="132A52">
              <a:alpha val="8000"/>
            </a:srgbClr>
          </a:solidFill>
          <a:ln/>
        </p:spPr>
      </p:sp>
      <p:sp>
        <p:nvSpPr>
          <p:cNvPr id="5" name="Shape 3"/>
          <p:cNvSpPr/>
          <p:nvPr/>
        </p:nvSpPr>
        <p:spPr>
          <a:xfrm rot="16200000">
            <a:off x="-640080" y="5760720"/>
            <a:ext cx="2011680" cy="2011680"/>
          </a:xfrm>
          <a:prstGeom prst="triangle">
            <a:avLst/>
          </a:prstGeom>
          <a:solidFill>
            <a:srgbClr val="FF6A2B">
              <a:alpha val="6000"/>
            </a:srgbClr>
          </a:solidFill>
          <a:ln/>
        </p:spPr>
      </p:sp>
      <p:sp>
        <p:nvSpPr>
          <p:cNvPr id="6" name="Text 4"/>
          <p:cNvSpPr/>
          <p:nvPr/>
        </p:nvSpPr>
        <p:spPr>
          <a:xfrm>
            <a:off x="640080" y="868680"/>
            <a:ext cx="7315200" cy="640080"/>
          </a:xfrm>
          <a:prstGeom prst="rect">
            <a:avLst/>
          </a:prstGeom>
          <a:noFill/>
          <a:ln/>
        </p:spPr>
        <p:txBody>
          <a:bodyPr wrap="square" lIns="0" tIns="0" rIns="0" bIns="0" rtlCol="0" anchor="ctr"/>
          <a:lstStyle/>
          <a:p>
            <a:pPr marL="0" indent="0">
              <a:buNone/>
            </a:pPr>
            <a:r>
              <a:rPr lang="en-US" sz="3200" b="1" dirty="0">
                <a:solidFill>
                  <a:srgbClr val="132A52"/>
                </a:solidFill>
                <a:latin typeface="Century Schoolbook" pitchFamily="34" charset="0"/>
                <a:ea typeface="Century Schoolbook" pitchFamily="34" charset="-122"/>
                <a:cs typeface="Century Schoolbook" pitchFamily="34" charset="-120"/>
              </a:rPr>
              <a:t>Goals &amp; Motivations</a:t>
            </a:r>
            <a:endParaRPr lang="en-US" sz="3200" dirty="0"/>
          </a:p>
        </p:txBody>
      </p:sp>
      <p:sp>
        <p:nvSpPr>
          <p:cNvPr id="7" name="Shape 5"/>
          <p:cNvSpPr/>
          <p:nvPr/>
        </p:nvSpPr>
        <p:spPr>
          <a:xfrm>
            <a:off x="640080" y="1737360"/>
            <a:ext cx="5303520" cy="4480560"/>
          </a:xfrm>
          <a:prstGeom prst="roundRect">
            <a:avLst>
              <a:gd name="adj" fmla="val 2449"/>
            </a:avLst>
          </a:prstGeom>
          <a:solidFill>
            <a:srgbClr val="F4F7FC"/>
          </a:solidFill>
          <a:ln w="12700">
            <a:solidFill>
              <a:srgbClr val="D7E1F2"/>
            </a:solidFill>
            <a:prstDash val="solid"/>
          </a:ln>
        </p:spPr>
      </p:sp>
      <p:sp>
        <p:nvSpPr>
          <p:cNvPr id="8" name="Shape 6"/>
          <p:cNvSpPr/>
          <p:nvPr/>
        </p:nvSpPr>
        <p:spPr>
          <a:xfrm>
            <a:off x="914400" y="1965960"/>
            <a:ext cx="502920" cy="502920"/>
          </a:xfrm>
          <a:prstGeom prst="ellipse">
            <a:avLst/>
          </a:prstGeom>
          <a:solidFill>
            <a:srgbClr val="FF6A2B"/>
          </a:solidFill>
          <a:ln/>
        </p:spPr>
      </p:sp>
      <p:sp>
        <p:nvSpPr>
          <p:cNvPr id="9" name="Text 7"/>
          <p:cNvSpPr/>
          <p:nvPr/>
        </p:nvSpPr>
        <p:spPr>
          <a:xfrm>
            <a:off x="914400" y="1965960"/>
            <a:ext cx="502920" cy="50292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0" name="Text 8"/>
          <p:cNvSpPr/>
          <p:nvPr/>
        </p:nvSpPr>
        <p:spPr>
          <a:xfrm>
            <a:off x="1554480" y="1965960"/>
            <a:ext cx="2743200" cy="502920"/>
          </a:xfrm>
          <a:prstGeom prst="rect">
            <a:avLst/>
          </a:prstGeom>
          <a:noFill/>
          <a:ln/>
        </p:spPr>
        <p:txBody>
          <a:bodyPr wrap="square" lIns="0" tIns="0" rIns="0" bIns="0" rtlCol="0" anchor="ctr"/>
          <a:lstStyle/>
          <a:p>
            <a:pPr marL="0" indent="0">
              <a:buNone/>
            </a:pPr>
            <a:r>
              <a:rPr lang="en-US" sz="1700" b="1" dirty="0">
                <a:solidFill>
                  <a:srgbClr val="132A52"/>
                </a:solidFill>
                <a:latin typeface="Calibri" pitchFamily="34" charset="0"/>
                <a:ea typeface="Calibri" pitchFamily="34" charset="-122"/>
                <a:cs typeface="Calibri" pitchFamily="34" charset="-120"/>
              </a:rPr>
              <a:t>Goals</a:t>
            </a:r>
            <a:endParaRPr lang="en-US" sz="1700" dirty="0"/>
          </a:p>
        </p:txBody>
      </p:sp>
      <p:sp>
        <p:nvSpPr>
          <p:cNvPr id="11" name="Text 9"/>
          <p:cNvSpPr/>
          <p:nvPr/>
        </p:nvSpPr>
        <p:spPr>
          <a:xfrm>
            <a:off x="914400" y="2606040"/>
            <a:ext cx="4754880" cy="3474720"/>
          </a:xfrm>
          <a:prstGeom prst="rect">
            <a:avLst/>
          </a:prstGeom>
          <a:noFill/>
          <a:ln/>
        </p:spPr>
        <p:txBody>
          <a:bodyPr wrap="square" lIns="0" tIns="0" rIns="0" bIns="0" rtlCol="0" anchor="ctr"/>
          <a:lstStyle/>
          <a:p>
            <a:pPr marL="342900" indent="-342900">
              <a:lnSpc>
                <a:spcPct val="120000"/>
              </a:lnSpc>
              <a:spcAft>
                <a:spcPts val="1200"/>
              </a:spcAft>
              <a:buSzPct val="100000"/>
              <a:buChar char="✦"/>
            </a:pPr>
            <a:r>
              <a:rPr lang="en-US" sz="1300" dirty="0">
                <a:solidFill>
                  <a:srgbClr val="2B3A55"/>
                </a:solidFill>
                <a:latin typeface="Calibri" pitchFamily="34" charset="0"/>
                <a:ea typeface="Calibri" pitchFamily="34" charset="-122"/>
                <a:cs typeface="Calibri" pitchFamily="34" charset="-120"/>
              </a:rPr>
              <a:t>Open a demat account quickly and correctly</a:t>
            </a:r>
            <a:endParaRPr lang="en-US" sz="1300" dirty="0"/>
          </a:p>
          <a:p>
            <a:pPr marL="342900" indent="-342900">
              <a:lnSpc>
                <a:spcPct val="120000"/>
              </a:lnSpc>
              <a:spcAft>
                <a:spcPts val="1200"/>
              </a:spcAft>
              <a:buSzPct val="100000"/>
              <a:buChar char="✦"/>
            </a:pPr>
            <a:r>
              <a:rPr lang="en-US" sz="1300" dirty="0">
                <a:solidFill>
                  <a:srgbClr val="2B3A55"/>
                </a:solidFill>
                <a:latin typeface="Calibri" pitchFamily="34" charset="0"/>
                <a:ea typeface="Calibri" pitchFamily="34" charset="-122"/>
                <a:cs typeface="Calibri" pitchFamily="34" charset="-120"/>
              </a:rPr>
              <a:t>Understand brokerage &amp; charges before committing</a:t>
            </a:r>
            <a:endParaRPr lang="en-US" sz="1300" dirty="0"/>
          </a:p>
          <a:p>
            <a:pPr marL="342900" indent="-342900">
              <a:lnSpc>
                <a:spcPct val="120000"/>
              </a:lnSpc>
              <a:spcAft>
                <a:spcPts val="1200"/>
              </a:spcAft>
              <a:buSzPct val="100000"/>
              <a:buChar char="✦"/>
            </a:pPr>
            <a:r>
              <a:rPr lang="en-US" sz="1300" dirty="0">
                <a:solidFill>
                  <a:srgbClr val="2B3A55"/>
                </a:solidFill>
                <a:latin typeface="Calibri" pitchFamily="34" charset="0"/>
                <a:ea typeface="Calibri" pitchFamily="34" charset="-122"/>
                <a:cs typeface="Calibri" pitchFamily="34" charset="-120"/>
              </a:rPr>
              <a:t>Compare stocks, mutual funds, and SIPs confidently</a:t>
            </a:r>
            <a:endParaRPr lang="en-US" sz="1300" dirty="0"/>
          </a:p>
          <a:p>
            <a:pPr marL="342900" indent="-342900">
              <a:lnSpc>
                <a:spcPct val="120000"/>
              </a:lnSpc>
              <a:spcAft>
                <a:spcPts val="1200"/>
              </a:spcAft>
              <a:buSzPct val="100000"/>
              <a:buChar char="✦"/>
            </a:pPr>
            <a:r>
              <a:rPr lang="en-US" sz="1300" dirty="0">
                <a:solidFill>
                  <a:srgbClr val="2B3A55"/>
                </a:solidFill>
                <a:latin typeface="Calibri" pitchFamily="34" charset="0"/>
                <a:ea typeface="Calibri" pitchFamily="34" charset="-122"/>
                <a:cs typeface="Calibri" pitchFamily="34" charset="-120"/>
              </a:rPr>
              <a:t>Use ARQ recommendations to place a first trade</a:t>
            </a:r>
            <a:endParaRPr lang="en-US" sz="1300" dirty="0"/>
          </a:p>
          <a:p>
            <a:pPr marL="342900" indent="-342900">
              <a:lnSpc>
                <a:spcPct val="120000"/>
              </a:lnSpc>
              <a:spcAft>
                <a:spcPts val="1200"/>
              </a:spcAft>
              <a:buSzPct val="100000"/>
              <a:buChar char="✦"/>
            </a:pPr>
            <a:r>
              <a:rPr lang="en-US" sz="1300" dirty="0">
                <a:solidFill>
                  <a:srgbClr val="2B3A55"/>
                </a:solidFill>
                <a:latin typeface="Calibri" pitchFamily="34" charset="0"/>
                <a:ea typeface="Calibri" pitchFamily="34" charset="-122"/>
                <a:cs typeface="Calibri" pitchFamily="34" charset="-120"/>
              </a:rPr>
              <a:t>Avoid unfamiliar trading jargon while learning</a:t>
            </a:r>
            <a:endParaRPr lang="en-US" sz="1300" dirty="0"/>
          </a:p>
        </p:txBody>
      </p:sp>
      <p:sp>
        <p:nvSpPr>
          <p:cNvPr id="12" name="Shape 10"/>
          <p:cNvSpPr/>
          <p:nvPr/>
        </p:nvSpPr>
        <p:spPr>
          <a:xfrm>
            <a:off x="6217920" y="1737360"/>
            <a:ext cx="5303520" cy="4480560"/>
          </a:xfrm>
          <a:prstGeom prst="roundRect">
            <a:avLst>
              <a:gd name="adj" fmla="val 2449"/>
            </a:avLst>
          </a:prstGeom>
          <a:solidFill>
            <a:srgbClr val="132A52"/>
          </a:solidFill>
          <a:ln/>
        </p:spPr>
      </p:sp>
      <p:sp>
        <p:nvSpPr>
          <p:cNvPr id="13" name="Shape 11"/>
          <p:cNvSpPr/>
          <p:nvPr/>
        </p:nvSpPr>
        <p:spPr>
          <a:xfrm>
            <a:off x="6492240" y="1965960"/>
            <a:ext cx="502920" cy="502920"/>
          </a:xfrm>
          <a:prstGeom prst="ellipse">
            <a:avLst/>
          </a:prstGeom>
          <a:solidFill>
            <a:srgbClr val="FF6A2B"/>
          </a:solidFill>
          <a:ln/>
        </p:spPr>
      </p:sp>
      <p:sp>
        <p:nvSpPr>
          <p:cNvPr id="14" name="Text 12"/>
          <p:cNvSpPr/>
          <p:nvPr/>
        </p:nvSpPr>
        <p:spPr>
          <a:xfrm>
            <a:off x="6492240" y="1965960"/>
            <a:ext cx="502920" cy="50292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5" name="Text 13"/>
          <p:cNvSpPr/>
          <p:nvPr/>
        </p:nvSpPr>
        <p:spPr>
          <a:xfrm>
            <a:off x="7132320" y="1965960"/>
            <a:ext cx="2743200" cy="50292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Motivations</a:t>
            </a:r>
            <a:endParaRPr lang="en-US" sz="1700" dirty="0"/>
          </a:p>
        </p:txBody>
      </p:sp>
      <p:sp>
        <p:nvSpPr>
          <p:cNvPr id="16" name="Text 14"/>
          <p:cNvSpPr/>
          <p:nvPr/>
        </p:nvSpPr>
        <p:spPr>
          <a:xfrm>
            <a:off x="6492240" y="2606040"/>
            <a:ext cx="4754880" cy="3474720"/>
          </a:xfrm>
          <a:prstGeom prst="rect">
            <a:avLst/>
          </a:prstGeom>
          <a:noFill/>
          <a:ln/>
        </p:spPr>
        <p:txBody>
          <a:bodyPr wrap="square" lIns="0" tIns="0" rIns="0" bIns="0" rtlCol="0" anchor="ctr"/>
          <a:lstStyle/>
          <a:p>
            <a:pPr marL="342900" indent="-342900">
              <a:lnSpc>
                <a:spcPct val="120000"/>
              </a:lnSpc>
              <a:spcAft>
                <a:spcPts val="1200"/>
              </a:spcAft>
              <a:buSzPct val="100000"/>
              <a:buChar char="✦"/>
            </a:pPr>
            <a:r>
              <a:rPr lang="en-US" sz="1300" dirty="0">
                <a:solidFill>
                  <a:srgbClr val="DCE4F5"/>
                </a:solidFill>
                <a:latin typeface="Calibri" pitchFamily="34" charset="0"/>
                <a:ea typeface="Calibri" pitchFamily="34" charset="-122"/>
                <a:cs typeface="Calibri" pitchFamily="34" charset="-120"/>
              </a:rPr>
              <a:t>Financial Independence — build savings into real wealth</a:t>
            </a:r>
            <a:endParaRPr lang="en-US" sz="1300" dirty="0"/>
          </a:p>
          <a:p>
            <a:pPr marL="342900" indent="-342900">
              <a:lnSpc>
                <a:spcPct val="120000"/>
              </a:lnSpc>
              <a:spcAft>
                <a:spcPts val="1200"/>
              </a:spcAft>
              <a:buSzPct val="100000"/>
              <a:buChar char="✦"/>
            </a:pPr>
            <a:r>
              <a:rPr lang="en-US" sz="1300" dirty="0">
                <a:solidFill>
                  <a:srgbClr val="DCE4F5"/>
                </a:solidFill>
                <a:latin typeface="Calibri" pitchFamily="34" charset="0"/>
                <a:ea typeface="Calibri" pitchFamily="34" charset="-122"/>
                <a:cs typeface="Calibri" pitchFamily="34" charset="-120"/>
              </a:rPr>
              <a:t>Trust &amp; Safety — invest through a regulated, credible platform</a:t>
            </a:r>
            <a:endParaRPr lang="en-US" sz="1300" dirty="0"/>
          </a:p>
          <a:p>
            <a:pPr marL="342900" indent="-342900">
              <a:lnSpc>
                <a:spcPct val="120000"/>
              </a:lnSpc>
              <a:spcAft>
                <a:spcPts val="1200"/>
              </a:spcAft>
              <a:buSzPct val="100000"/>
              <a:buChar char="✦"/>
            </a:pPr>
            <a:r>
              <a:rPr lang="en-US" sz="1300" dirty="0">
                <a:solidFill>
                  <a:srgbClr val="DCE4F5"/>
                </a:solidFill>
                <a:latin typeface="Calibri" pitchFamily="34" charset="0"/>
                <a:ea typeface="Calibri" pitchFamily="34" charset="-122"/>
                <a:cs typeface="Calibri" pitchFamily="34" charset="-120"/>
              </a:rPr>
              <a:t>Confidence — feel sure she's not overpaying or missing options</a:t>
            </a:r>
            <a:endParaRPr lang="en-US" sz="1300" dirty="0"/>
          </a:p>
          <a:p>
            <a:pPr marL="342900" indent="-342900">
              <a:lnSpc>
                <a:spcPct val="120000"/>
              </a:lnSpc>
              <a:spcAft>
                <a:spcPts val="1200"/>
              </a:spcAft>
              <a:buSzPct val="100000"/>
              <a:buChar char="✦"/>
            </a:pPr>
            <a:r>
              <a:rPr lang="en-US" sz="1300" dirty="0">
                <a:solidFill>
                  <a:srgbClr val="DCE4F5"/>
                </a:solidFill>
                <a:latin typeface="Calibri" pitchFamily="34" charset="0"/>
                <a:ea typeface="Calibri" pitchFamily="34" charset="-122"/>
                <a:cs typeface="Calibri" pitchFamily="34" charset="-120"/>
              </a:rPr>
              <a:t>Simplicity — avoid feeling out of her depth as a beginner</a:t>
            </a:r>
            <a:endParaRPr lang="en-US" sz="1300" dirty="0"/>
          </a:p>
          <a:p>
            <a:pPr marL="342900" indent="-342900">
              <a:lnSpc>
                <a:spcPct val="120000"/>
              </a:lnSpc>
              <a:spcAft>
                <a:spcPts val="1200"/>
              </a:spcAft>
              <a:buSzPct val="100000"/>
              <a:buChar char="✦"/>
            </a:pPr>
            <a:r>
              <a:rPr lang="en-US" sz="1300" dirty="0">
                <a:solidFill>
                  <a:srgbClr val="DCE4F5"/>
                </a:solidFill>
                <a:latin typeface="Calibri" pitchFamily="34" charset="0"/>
                <a:ea typeface="Calibri" pitchFamily="34" charset="-122"/>
                <a:cs typeface="Calibri" pitchFamily="34" charset="-120"/>
              </a:rPr>
              <a:t>Long-Term Growth — build a habit of consistent investing</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1D3B"/>
        </a:solidFill>
        <a:effectLst/>
      </p:bgPr>
    </p:bg>
    <p:spTree>
      <p:nvGrpSpPr>
        <p:cNvPr id="1" name=""/>
        <p:cNvGrpSpPr/>
        <p:nvPr/>
      </p:nvGrpSpPr>
      <p:grpSpPr>
        <a:xfrm>
          <a:off x="0" y="0"/>
          <a:ext cx="0" cy="0"/>
          <a:chOff x="0" y="0"/>
          <a:chExt cx="0" cy="0"/>
        </a:xfrm>
      </p:grpSpPr>
      <p:sp>
        <p:nvSpPr>
          <p:cNvPr id="2" name="Text 0"/>
          <p:cNvSpPr/>
          <p:nvPr/>
        </p:nvSpPr>
        <p:spPr>
          <a:xfrm>
            <a:off x="457200" y="256032"/>
            <a:ext cx="4572000" cy="320040"/>
          </a:xfrm>
          <a:prstGeom prst="rect">
            <a:avLst/>
          </a:prstGeom>
          <a:noFill/>
          <a:ln/>
        </p:spPr>
        <p:txBody>
          <a:bodyPr wrap="square" lIns="0" tIns="0" rIns="0" bIns="0" rtlCol="0" anchor="ctr"/>
          <a:lstStyle/>
          <a:p>
            <a:pPr marL="0" indent="0">
              <a:buNone/>
            </a:pPr>
            <a:r>
              <a:rPr lang="en-US" sz="1100" b="1" dirty="0">
                <a:solidFill>
                  <a:srgbClr val="132A52"/>
                </a:solidFill>
                <a:latin typeface="Calibri" pitchFamily="34" charset="0"/>
                <a:ea typeface="Calibri" pitchFamily="34" charset="-122"/>
                <a:cs typeface="Calibri" pitchFamily="34" charset="-120"/>
              </a:rPr>
              <a:t>Angel One</a:t>
            </a:r>
            <a:endParaRPr lang="en-US" sz="1100" dirty="0"/>
          </a:p>
        </p:txBody>
      </p:sp>
      <p:sp>
        <p:nvSpPr>
          <p:cNvPr id="3" name="Text 1"/>
          <p:cNvSpPr/>
          <p:nvPr/>
        </p:nvSpPr>
        <p:spPr>
          <a:xfrm>
            <a:off x="7132320" y="256032"/>
            <a:ext cx="4572000" cy="320040"/>
          </a:xfrm>
          <a:prstGeom prst="rect">
            <a:avLst/>
          </a:prstGeom>
          <a:noFill/>
          <a:ln/>
        </p:spPr>
        <p:txBody>
          <a:bodyPr wrap="square" lIns="0" tIns="0" rIns="0" bIns="0" rtlCol="0" anchor="ctr"/>
          <a:lstStyle/>
          <a:p>
            <a:pPr marL="0" indent="0" algn="r">
              <a:buNone/>
            </a:pPr>
            <a:r>
              <a:rPr lang="en-US" sz="1100" dirty="0">
                <a:solidFill>
                  <a:srgbClr val="5B6B85"/>
                </a:solidFill>
                <a:latin typeface="Calibri" pitchFamily="34" charset="0"/>
                <a:ea typeface="Calibri" pitchFamily="34" charset="-122"/>
                <a:cs typeface="Calibri" pitchFamily="34" charset="-120"/>
              </a:rPr>
              <a:t>UX Research &amp; Analysis</a:t>
            </a:r>
            <a:endParaRPr lang="en-US" sz="1100" dirty="0"/>
          </a:p>
        </p:txBody>
      </p:sp>
      <p:sp>
        <p:nvSpPr>
          <p:cNvPr id="4" name="Shape 2"/>
          <p:cNvSpPr/>
          <p:nvPr/>
        </p:nvSpPr>
        <p:spPr>
          <a:xfrm>
            <a:off x="0" y="0"/>
            <a:ext cx="12188952" cy="822960"/>
          </a:xfrm>
          <a:prstGeom prst="rect">
            <a:avLst/>
          </a:prstGeom>
          <a:solidFill>
            <a:srgbClr val="0C1D3B"/>
          </a:solidFill>
          <a:ln/>
        </p:spPr>
      </p:sp>
      <p:sp>
        <p:nvSpPr>
          <p:cNvPr id="5" name="Text 3"/>
          <p:cNvSpPr/>
          <p:nvPr/>
        </p:nvSpPr>
        <p:spPr>
          <a:xfrm>
            <a:off x="457200" y="256032"/>
            <a:ext cx="4572000" cy="320040"/>
          </a:xfrm>
          <a:prstGeom prst="rect">
            <a:avLst/>
          </a:prstGeom>
          <a:noFill/>
          <a:ln/>
        </p:spPr>
        <p:txBody>
          <a:bodyPr wrap="square" lIns="0" tIns="0" rIns="0" bIns="0" rtlCol="0" anchor="ctr"/>
          <a:lstStyle/>
          <a:p>
            <a:pPr marL="0" indent="0">
              <a:buNone/>
            </a:pPr>
            <a:r>
              <a:rPr lang="en-US" sz="1100" b="1" dirty="0">
                <a:solidFill>
                  <a:srgbClr val="AEB9CF"/>
                </a:solidFill>
                <a:latin typeface="Calibri" pitchFamily="34" charset="0"/>
                <a:ea typeface="Calibri" pitchFamily="34" charset="-122"/>
                <a:cs typeface="Calibri" pitchFamily="34" charset="-120"/>
              </a:rPr>
              <a:t>Angel One</a:t>
            </a:r>
            <a:endParaRPr lang="en-US" sz="1100" dirty="0"/>
          </a:p>
        </p:txBody>
      </p:sp>
      <p:sp>
        <p:nvSpPr>
          <p:cNvPr id="6" name="Text 4"/>
          <p:cNvSpPr/>
          <p:nvPr/>
        </p:nvSpPr>
        <p:spPr>
          <a:xfrm>
            <a:off x="7132320" y="256032"/>
            <a:ext cx="4572000" cy="320040"/>
          </a:xfrm>
          <a:prstGeom prst="rect">
            <a:avLst/>
          </a:prstGeom>
          <a:noFill/>
          <a:ln/>
        </p:spPr>
        <p:txBody>
          <a:bodyPr wrap="square" lIns="0" tIns="0" rIns="0" bIns="0" rtlCol="0" anchor="ctr"/>
          <a:lstStyle/>
          <a:p>
            <a:pPr marL="0" indent="0" algn="r">
              <a:buNone/>
            </a:pPr>
            <a:r>
              <a:rPr lang="en-US" sz="1100" dirty="0">
                <a:solidFill>
                  <a:srgbClr val="AEB9CF"/>
                </a:solidFill>
                <a:latin typeface="Calibri" pitchFamily="34" charset="0"/>
                <a:ea typeface="Calibri" pitchFamily="34" charset="-122"/>
                <a:cs typeface="Calibri" pitchFamily="34" charset="-120"/>
              </a:rPr>
              <a:t>UX Research &amp; Analysis</a:t>
            </a:r>
            <a:endParaRPr lang="en-US" sz="1100" dirty="0"/>
          </a:p>
        </p:txBody>
      </p:sp>
      <p:sp>
        <p:nvSpPr>
          <p:cNvPr id="7" name="Text 5"/>
          <p:cNvSpPr/>
          <p:nvPr/>
        </p:nvSpPr>
        <p:spPr>
          <a:xfrm>
            <a:off x="640080" y="868680"/>
            <a:ext cx="7315200" cy="640080"/>
          </a:xfrm>
          <a:prstGeom prst="rect">
            <a:avLst/>
          </a:prstGeom>
          <a:noFill/>
          <a:ln/>
        </p:spPr>
        <p:txBody>
          <a:bodyPr wrap="square" lIns="0" tIns="0" rIns="0" bIns="0" rtlCol="0" anchor="ctr"/>
          <a:lstStyle/>
          <a:p>
            <a:pPr marL="0" indent="0">
              <a:buNone/>
            </a:pPr>
            <a:r>
              <a:rPr lang="en-US" sz="3200" b="1" dirty="0">
                <a:solidFill>
                  <a:srgbClr val="FFFFFF"/>
                </a:solidFill>
                <a:latin typeface="Century Schoolbook" pitchFamily="34" charset="0"/>
                <a:ea typeface="Century Schoolbook" pitchFamily="34" charset="-122"/>
                <a:cs typeface="Century Schoolbook" pitchFamily="34" charset="-120"/>
              </a:rPr>
              <a:t>Pain Points</a:t>
            </a:r>
            <a:endParaRPr lang="en-US" sz="3200" dirty="0"/>
          </a:p>
        </p:txBody>
      </p:sp>
      <p:sp>
        <p:nvSpPr>
          <p:cNvPr id="8" name="Shape 6"/>
          <p:cNvSpPr/>
          <p:nvPr/>
        </p:nvSpPr>
        <p:spPr>
          <a:xfrm>
            <a:off x="640080" y="1737360"/>
            <a:ext cx="5257800" cy="914400"/>
          </a:xfrm>
          <a:prstGeom prst="roundRect">
            <a:avLst>
              <a:gd name="adj" fmla="val 8000"/>
            </a:avLst>
          </a:prstGeom>
          <a:solidFill>
            <a:srgbClr val="132A52"/>
          </a:solidFill>
          <a:ln/>
        </p:spPr>
      </p:sp>
      <p:sp>
        <p:nvSpPr>
          <p:cNvPr id="9" name="Text 7"/>
          <p:cNvSpPr/>
          <p:nvPr/>
        </p:nvSpPr>
        <p:spPr>
          <a:xfrm>
            <a:off x="777240" y="1737360"/>
            <a:ext cx="457200" cy="914400"/>
          </a:xfrm>
          <a:prstGeom prst="rect">
            <a:avLst/>
          </a:prstGeom>
          <a:noFill/>
          <a:ln/>
        </p:spPr>
        <p:txBody>
          <a:bodyPr wrap="square" lIns="0" tIns="0" rIns="0" bIns="0" rtlCol="0" anchor="ctr"/>
          <a:lstStyle/>
          <a:p>
            <a:pPr marL="0" indent="0">
              <a:buNone/>
            </a:pPr>
            <a:r>
              <a:rPr lang="en-US" sz="1600" dirty="0">
                <a:solidFill>
                  <a:srgbClr val="FF6A2B"/>
                </a:solidFill>
              </a:rPr>
              <a:t>⚠</a:t>
            </a:r>
            <a:endParaRPr lang="en-US" sz="1600" dirty="0"/>
          </a:p>
        </p:txBody>
      </p:sp>
      <p:sp>
        <p:nvSpPr>
          <p:cNvPr id="10" name="Text 8"/>
          <p:cNvSpPr/>
          <p:nvPr/>
        </p:nvSpPr>
        <p:spPr>
          <a:xfrm>
            <a:off x="1234440" y="1737360"/>
            <a:ext cx="4526280" cy="914400"/>
          </a:xfrm>
          <a:prstGeom prst="rect">
            <a:avLst/>
          </a:prstGeom>
          <a:noFill/>
          <a:ln/>
        </p:spPr>
        <p:txBody>
          <a:bodyPr wrap="square" lIns="0" tIns="0" rIns="0" bIns="0" rtlCol="0" anchor="ctr"/>
          <a:lstStyle/>
          <a:p>
            <a:pPr marL="0" indent="0">
              <a:lnSpc>
                <a:spcPct val="110000"/>
              </a:lnSpc>
              <a:buNone/>
            </a:pPr>
            <a:r>
              <a:rPr lang="en-US" sz="1080" dirty="0">
                <a:solidFill>
                  <a:srgbClr val="E4E9F5"/>
                </a:solidFill>
                <a:latin typeface="Calibri" pitchFamily="34" charset="0"/>
                <a:ea typeface="Calibri" pitchFamily="34" charset="-122"/>
                <a:cs typeface="Calibri" pitchFamily="34" charset="-120"/>
              </a:rPr>
              <a:t>Two competing top actions — open an account vs. download the app — pull focus in different directions</a:t>
            </a:r>
            <a:endParaRPr lang="en-US" sz="1080" dirty="0"/>
          </a:p>
        </p:txBody>
      </p:sp>
      <p:sp>
        <p:nvSpPr>
          <p:cNvPr id="11" name="Shape 9"/>
          <p:cNvSpPr/>
          <p:nvPr/>
        </p:nvSpPr>
        <p:spPr>
          <a:xfrm>
            <a:off x="640080" y="2788920"/>
            <a:ext cx="5257800" cy="914400"/>
          </a:xfrm>
          <a:prstGeom prst="roundRect">
            <a:avLst>
              <a:gd name="adj" fmla="val 8000"/>
            </a:avLst>
          </a:prstGeom>
          <a:solidFill>
            <a:srgbClr val="132A52"/>
          </a:solidFill>
          <a:ln/>
        </p:spPr>
      </p:sp>
      <p:sp>
        <p:nvSpPr>
          <p:cNvPr id="12" name="Text 10"/>
          <p:cNvSpPr/>
          <p:nvPr/>
        </p:nvSpPr>
        <p:spPr>
          <a:xfrm>
            <a:off x="777240" y="2788920"/>
            <a:ext cx="457200" cy="914400"/>
          </a:xfrm>
          <a:prstGeom prst="rect">
            <a:avLst/>
          </a:prstGeom>
          <a:noFill/>
          <a:ln/>
        </p:spPr>
        <p:txBody>
          <a:bodyPr wrap="square" lIns="0" tIns="0" rIns="0" bIns="0" rtlCol="0" anchor="ctr"/>
          <a:lstStyle/>
          <a:p>
            <a:pPr marL="0" indent="0">
              <a:buNone/>
            </a:pPr>
            <a:r>
              <a:rPr lang="en-US" sz="1600" dirty="0">
                <a:solidFill>
                  <a:srgbClr val="FF6A2B"/>
                </a:solidFill>
              </a:rPr>
              <a:t>⚠</a:t>
            </a:r>
            <a:endParaRPr lang="en-US" sz="1600" dirty="0"/>
          </a:p>
        </p:txBody>
      </p:sp>
      <p:sp>
        <p:nvSpPr>
          <p:cNvPr id="13" name="Text 11"/>
          <p:cNvSpPr/>
          <p:nvPr/>
        </p:nvSpPr>
        <p:spPr>
          <a:xfrm>
            <a:off x="1234440" y="2788920"/>
            <a:ext cx="4526280" cy="914400"/>
          </a:xfrm>
          <a:prstGeom prst="rect">
            <a:avLst/>
          </a:prstGeom>
          <a:noFill/>
          <a:ln/>
        </p:spPr>
        <p:txBody>
          <a:bodyPr wrap="square" lIns="0" tIns="0" rIns="0" bIns="0" rtlCol="0" anchor="ctr"/>
          <a:lstStyle/>
          <a:p>
            <a:pPr marL="0" indent="0">
              <a:lnSpc>
                <a:spcPct val="110000"/>
              </a:lnSpc>
              <a:buNone/>
            </a:pPr>
            <a:r>
              <a:rPr lang="en-US" sz="1080" dirty="0">
                <a:solidFill>
                  <a:srgbClr val="E4E9F5"/>
                </a:solidFill>
                <a:latin typeface="Calibri" pitchFamily="34" charset="0"/>
                <a:ea typeface="Calibri" pitchFamily="34" charset="-122"/>
                <a:cs typeface="Calibri" pitchFamily="34" charset="-120"/>
              </a:rPr>
              <a:t>Brokerage &amp; pricing details are spread across several separate pages</a:t>
            </a:r>
            <a:endParaRPr lang="en-US" sz="1080" dirty="0"/>
          </a:p>
        </p:txBody>
      </p:sp>
      <p:sp>
        <p:nvSpPr>
          <p:cNvPr id="14" name="Shape 12"/>
          <p:cNvSpPr/>
          <p:nvPr/>
        </p:nvSpPr>
        <p:spPr>
          <a:xfrm>
            <a:off x="640080" y="3840480"/>
            <a:ext cx="5257800" cy="914400"/>
          </a:xfrm>
          <a:prstGeom prst="roundRect">
            <a:avLst>
              <a:gd name="adj" fmla="val 8000"/>
            </a:avLst>
          </a:prstGeom>
          <a:solidFill>
            <a:srgbClr val="132A52"/>
          </a:solidFill>
          <a:ln/>
        </p:spPr>
      </p:sp>
      <p:sp>
        <p:nvSpPr>
          <p:cNvPr id="15" name="Text 13"/>
          <p:cNvSpPr/>
          <p:nvPr/>
        </p:nvSpPr>
        <p:spPr>
          <a:xfrm>
            <a:off x="777240" y="3840480"/>
            <a:ext cx="457200" cy="914400"/>
          </a:xfrm>
          <a:prstGeom prst="rect">
            <a:avLst/>
          </a:prstGeom>
          <a:noFill/>
          <a:ln/>
        </p:spPr>
        <p:txBody>
          <a:bodyPr wrap="square" lIns="0" tIns="0" rIns="0" bIns="0" rtlCol="0" anchor="ctr"/>
          <a:lstStyle/>
          <a:p>
            <a:pPr marL="0" indent="0">
              <a:buNone/>
            </a:pPr>
            <a:r>
              <a:rPr lang="en-US" sz="1600" dirty="0">
                <a:solidFill>
                  <a:srgbClr val="FF6A2B"/>
                </a:solidFill>
              </a:rPr>
              <a:t>⚠</a:t>
            </a:r>
            <a:endParaRPr lang="en-US" sz="1600" dirty="0"/>
          </a:p>
        </p:txBody>
      </p:sp>
      <p:sp>
        <p:nvSpPr>
          <p:cNvPr id="16" name="Text 14"/>
          <p:cNvSpPr/>
          <p:nvPr/>
        </p:nvSpPr>
        <p:spPr>
          <a:xfrm>
            <a:off x="1234440" y="3840480"/>
            <a:ext cx="4526280" cy="914400"/>
          </a:xfrm>
          <a:prstGeom prst="rect">
            <a:avLst/>
          </a:prstGeom>
          <a:noFill/>
          <a:ln/>
        </p:spPr>
        <p:txBody>
          <a:bodyPr wrap="square" lIns="0" tIns="0" rIns="0" bIns="0" rtlCol="0" anchor="ctr"/>
          <a:lstStyle/>
          <a:p>
            <a:pPr marL="0" indent="0">
              <a:lnSpc>
                <a:spcPct val="110000"/>
              </a:lnSpc>
              <a:buNone/>
            </a:pPr>
            <a:r>
              <a:rPr lang="en-US" sz="1080" dirty="0">
                <a:solidFill>
                  <a:srgbClr val="E4E9F5"/>
                </a:solidFill>
                <a:latin typeface="Calibri" pitchFamily="34" charset="0"/>
                <a:ea typeface="Calibri" pitchFamily="34" charset="-122"/>
                <a:cs typeface="Calibri" pitchFamily="34" charset="-120"/>
              </a:rPr>
              <a:t>No visible contrast or text-size accessibility controls anywhere on the site</a:t>
            </a:r>
            <a:endParaRPr lang="en-US" sz="1080" dirty="0"/>
          </a:p>
        </p:txBody>
      </p:sp>
      <p:sp>
        <p:nvSpPr>
          <p:cNvPr id="17" name="Shape 15"/>
          <p:cNvSpPr/>
          <p:nvPr/>
        </p:nvSpPr>
        <p:spPr>
          <a:xfrm>
            <a:off x="640080" y="4892040"/>
            <a:ext cx="5257800" cy="914400"/>
          </a:xfrm>
          <a:prstGeom prst="roundRect">
            <a:avLst>
              <a:gd name="adj" fmla="val 8000"/>
            </a:avLst>
          </a:prstGeom>
          <a:solidFill>
            <a:srgbClr val="132A52"/>
          </a:solidFill>
          <a:ln/>
        </p:spPr>
      </p:sp>
      <p:sp>
        <p:nvSpPr>
          <p:cNvPr id="18" name="Text 16"/>
          <p:cNvSpPr/>
          <p:nvPr/>
        </p:nvSpPr>
        <p:spPr>
          <a:xfrm>
            <a:off x="777240" y="4892040"/>
            <a:ext cx="457200" cy="914400"/>
          </a:xfrm>
          <a:prstGeom prst="rect">
            <a:avLst/>
          </a:prstGeom>
          <a:noFill/>
          <a:ln/>
        </p:spPr>
        <p:txBody>
          <a:bodyPr wrap="square" lIns="0" tIns="0" rIns="0" bIns="0" rtlCol="0" anchor="ctr"/>
          <a:lstStyle/>
          <a:p>
            <a:pPr marL="0" indent="0">
              <a:buNone/>
            </a:pPr>
            <a:r>
              <a:rPr lang="en-US" sz="1600" dirty="0">
                <a:solidFill>
                  <a:srgbClr val="FF6A2B"/>
                </a:solidFill>
              </a:rPr>
              <a:t>⚠</a:t>
            </a:r>
            <a:endParaRPr lang="en-US" sz="1600" dirty="0"/>
          </a:p>
        </p:txBody>
      </p:sp>
      <p:sp>
        <p:nvSpPr>
          <p:cNvPr id="19" name="Text 17"/>
          <p:cNvSpPr/>
          <p:nvPr/>
        </p:nvSpPr>
        <p:spPr>
          <a:xfrm>
            <a:off x="1234440" y="4892040"/>
            <a:ext cx="4526280" cy="914400"/>
          </a:xfrm>
          <a:prstGeom prst="rect">
            <a:avLst/>
          </a:prstGeom>
          <a:noFill/>
          <a:ln/>
        </p:spPr>
        <p:txBody>
          <a:bodyPr wrap="square" lIns="0" tIns="0" rIns="0" bIns="0" rtlCol="0" anchor="ctr"/>
          <a:lstStyle/>
          <a:p>
            <a:pPr marL="0" indent="0">
              <a:lnSpc>
                <a:spcPct val="110000"/>
              </a:lnSpc>
              <a:buNone/>
            </a:pPr>
            <a:r>
              <a:rPr lang="en-US" sz="1080" dirty="0">
                <a:solidFill>
                  <a:srgbClr val="E4E9F5"/>
                </a:solidFill>
                <a:latin typeface="Calibri" pitchFamily="34" charset="0"/>
                <a:ea typeface="Calibri" pitchFamily="34" charset="-122"/>
                <a:cs typeface="Calibri" pitchFamily="34" charset="-120"/>
              </a:rPr>
              <a:t>F&amp;O and options tools assume the visitor already knows trading terminology</a:t>
            </a:r>
            <a:endParaRPr lang="en-US" sz="1080" dirty="0"/>
          </a:p>
        </p:txBody>
      </p:sp>
      <p:sp>
        <p:nvSpPr>
          <p:cNvPr id="20" name="Shape 18"/>
          <p:cNvSpPr/>
          <p:nvPr/>
        </p:nvSpPr>
        <p:spPr>
          <a:xfrm>
            <a:off x="6309360" y="1737360"/>
            <a:ext cx="5257800" cy="914400"/>
          </a:xfrm>
          <a:prstGeom prst="roundRect">
            <a:avLst>
              <a:gd name="adj" fmla="val 8000"/>
            </a:avLst>
          </a:prstGeom>
          <a:solidFill>
            <a:srgbClr val="132A52"/>
          </a:solidFill>
          <a:ln/>
        </p:spPr>
      </p:sp>
      <p:sp>
        <p:nvSpPr>
          <p:cNvPr id="21" name="Text 19"/>
          <p:cNvSpPr/>
          <p:nvPr/>
        </p:nvSpPr>
        <p:spPr>
          <a:xfrm>
            <a:off x="6446520" y="1737360"/>
            <a:ext cx="457200" cy="914400"/>
          </a:xfrm>
          <a:prstGeom prst="rect">
            <a:avLst/>
          </a:prstGeom>
          <a:noFill/>
          <a:ln/>
        </p:spPr>
        <p:txBody>
          <a:bodyPr wrap="square" lIns="0" tIns="0" rIns="0" bIns="0" rtlCol="0" anchor="ctr"/>
          <a:lstStyle/>
          <a:p>
            <a:pPr marL="0" indent="0">
              <a:buNone/>
            </a:pPr>
            <a:r>
              <a:rPr lang="en-US" sz="1600" dirty="0">
                <a:solidFill>
                  <a:srgbClr val="FF6A2B"/>
                </a:solidFill>
              </a:rPr>
              <a:t>⚠</a:t>
            </a:r>
            <a:endParaRPr lang="en-US" sz="1600" dirty="0"/>
          </a:p>
        </p:txBody>
      </p:sp>
      <p:sp>
        <p:nvSpPr>
          <p:cNvPr id="22" name="Text 20"/>
          <p:cNvSpPr/>
          <p:nvPr/>
        </p:nvSpPr>
        <p:spPr>
          <a:xfrm>
            <a:off x="6903720" y="1737360"/>
            <a:ext cx="4526280" cy="914400"/>
          </a:xfrm>
          <a:prstGeom prst="rect">
            <a:avLst/>
          </a:prstGeom>
          <a:noFill/>
          <a:ln/>
        </p:spPr>
        <p:txBody>
          <a:bodyPr wrap="square" lIns="0" tIns="0" rIns="0" bIns="0" rtlCol="0" anchor="ctr"/>
          <a:lstStyle/>
          <a:p>
            <a:pPr marL="0" indent="0">
              <a:lnSpc>
                <a:spcPct val="110000"/>
              </a:lnSpc>
              <a:buNone/>
            </a:pPr>
            <a:r>
              <a:rPr lang="en-US" sz="1080" dirty="0">
                <a:solidFill>
                  <a:srgbClr val="E4E9F5"/>
                </a:solidFill>
                <a:latin typeface="Calibri" pitchFamily="34" charset="0"/>
                <a:ea typeface="Calibri" pitchFamily="34" charset="-122"/>
                <a:cs typeface="Calibri" pitchFamily="34" charset="-120"/>
              </a:rPr>
              <a:t>The trading app/dashboard looks and feels sharply different from the marketing website</a:t>
            </a:r>
            <a:endParaRPr lang="en-US" sz="1080" dirty="0"/>
          </a:p>
        </p:txBody>
      </p:sp>
      <p:sp>
        <p:nvSpPr>
          <p:cNvPr id="23" name="Shape 21"/>
          <p:cNvSpPr/>
          <p:nvPr/>
        </p:nvSpPr>
        <p:spPr>
          <a:xfrm>
            <a:off x="6309360" y="2788920"/>
            <a:ext cx="5257800" cy="914400"/>
          </a:xfrm>
          <a:prstGeom prst="roundRect">
            <a:avLst>
              <a:gd name="adj" fmla="val 8000"/>
            </a:avLst>
          </a:prstGeom>
          <a:solidFill>
            <a:srgbClr val="132A52"/>
          </a:solidFill>
          <a:ln/>
        </p:spPr>
      </p:sp>
      <p:sp>
        <p:nvSpPr>
          <p:cNvPr id="24" name="Text 22"/>
          <p:cNvSpPr/>
          <p:nvPr/>
        </p:nvSpPr>
        <p:spPr>
          <a:xfrm>
            <a:off x="6446520" y="2788920"/>
            <a:ext cx="457200" cy="914400"/>
          </a:xfrm>
          <a:prstGeom prst="rect">
            <a:avLst/>
          </a:prstGeom>
          <a:noFill/>
          <a:ln/>
        </p:spPr>
        <p:txBody>
          <a:bodyPr wrap="square" lIns="0" tIns="0" rIns="0" bIns="0" rtlCol="0" anchor="ctr"/>
          <a:lstStyle/>
          <a:p>
            <a:pPr marL="0" indent="0">
              <a:buNone/>
            </a:pPr>
            <a:r>
              <a:rPr lang="en-US" sz="1600" dirty="0">
                <a:solidFill>
                  <a:srgbClr val="FF6A2B"/>
                </a:solidFill>
              </a:rPr>
              <a:t>⚠</a:t>
            </a:r>
            <a:endParaRPr lang="en-US" sz="1600" dirty="0"/>
          </a:p>
        </p:txBody>
      </p:sp>
      <p:sp>
        <p:nvSpPr>
          <p:cNvPr id="25" name="Text 23"/>
          <p:cNvSpPr/>
          <p:nvPr/>
        </p:nvSpPr>
        <p:spPr>
          <a:xfrm>
            <a:off x="6903720" y="2788920"/>
            <a:ext cx="4526280" cy="914400"/>
          </a:xfrm>
          <a:prstGeom prst="rect">
            <a:avLst/>
          </a:prstGeom>
          <a:noFill/>
          <a:ln/>
        </p:spPr>
        <p:txBody>
          <a:bodyPr wrap="square" lIns="0" tIns="0" rIns="0" bIns="0" rtlCol="0" anchor="ctr"/>
          <a:lstStyle/>
          <a:p>
            <a:pPr marL="0" indent="0">
              <a:lnSpc>
                <a:spcPct val="110000"/>
              </a:lnSpc>
              <a:buNone/>
            </a:pPr>
            <a:r>
              <a:rPr lang="en-US" sz="1080" dirty="0">
                <a:solidFill>
                  <a:srgbClr val="E4E9F5"/>
                </a:solidFill>
                <a:latin typeface="Calibri" pitchFamily="34" charset="0"/>
                <a:ea typeface="Calibri" pitchFamily="34" charset="-122"/>
                <a:cs typeface="Calibri" pitchFamily="34" charset="-120"/>
              </a:rPr>
              <a:t>No role-based entry point for first-time investors vs. active traders</a:t>
            </a:r>
            <a:endParaRPr lang="en-US" sz="1080" dirty="0"/>
          </a:p>
        </p:txBody>
      </p:sp>
      <p:sp>
        <p:nvSpPr>
          <p:cNvPr id="26" name="Shape 24"/>
          <p:cNvSpPr/>
          <p:nvPr/>
        </p:nvSpPr>
        <p:spPr>
          <a:xfrm>
            <a:off x="6309360" y="3840480"/>
            <a:ext cx="5257800" cy="914400"/>
          </a:xfrm>
          <a:prstGeom prst="roundRect">
            <a:avLst>
              <a:gd name="adj" fmla="val 8000"/>
            </a:avLst>
          </a:prstGeom>
          <a:solidFill>
            <a:srgbClr val="132A52"/>
          </a:solidFill>
          <a:ln/>
        </p:spPr>
      </p:sp>
      <p:sp>
        <p:nvSpPr>
          <p:cNvPr id="27" name="Text 25"/>
          <p:cNvSpPr/>
          <p:nvPr/>
        </p:nvSpPr>
        <p:spPr>
          <a:xfrm>
            <a:off x="6446520" y="3840480"/>
            <a:ext cx="457200" cy="914400"/>
          </a:xfrm>
          <a:prstGeom prst="rect">
            <a:avLst/>
          </a:prstGeom>
          <a:noFill/>
          <a:ln/>
        </p:spPr>
        <p:txBody>
          <a:bodyPr wrap="square" lIns="0" tIns="0" rIns="0" bIns="0" rtlCol="0" anchor="ctr"/>
          <a:lstStyle/>
          <a:p>
            <a:pPr marL="0" indent="0">
              <a:buNone/>
            </a:pPr>
            <a:r>
              <a:rPr lang="en-US" sz="1600" dirty="0">
                <a:solidFill>
                  <a:srgbClr val="FF6A2B"/>
                </a:solidFill>
              </a:rPr>
              <a:t>⚠</a:t>
            </a:r>
            <a:endParaRPr lang="en-US" sz="1600" dirty="0"/>
          </a:p>
        </p:txBody>
      </p:sp>
      <p:sp>
        <p:nvSpPr>
          <p:cNvPr id="28" name="Text 26"/>
          <p:cNvSpPr/>
          <p:nvPr/>
        </p:nvSpPr>
        <p:spPr>
          <a:xfrm>
            <a:off x="6903720" y="3840480"/>
            <a:ext cx="4526280" cy="914400"/>
          </a:xfrm>
          <a:prstGeom prst="rect">
            <a:avLst/>
          </a:prstGeom>
          <a:noFill/>
          <a:ln/>
        </p:spPr>
        <p:txBody>
          <a:bodyPr wrap="square" lIns="0" tIns="0" rIns="0" bIns="0" rtlCol="0" anchor="ctr"/>
          <a:lstStyle/>
          <a:p>
            <a:pPr marL="0" indent="0">
              <a:lnSpc>
                <a:spcPct val="110000"/>
              </a:lnSpc>
              <a:buNone/>
            </a:pPr>
            <a:r>
              <a:rPr lang="en-US" sz="1080" dirty="0">
                <a:solidFill>
                  <a:srgbClr val="E4E9F5"/>
                </a:solidFill>
                <a:latin typeface="Calibri" pitchFamily="34" charset="0"/>
                <a:ea typeface="Calibri" pitchFamily="34" charset="-122"/>
                <a:cs typeface="Calibri" pitchFamily="34" charset="-120"/>
              </a:rPr>
              <a:t>Heavy promotional content appears before comparison information</a:t>
            </a:r>
            <a:endParaRPr lang="en-US" sz="1080" dirty="0"/>
          </a:p>
        </p:txBody>
      </p:sp>
      <p:sp>
        <p:nvSpPr>
          <p:cNvPr id="29" name="Shape 27"/>
          <p:cNvSpPr/>
          <p:nvPr/>
        </p:nvSpPr>
        <p:spPr>
          <a:xfrm>
            <a:off x="6309360" y="4892040"/>
            <a:ext cx="5257800" cy="914400"/>
          </a:xfrm>
          <a:prstGeom prst="roundRect">
            <a:avLst>
              <a:gd name="adj" fmla="val 8000"/>
            </a:avLst>
          </a:prstGeom>
          <a:solidFill>
            <a:srgbClr val="132A52"/>
          </a:solidFill>
          <a:ln/>
        </p:spPr>
      </p:sp>
      <p:sp>
        <p:nvSpPr>
          <p:cNvPr id="30" name="Text 28"/>
          <p:cNvSpPr/>
          <p:nvPr/>
        </p:nvSpPr>
        <p:spPr>
          <a:xfrm>
            <a:off x="6446520" y="4892040"/>
            <a:ext cx="457200" cy="914400"/>
          </a:xfrm>
          <a:prstGeom prst="rect">
            <a:avLst/>
          </a:prstGeom>
          <a:noFill/>
          <a:ln/>
        </p:spPr>
        <p:txBody>
          <a:bodyPr wrap="square" lIns="0" tIns="0" rIns="0" bIns="0" rtlCol="0" anchor="ctr"/>
          <a:lstStyle/>
          <a:p>
            <a:pPr marL="0" indent="0">
              <a:buNone/>
            </a:pPr>
            <a:r>
              <a:rPr lang="en-US" sz="1600" dirty="0">
                <a:solidFill>
                  <a:srgbClr val="FF6A2B"/>
                </a:solidFill>
              </a:rPr>
              <a:t>⚠</a:t>
            </a:r>
            <a:endParaRPr lang="en-US" sz="1600" dirty="0"/>
          </a:p>
        </p:txBody>
      </p:sp>
      <p:sp>
        <p:nvSpPr>
          <p:cNvPr id="31" name="Text 29"/>
          <p:cNvSpPr/>
          <p:nvPr/>
        </p:nvSpPr>
        <p:spPr>
          <a:xfrm>
            <a:off x="6903720" y="4892040"/>
            <a:ext cx="4526280" cy="914400"/>
          </a:xfrm>
          <a:prstGeom prst="rect">
            <a:avLst/>
          </a:prstGeom>
          <a:noFill/>
          <a:ln/>
        </p:spPr>
        <p:txBody>
          <a:bodyPr wrap="square" lIns="0" tIns="0" rIns="0" bIns="0" rtlCol="0" anchor="ctr"/>
          <a:lstStyle/>
          <a:p>
            <a:pPr marL="0" indent="0">
              <a:lnSpc>
                <a:spcPct val="110000"/>
              </a:lnSpc>
              <a:buNone/>
            </a:pPr>
            <a:r>
              <a:rPr lang="en-US" sz="1080" dirty="0">
                <a:solidFill>
                  <a:srgbClr val="E4E9F5"/>
                </a:solidFill>
                <a:latin typeface="Calibri" pitchFamily="34" charset="0"/>
                <a:ea typeface="Calibri" pitchFamily="34" charset="-122"/>
                <a:cs typeface="Calibri" pitchFamily="34" charset="-120"/>
              </a:rPr>
              <a:t>Search is not equally prominent or consistent across marketing pages</a:t>
            </a:r>
            <a:endParaRPr lang="en-US" sz="10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4572000" cy="320040"/>
          </a:xfrm>
          <a:prstGeom prst="rect">
            <a:avLst/>
          </a:prstGeom>
          <a:noFill/>
          <a:ln/>
        </p:spPr>
        <p:txBody>
          <a:bodyPr wrap="square" lIns="0" tIns="0" rIns="0" bIns="0" rtlCol="0" anchor="ctr"/>
          <a:lstStyle/>
          <a:p>
            <a:pPr marL="0" indent="0">
              <a:buNone/>
            </a:pPr>
            <a:r>
              <a:rPr lang="en-US" sz="1100" b="1" dirty="0">
                <a:solidFill>
                  <a:srgbClr val="132A52"/>
                </a:solidFill>
                <a:latin typeface="Calibri" pitchFamily="34" charset="0"/>
                <a:ea typeface="Calibri" pitchFamily="34" charset="-122"/>
                <a:cs typeface="Calibri" pitchFamily="34" charset="-120"/>
              </a:rPr>
              <a:t>Angel One</a:t>
            </a:r>
            <a:endParaRPr lang="en-US" sz="1100" dirty="0"/>
          </a:p>
        </p:txBody>
      </p:sp>
      <p:sp>
        <p:nvSpPr>
          <p:cNvPr id="3" name="Text 1"/>
          <p:cNvSpPr/>
          <p:nvPr/>
        </p:nvSpPr>
        <p:spPr>
          <a:xfrm>
            <a:off x="7132320" y="256032"/>
            <a:ext cx="4572000" cy="320040"/>
          </a:xfrm>
          <a:prstGeom prst="rect">
            <a:avLst/>
          </a:prstGeom>
          <a:noFill/>
          <a:ln/>
        </p:spPr>
        <p:txBody>
          <a:bodyPr wrap="square" lIns="0" tIns="0" rIns="0" bIns="0" rtlCol="0" anchor="ctr"/>
          <a:lstStyle/>
          <a:p>
            <a:pPr marL="0" indent="0" algn="r">
              <a:buNone/>
            </a:pPr>
            <a:r>
              <a:rPr lang="en-US" sz="1100" dirty="0">
                <a:solidFill>
                  <a:srgbClr val="5B6B85"/>
                </a:solidFill>
                <a:latin typeface="Calibri" pitchFamily="34" charset="0"/>
                <a:ea typeface="Calibri" pitchFamily="34" charset="-122"/>
                <a:cs typeface="Calibri" pitchFamily="34" charset="-120"/>
              </a:rPr>
              <a:t>UX Research &amp; Interface Analysis</a:t>
            </a:r>
            <a:endParaRPr lang="en-US" sz="1100" dirty="0"/>
          </a:p>
        </p:txBody>
      </p:sp>
      <p:sp>
        <p:nvSpPr>
          <p:cNvPr id="4" name="Shape 2"/>
          <p:cNvSpPr/>
          <p:nvPr/>
        </p:nvSpPr>
        <p:spPr>
          <a:xfrm rot="5400000">
            <a:off x="10881360" y="-548640"/>
            <a:ext cx="2377440" cy="2377440"/>
          </a:xfrm>
          <a:prstGeom prst="triangle">
            <a:avLst/>
          </a:prstGeom>
          <a:solidFill>
            <a:srgbClr val="132A52">
              <a:alpha val="8000"/>
            </a:srgbClr>
          </a:solidFill>
          <a:ln/>
        </p:spPr>
      </p:sp>
      <p:sp>
        <p:nvSpPr>
          <p:cNvPr id="5" name="Shape 3"/>
          <p:cNvSpPr/>
          <p:nvPr/>
        </p:nvSpPr>
        <p:spPr>
          <a:xfrm rot="16200000">
            <a:off x="-640080" y="5760720"/>
            <a:ext cx="2011680" cy="2011680"/>
          </a:xfrm>
          <a:prstGeom prst="triangle">
            <a:avLst/>
          </a:prstGeom>
          <a:solidFill>
            <a:srgbClr val="FF6A2B">
              <a:alpha val="6000"/>
            </a:srgbClr>
          </a:solidFill>
          <a:ln/>
        </p:spPr>
      </p:sp>
      <p:sp>
        <p:nvSpPr>
          <p:cNvPr id="6" name="Text 4"/>
          <p:cNvSpPr/>
          <p:nvPr/>
        </p:nvSpPr>
        <p:spPr>
          <a:xfrm>
            <a:off x="640080" y="822960"/>
            <a:ext cx="7315200" cy="548640"/>
          </a:xfrm>
          <a:prstGeom prst="rect">
            <a:avLst/>
          </a:prstGeom>
          <a:noFill/>
          <a:ln/>
        </p:spPr>
        <p:txBody>
          <a:bodyPr wrap="square" lIns="0" tIns="0" rIns="0" bIns="0" rtlCol="0" anchor="ctr"/>
          <a:lstStyle/>
          <a:p>
            <a:pPr marL="0" indent="0">
              <a:buNone/>
            </a:pPr>
            <a:r>
              <a:rPr lang="en-US" sz="3000" b="1" dirty="0">
                <a:solidFill>
                  <a:srgbClr val="132A52"/>
                </a:solidFill>
                <a:latin typeface="Century Schoolbook" pitchFamily="34" charset="0"/>
                <a:ea typeface="Century Schoolbook" pitchFamily="34" charset="-122"/>
                <a:cs typeface="Century Schoolbook" pitchFamily="34" charset="-120"/>
              </a:rPr>
              <a:t>User Journey</a:t>
            </a:r>
            <a:endParaRPr lang="en-US" sz="3000" dirty="0"/>
          </a:p>
        </p:txBody>
      </p:sp>
      <p:sp>
        <p:nvSpPr>
          <p:cNvPr id="7" name="Shape 5"/>
          <p:cNvSpPr/>
          <p:nvPr/>
        </p:nvSpPr>
        <p:spPr>
          <a:xfrm>
            <a:off x="640080" y="1581912"/>
            <a:ext cx="502920" cy="502920"/>
          </a:xfrm>
          <a:prstGeom prst="ellipse">
            <a:avLst/>
          </a:prstGeom>
          <a:solidFill>
            <a:srgbClr val="132A52"/>
          </a:solidFill>
          <a:ln/>
        </p:spPr>
      </p:sp>
      <p:sp>
        <p:nvSpPr>
          <p:cNvPr id="8" name="Text 6"/>
          <p:cNvSpPr/>
          <p:nvPr/>
        </p:nvSpPr>
        <p:spPr>
          <a:xfrm>
            <a:off x="640080" y="1581912"/>
            <a:ext cx="502920" cy="502920"/>
          </a:xfrm>
          <a:prstGeom prst="rect">
            <a:avLst/>
          </a:prstGeom>
          <a:noFill/>
          <a:ln/>
        </p:spPr>
        <p:txBody>
          <a:bodyPr wrap="square" lIns="0" tIns="0" rIns="0" bIns="0" rtlCol="0" anchor="ctr"/>
          <a:lstStyle/>
          <a:p>
            <a:pPr marL="0" indent="0" algn="ctr">
              <a:buNone/>
            </a:pPr>
            <a:r>
              <a:rPr lang="en-US" sz="1600" dirty="0">
                <a:solidFill>
                  <a:srgbClr val="000000"/>
                </a:solidFill>
              </a:rPr>
              <a:t>①</a:t>
            </a:r>
            <a:endParaRPr lang="en-US" sz="1600" dirty="0"/>
          </a:p>
        </p:txBody>
      </p:sp>
      <p:sp>
        <p:nvSpPr>
          <p:cNvPr id="9" name="Text 7"/>
          <p:cNvSpPr/>
          <p:nvPr/>
        </p:nvSpPr>
        <p:spPr>
          <a:xfrm>
            <a:off x="1325880" y="1508760"/>
            <a:ext cx="2880360" cy="822960"/>
          </a:xfrm>
          <a:prstGeom prst="rect">
            <a:avLst/>
          </a:prstGeom>
          <a:noFill/>
          <a:ln/>
        </p:spPr>
        <p:txBody>
          <a:bodyPr wrap="square" lIns="0" tIns="0" rIns="0" bIns="0" rtlCol="0" anchor="ctr"/>
          <a:lstStyle/>
          <a:p>
            <a:pPr marL="0" indent="0">
              <a:lnSpc>
                <a:spcPct val="110000"/>
              </a:lnSpc>
              <a:buNone/>
            </a:pPr>
            <a:r>
              <a:rPr lang="en-US" sz="1250" b="1" dirty="0">
                <a:solidFill>
                  <a:srgbClr val="132A52"/>
                </a:solidFill>
                <a:latin typeface="Calibri" pitchFamily="34" charset="0"/>
                <a:ea typeface="Calibri" pitchFamily="34" charset="-122"/>
                <a:cs typeface="Calibri" pitchFamily="34" charset="-120"/>
              </a:rPr>
              <a:t>Visits Angel One Website</a:t>
            </a:r>
            <a:endParaRPr lang="en-US" sz="1250" dirty="0"/>
          </a:p>
        </p:txBody>
      </p:sp>
      <p:sp>
        <p:nvSpPr>
          <p:cNvPr id="10" name="Text 8"/>
          <p:cNvSpPr/>
          <p:nvPr/>
        </p:nvSpPr>
        <p:spPr>
          <a:xfrm>
            <a:off x="4343400" y="1508760"/>
            <a:ext cx="2606040" cy="822960"/>
          </a:xfrm>
          <a:prstGeom prst="rect">
            <a:avLst/>
          </a:prstGeom>
          <a:noFill/>
          <a:ln/>
        </p:spPr>
        <p:txBody>
          <a:bodyPr wrap="square" lIns="0" tIns="0" rIns="0" bIns="0" rtlCol="0" anchor="ctr"/>
          <a:lstStyle/>
          <a:p>
            <a:pPr marL="0" indent="0">
              <a:lnSpc>
                <a:spcPct val="110000"/>
              </a:lnSpc>
              <a:buNone/>
            </a:pPr>
            <a:r>
              <a:rPr lang="en-US" sz="1030" b="1" dirty="0">
                <a:solidFill>
                  <a:srgbClr val="132A52"/>
                </a:solidFill>
                <a:latin typeface="Calibri" pitchFamily="34" charset="0"/>
                <a:ea typeface="Calibri" pitchFamily="34" charset="-122"/>
                <a:cs typeface="Calibri" pitchFamily="34" charset="-120"/>
              </a:rPr>
              <a:t>Action: </a:t>
            </a:r>
            <a:r>
              <a:rPr lang="en-US" sz="1030" dirty="0">
                <a:solidFill>
                  <a:srgbClr val="2B3A55"/>
                </a:solidFill>
                <a:latin typeface="Calibri" pitchFamily="34" charset="0"/>
                <a:ea typeface="Calibri" pitchFamily="34" charset="-122"/>
                <a:cs typeface="Calibri" pitchFamily="34" charset="-120"/>
              </a:rPr>
              <a:t>Opens homepage looking for how to start investing</a:t>
            </a:r>
            <a:endParaRPr lang="en-US" sz="1030" dirty="0"/>
          </a:p>
        </p:txBody>
      </p:sp>
      <p:sp>
        <p:nvSpPr>
          <p:cNvPr id="11" name="Text 9"/>
          <p:cNvSpPr/>
          <p:nvPr/>
        </p:nvSpPr>
        <p:spPr>
          <a:xfrm>
            <a:off x="7040880" y="1508760"/>
            <a:ext cx="2423160" cy="822960"/>
          </a:xfrm>
          <a:prstGeom prst="rect">
            <a:avLst/>
          </a:prstGeom>
          <a:noFill/>
          <a:ln/>
        </p:spPr>
        <p:txBody>
          <a:bodyPr wrap="square" lIns="0" tIns="0" rIns="0" bIns="0" rtlCol="0" anchor="ctr"/>
          <a:lstStyle/>
          <a:p>
            <a:pPr marL="0" indent="0">
              <a:lnSpc>
                <a:spcPct val="110000"/>
              </a:lnSpc>
              <a:buNone/>
            </a:pPr>
            <a:r>
              <a:rPr lang="en-US" sz="1030" b="1" dirty="0">
                <a:solidFill>
                  <a:srgbClr val="FF6A2B"/>
                </a:solidFill>
                <a:latin typeface="Calibri" pitchFamily="34" charset="0"/>
                <a:ea typeface="Calibri" pitchFamily="34" charset="-122"/>
                <a:cs typeface="Calibri" pitchFamily="34" charset="-120"/>
              </a:rPr>
              <a:t>Emotion: </a:t>
            </a:r>
            <a:r>
              <a:rPr lang="en-US" sz="1030" dirty="0">
                <a:solidFill>
                  <a:srgbClr val="2B3A55"/>
                </a:solidFill>
                <a:latin typeface="Calibri" pitchFamily="34" charset="0"/>
                <a:ea typeface="Calibri" pitchFamily="34" charset="-122"/>
                <a:cs typeface="Calibri" pitchFamily="34" charset="-120"/>
              </a:rPr>
              <a:t>Intrigued, but unsure which banner to follow first</a:t>
            </a:r>
            <a:endParaRPr lang="en-US" sz="1030" dirty="0"/>
          </a:p>
        </p:txBody>
      </p:sp>
      <p:sp>
        <p:nvSpPr>
          <p:cNvPr id="12" name="Text 10"/>
          <p:cNvSpPr/>
          <p:nvPr/>
        </p:nvSpPr>
        <p:spPr>
          <a:xfrm>
            <a:off x="9555480" y="1508760"/>
            <a:ext cx="2011680" cy="822960"/>
          </a:xfrm>
          <a:prstGeom prst="rect">
            <a:avLst/>
          </a:prstGeom>
          <a:noFill/>
          <a:ln/>
        </p:spPr>
        <p:txBody>
          <a:bodyPr wrap="square" lIns="0" tIns="0" rIns="0" bIns="0" rtlCol="0" anchor="ctr"/>
          <a:lstStyle/>
          <a:p>
            <a:pPr marL="0" indent="0">
              <a:lnSpc>
                <a:spcPct val="110000"/>
              </a:lnSpc>
              <a:buNone/>
            </a:pPr>
            <a:r>
              <a:rPr lang="en-US" sz="1030" b="1" dirty="0">
                <a:solidFill>
                  <a:srgbClr val="1C7293"/>
                </a:solidFill>
                <a:latin typeface="Calibri" pitchFamily="34" charset="0"/>
                <a:ea typeface="Calibri" pitchFamily="34" charset="-122"/>
                <a:cs typeface="Calibri" pitchFamily="34" charset="-120"/>
              </a:rPr>
              <a:t>Opportunity: </a:t>
            </a:r>
            <a:r>
              <a:rPr lang="en-US" sz="1030" dirty="0">
                <a:solidFill>
                  <a:srgbClr val="2B3A55"/>
                </a:solidFill>
                <a:latin typeface="Calibri" pitchFamily="34" charset="0"/>
                <a:ea typeface="Calibri" pitchFamily="34" charset="-122"/>
                <a:cs typeface="Calibri" pitchFamily="34" charset="-120"/>
              </a:rPr>
              <a:t>Establish a single, clear primary call to action</a:t>
            </a:r>
            <a:endParaRPr lang="en-US" sz="1030" dirty="0"/>
          </a:p>
        </p:txBody>
      </p:sp>
      <p:sp>
        <p:nvSpPr>
          <p:cNvPr id="13" name="Shape 11"/>
          <p:cNvSpPr/>
          <p:nvPr/>
        </p:nvSpPr>
        <p:spPr>
          <a:xfrm>
            <a:off x="640080" y="2377440"/>
            <a:ext cx="10972800" cy="0"/>
          </a:xfrm>
          <a:prstGeom prst="line">
            <a:avLst/>
          </a:prstGeom>
          <a:noFill/>
          <a:ln w="12700">
            <a:solidFill>
              <a:srgbClr val="E3E9F5"/>
            </a:solidFill>
            <a:prstDash val="solid"/>
          </a:ln>
        </p:spPr>
      </p:sp>
      <p:sp>
        <p:nvSpPr>
          <p:cNvPr id="14" name="Shape 12"/>
          <p:cNvSpPr/>
          <p:nvPr/>
        </p:nvSpPr>
        <p:spPr>
          <a:xfrm>
            <a:off x="640080" y="2478024"/>
            <a:ext cx="502920" cy="502920"/>
          </a:xfrm>
          <a:prstGeom prst="ellipse">
            <a:avLst/>
          </a:prstGeom>
          <a:solidFill>
            <a:srgbClr val="FF6A2B"/>
          </a:solidFill>
          <a:ln/>
        </p:spPr>
      </p:sp>
      <p:sp>
        <p:nvSpPr>
          <p:cNvPr id="15" name="Text 13"/>
          <p:cNvSpPr/>
          <p:nvPr/>
        </p:nvSpPr>
        <p:spPr>
          <a:xfrm>
            <a:off x="640080" y="2478024"/>
            <a:ext cx="502920" cy="502920"/>
          </a:xfrm>
          <a:prstGeom prst="rect">
            <a:avLst/>
          </a:prstGeom>
          <a:noFill/>
          <a:ln/>
        </p:spPr>
        <p:txBody>
          <a:bodyPr wrap="square" lIns="0" tIns="0" rIns="0" bIns="0" rtlCol="0" anchor="ctr"/>
          <a:lstStyle/>
          <a:p>
            <a:pPr marL="0" indent="0" algn="ctr">
              <a:buNone/>
            </a:pPr>
            <a:r>
              <a:rPr lang="en-US" sz="1600" dirty="0">
                <a:solidFill>
                  <a:srgbClr val="000000"/>
                </a:solidFill>
              </a:rPr>
              <a:t>②</a:t>
            </a:r>
            <a:endParaRPr lang="en-US" sz="1600" dirty="0"/>
          </a:p>
        </p:txBody>
      </p:sp>
      <p:sp>
        <p:nvSpPr>
          <p:cNvPr id="16" name="Text 14"/>
          <p:cNvSpPr/>
          <p:nvPr/>
        </p:nvSpPr>
        <p:spPr>
          <a:xfrm>
            <a:off x="1325880" y="2404872"/>
            <a:ext cx="2880360" cy="822960"/>
          </a:xfrm>
          <a:prstGeom prst="rect">
            <a:avLst/>
          </a:prstGeom>
          <a:noFill/>
          <a:ln/>
        </p:spPr>
        <p:txBody>
          <a:bodyPr wrap="square" lIns="0" tIns="0" rIns="0" bIns="0" rtlCol="0" anchor="ctr"/>
          <a:lstStyle/>
          <a:p>
            <a:pPr marL="0" indent="0">
              <a:lnSpc>
                <a:spcPct val="110000"/>
              </a:lnSpc>
              <a:buNone/>
            </a:pPr>
            <a:r>
              <a:rPr lang="en-US" sz="1250" b="1" dirty="0">
                <a:solidFill>
                  <a:srgbClr val="132A52"/>
                </a:solidFill>
                <a:latin typeface="Calibri" pitchFamily="34" charset="0"/>
                <a:ea typeface="Calibri" pitchFamily="34" charset="-122"/>
                <a:cs typeface="Calibri" pitchFamily="34" charset="-120"/>
              </a:rPr>
              <a:t>Compares Pricing &amp; Products</a:t>
            </a:r>
            <a:endParaRPr lang="en-US" sz="1250" dirty="0"/>
          </a:p>
        </p:txBody>
      </p:sp>
      <p:sp>
        <p:nvSpPr>
          <p:cNvPr id="17" name="Text 15"/>
          <p:cNvSpPr/>
          <p:nvPr/>
        </p:nvSpPr>
        <p:spPr>
          <a:xfrm>
            <a:off x="4343400" y="2404872"/>
            <a:ext cx="2606040" cy="822960"/>
          </a:xfrm>
          <a:prstGeom prst="rect">
            <a:avLst/>
          </a:prstGeom>
          <a:noFill/>
          <a:ln/>
        </p:spPr>
        <p:txBody>
          <a:bodyPr wrap="square" lIns="0" tIns="0" rIns="0" bIns="0" rtlCol="0" anchor="ctr"/>
          <a:lstStyle/>
          <a:p>
            <a:pPr marL="0" indent="0">
              <a:lnSpc>
                <a:spcPct val="110000"/>
              </a:lnSpc>
              <a:buNone/>
            </a:pPr>
            <a:r>
              <a:rPr lang="en-US" sz="1030" b="1" dirty="0">
                <a:solidFill>
                  <a:srgbClr val="132A52"/>
                </a:solidFill>
                <a:latin typeface="Calibri" pitchFamily="34" charset="0"/>
                <a:ea typeface="Calibri" pitchFamily="34" charset="-122"/>
                <a:cs typeface="Calibri" pitchFamily="34" charset="-120"/>
              </a:rPr>
              <a:t>Action: </a:t>
            </a:r>
            <a:r>
              <a:rPr lang="en-US" sz="1030" dirty="0">
                <a:solidFill>
                  <a:srgbClr val="2B3A55"/>
                </a:solidFill>
                <a:latin typeface="Calibri" pitchFamily="34" charset="0"/>
                <a:ea typeface="Calibri" pitchFamily="34" charset="-122"/>
                <a:cs typeface="Calibri" pitchFamily="34" charset="-120"/>
              </a:rPr>
              <a:t>Looks for brokerage charges and product details</a:t>
            </a:r>
            <a:endParaRPr lang="en-US" sz="1030" dirty="0"/>
          </a:p>
        </p:txBody>
      </p:sp>
      <p:sp>
        <p:nvSpPr>
          <p:cNvPr id="18" name="Text 16"/>
          <p:cNvSpPr/>
          <p:nvPr/>
        </p:nvSpPr>
        <p:spPr>
          <a:xfrm>
            <a:off x="7040880" y="2404872"/>
            <a:ext cx="2423160" cy="822960"/>
          </a:xfrm>
          <a:prstGeom prst="rect">
            <a:avLst/>
          </a:prstGeom>
          <a:noFill/>
          <a:ln/>
        </p:spPr>
        <p:txBody>
          <a:bodyPr wrap="square" lIns="0" tIns="0" rIns="0" bIns="0" rtlCol="0" anchor="ctr"/>
          <a:lstStyle/>
          <a:p>
            <a:pPr marL="0" indent="0">
              <a:lnSpc>
                <a:spcPct val="110000"/>
              </a:lnSpc>
              <a:buNone/>
            </a:pPr>
            <a:r>
              <a:rPr lang="en-US" sz="1030" b="1" dirty="0">
                <a:solidFill>
                  <a:srgbClr val="FF6A2B"/>
                </a:solidFill>
                <a:latin typeface="Calibri" pitchFamily="34" charset="0"/>
                <a:ea typeface="Calibri" pitchFamily="34" charset="-122"/>
                <a:cs typeface="Calibri" pitchFamily="34" charset="-120"/>
              </a:rPr>
              <a:t>Emotion: </a:t>
            </a:r>
            <a:r>
              <a:rPr lang="en-US" sz="1030" dirty="0">
                <a:solidFill>
                  <a:srgbClr val="2B3A55"/>
                </a:solidFill>
                <a:latin typeface="Calibri" pitchFamily="34" charset="0"/>
                <a:ea typeface="Calibri" pitchFamily="34" charset="-122"/>
                <a:cs typeface="Calibri" pitchFamily="34" charset="-120"/>
              </a:rPr>
              <a:t>Frustrated navigating between several separate pages</a:t>
            </a:r>
            <a:endParaRPr lang="en-US" sz="1030" dirty="0"/>
          </a:p>
        </p:txBody>
      </p:sp>
      <p:sp>
        <p:nvSpPr>
          <p:cNvPr id="19" name="Text 17"/>
          <p:cNvSpPr/>
          <p:nvPr/>
        </p:nvSpPr>
        <p:spPr>
          <a:xfrm>
            <a:off x="9555480" y="2404872"/>
            <a:ext cx="2011680" cy="822960"/>
          </a:xfrm>
          <a:prstGeom prst="rect">
            <a:avLst/>
          </a:prstGeom>
          <a:noFill/>
          <a:ln/>
        </p:spPr>
        <p:txBody>
          <a:bodyPr wrap="square" lIns="0" tIns="0" rIns="0" bIns="0" rtlCol="0" anchor="ctr"/>
          <a:lstStyle/>
          <a:p>
            <a:pPr marL="0" indent="0">
              <a:lnSpc>
                <a:spcPct val="110000"/>
              </a:lnSpc>
              <a:buNone/>
            </a:pPr>
            <a:r>
              <a:rPr lang="en-US" sz="1030" b="1" dirty="0">
                <a:solidFill>
                  <a:srgbClr val="1C7293"/>
                </a:solidFill>
                <a:latin typeface="Calibri" pitchFamily="34" charset="0"/>
                <a:ea typeface="Calibri" pitchFamily="34" charset="-122"/>
                <a:cs typeface="Calibri" pitchFamily="34" charset="-120"/>
              </a:rPr>
              <a:t>Opportunity: </a:t>
            </a:r>
            <a:r>
              <a:rPr lang="en-US" sz="1030" dirty="0">
                <a:solidFill>
                  <a:srgbClr val="2B3A55"/>
                </a:solidFill>
                <a:latin typeface="Calibri" pitchFamily="34" charset="0"/>
                <a:ea typeface="Calibri" pitchFamily="34" charset="-122"/>
                <a:cs typeface="Calibri" pitchFamily="34" charset="-120"/>
              </a:rPr>
              <a:t>Build one consolidated pricing &amp; comparison page</a:t>
            </a:r>
            <a:endParaRPr lang="en-US" sz="1030" dirty="0"/>
          </a:p>
        </p:txBody>
      </p:sp>
      <p:sp>
        <p:nvSpPr>
          <p:cNvPr id="20" name="Shape 18"/>
          <p:cNvSpPr/>
          <p:nvPr/>
        </p:nvSpPr>
        <p:spPr>
          <a:xfrm>
            <a:off x="640080" y="3273552"/>
            <a:ext cx="10972800" cy="0"/>
          </a:xfrm>
          <a:prstGeom prst="line">
            <a:avLst/>
          </a:prstGeom>
          <a:noFill/>
          <a:ln w="12700">
            <a:solidFill>
              <a:srgbClr val="E3E9F5"/>
            </a:solidFill>
            <a:prstDash val="solid"/>
          </a:ln>
        </p:spPr>
      </p:sp>
      <p:sp>
        <p:nvSpPr>
          <p:cNvPr id="21" name="Shape 19"/>
          <p:cNvSpPr/>
          <p:nvPr/>
        </p:nvSpPr>
        <p:spPr>
          <a:xfrm>
            <a:off x="640080" y="3374136"/>
            <a:ext cx="502920" cy="502920"/>
          </a:xfrm>
          <a:prstGeom prst="ellipse">
            <a:avLst/>
          </a:prstGeom>
          <a:solidFill>
            <a:srgbClr val="132A52"/>
          </a:solidFill>
          <a:ln/>
        </p:spPr>
      </p:sp>
      <p:sp>
        <p:nvSpPr>
          <p:cNvPr id="22" name="Text 20"/>
          <p:cNvSpPr/>
          <p:nvPr/>
        </p:nvSpPr>
        <p:spPr>
          <a:xfrm>
            <a:off x="640080" y="3374136"/>
            <a:ext cx="502920" cy="502920"/>
          </a:xfrm>
          <a:prstGeom prst="rect">
            <a:avLst/>
          </a:prstGeom>
          <a:noFill/>
          <a:ln/>
        </p:spPr>
        <p:txBody>
          <a:bodyPr wrap="square" lIns="0" tIns="0" rIns="0" bIns="0" rtlCol="0" anchor="ctr"/>
          <a:lstStyle/>
          <a:p>
            <a:pPr marL="0" indent="0" algn="ctr">
              <a:buNone/>
            </a:pPr>
            <a:r>
              <a:rPr lang="en-US" sz="1600" dirty="0">
                <a:solidFill>
                  <a:srgbClr val="000000"/>
                </a:solidFill>
              </a:rPr>
              <a:t>③</a:t>
            </a:r>
            <a:endParaRPr lang="en-US" sz="1600" dirty="0"/>
          </a:p>
        </p:txBody>
      </p:sp>
      <p:sp>
        <p:nvSpPr>
          <p:cNvPr id="23" name="Text 21"/>
          <p:cNvSpPr/>
          <p:nvPr/>
        </p:nvSpPr>
        <p:spPr>
          <a:xfrm>
            <a:off x="1325880" y="3300984"/>
            <a:ext cx="2880360" cy="822960"/>
          </a:xfrm>
          <a:prstGeom prst="rect">
            <a:avLst/>
          </a:prstGeom>
          <a:noFill/>
          <a:ln/>
        </p:spPr>
        <p:txBody>
          <a:bodyPr wrap="square" lIns="0" tIns="0" rIns="0" bIns="0" rtlCol="0" anchor="ctr"/>
          <a:lstStyle/>
          <a:p>
            <a:pPr marL="0" indent="0">
              <a:lnSpc>
                <a:spcPct val="110000"/>
              </a:lnSpc>
              <a:buNone/>
            </a:pPr>
            <a:r>
              <a:rPr lang="en-US" sz="1250" b="1" dirty="0">
                <a:solidFill>
                  <a:srgbClr val="132A52"/>
                </a:solidFill>
                <a:latin typeface="Calibri" pitchFamily="34" charset="0"/>
                <a:ea typeface="Calibri" pitchFamily="34" charset="-122"/>
                <a:cs typeface="Calibri" pitchFamily="34" charset="-120"/>
              </a:rPr>
              <a:t>Opens Her Account</a:t>
            </a:r>
            <a:endParaRPr lang="en-US" sz="1250" dirty="0"/>
          </a:p>
        </p:txBody>
      </p:sp>
      <p:sp>
        <p:nvSpPr>
          <p:cNvPr id="24" name="Text 22"/>
          <p:cNvSpPr/>
          <p:nvPr/>
        </p:nvSpPr>
        <p:spPr>
          <a:xfrm>
            <a:off x="4343400" y="3300984"/>
            <a:ext cx="2606040" cy="822960"/>
          </a:xfrm>
          <a:prstGeom prst="rect">
            <a:avLst/>
          </a:prstGeom>
          <a:noFill/>
          <a:ln/>
        </p:spPr>
        <p:txBody>
          <a:bodyPr wrap="square" lIns="0" tIns="0" rIns="0" bIns="0" rtlCol="0" anchor="ctr"/>
          <a:lstStyle/>
          <a:p>
            <a:pPr marL="0" indent="0">
              <a:lnSpc>
                <a:spcPct val="110000"/>
              </a:lnSpc>
              <a:buNone/>
            </a:pPr>
            <a:r>
              <a:rPr lang="en-US" sz="1030" b="1" dirty="0">
                <a:solidFill>
                  <a:srgbClr val="132A52"/>
                </a:solidFill>
                <a:latin typeface="Calibri" pitchFamily="34" charset="0"/>
                <a:ea typeface="Calibri" pitchFamily="34" charset="-122"/>
                <a:cs typeface="Calibri" pitchFamily="34" charset="-120"/>
              </a:rPr>
              <a:t>Action: </a:t>
            </a:r>
            <a:r>
              <a:rPr lang="en-US" sz="1030" dirty="0">
                <a:solidFill>
                  <a:srgbClr val="2B3A55"/>
                </a:solidFill>
                <a:latin typeface="Calibri" pitchFamily="34" charset="0"/>
                <a:ea typeface="Calibri" pitchFamily="34" charset="-122"/>
                <a:cs typeface="Calibri" pitchFamily="34" charset="-120"/>
              </a:rPr>
              <a:t>Completes the mobile-number, OTP, and e-KYC flow</a:t>
            </a:r>
            <a:endParaRPr lang="en-US" sz="1030" dirty="0"/>
          </a:p>
        </p:txBody>
      </p:sp>
      <p:sp>
        <p:nvSpPr>
          <p:cNvPr id="25" name="Text 23"/>
          <p:cNvSpPr/>
          <p:nvPr/>
        </p:nvSpPr>
        <p:spPr>
          <a:xfrm>
            <a:off x="7040880" y="3300984"/>
            <a:ext cx="2423160" cy="822960"/>
          </a:xfrm>
          <a:prstGeom prst="rect">
            <a:avLst/>
          </a:prstGeom>
          <a:noFill/>
          <a:ln/>
        </p:spPr>
        <p:txBody>
          <a:bodyPr wrap="square" lIns="0" tIns="0" rIns="0" bIns="0" rtlCol="0" anchor="ctr"/>
          <a:lstStyle/>
          <a:p>
            <a:pPr marL="0" indent="0">
              <a:lnSpc>
                <a:spcPct val="110000"/>
              </a:lnSpc>
              <a:buNone/>
            </a:pPr>
            <a:r>
              <a:rPr lang="en-US" sz="1030" b="1" dirty="0">
                <a:solidFill>
                  <a:srgbClr val="FF6A2B"/>
                </a:solidFill>
                <a:latin typeface="Calibri" pitchFamily="34" charset="0"/>
                <a:ea typeface="Calibri" pitchFamily="34" charset="-122"/>
                <a:cs typeface="Calibri" pitchFamily="34" charset="-120"/>
              </a:rPr>
              <a:t>Emotion: </a:t>
            </a:r>
            <a:r>
              <a:rPr lang="en-US" sz="1030" dirty="0">
                <a:solidFill>
                  <a:srgbClr val="2B3A55"/>
                </a:solidFill>
                <a:latin typeface="Calibri" pitchFamily="34" charset="0"/>
                <a:ea typeface="Calibri" pitchFamily="34" charset="-122"/>
                <a:cs typeface="Calibri" pitchFamily="34" charset="-120"/>
              </a:rPr>
              <a:t>Relieved — this part feels fast and modern</a:t>
            </a:r>
            <a:endParaRPr lang="en-US" sz="1030" dirty="0"/>
          </a:p>
        </p:txBody>
      </p:sp>
      <p:sp>
        <p:nvSpPr>
          <p:cNvPr id="26" name="Text 24"/>
          <p:cNvSpPr/>
          <p:nvPr/>
        </p:nvSpPr>
        <p:spPr>
          <a:xfrm>
            <a:off x="9555480" y="3300984"/>
            <a:ext cx="2011680" cy="822960"/>
          </a:xfrm>
          <a:prstGeom prst="rect">
            <a:avLst/>
          </a:prstGeom>
          <a:noFill/>
          <a:ln/>
        </p:spPr>
        <p:txBody>
          <a:bodyPr wrap="square" lIns="0" tIns="0" rIns="0" bIns="0" rtlCol="0" anchor="ctr"/>
          <a:lstStyle/>
          <a:p>
            <a:pPr marL="0" indent="0">
              <a:lnSpc>
                <a:spcPct val="110000"/>
              </a:lnSpc>
              <a:buNone/>
            </a:pPr>
            <a:r>
              <a:rPr lang="en-US" sz="1030" b="1" dirty="0">
                <a:solidFill>
                  <a:srgbClr val="1C7293"/>
                </a:solidFill>
                <a:latin typeface="Calibri" pitchFamily="34" charset="0"/>
                <a:ea typeface="Calibri" pitchFamily="34" charset="-122"/>
                <a:cs typeface="Calibri" pitchFamily="34" charset="-120"/>
              </a:rPr>
              <a:t>Opportunity: </a:t>
            </a:r>
            <a:r>
              <a:rPr lang="en-US" sz="1030" dirty="0">
                <a:solidFill>
                  <a:srgbClr val="2B3A55"/>
                </a:solidFill>
                <a:latin typeface="Calibri" pitchFamily="34" charset="0"/>
                <a:ea typeface="Calibri" pitchFamily="34" charset="-122"/>
                <a:cs typeface="Calibri" pitchFamily="34" charset="-120"/>
              </a:rPr>
              <a:t>Keep this flow as the benchmark for the rest of the site</a:t>
            </a:r>
            <a:endParaRPr lang="en-US" sz="1030" dirty="0"/>
          </a:p>
        </p:txBody>
      </p:sp>
      <p:sp>
        <p:nvSpPr>
          <p:cNvPr id="27" name="Shape 25"/>
          <p:cNvSpPr/>
          <p:nvPr/>
        </p:nvSpPr>
        <p:spPr>
          <a:xfrm>
            <a:off x="640080" y="4169664"/>
            <a:ext cx="10972800" cy="0"/>
          </a:xfrm>
          <a:prstGeom prst="line">
            <a:avLst/>
          </a:prstGeom>
          <a:noFill/>
          <a:ln w="12700">
            <a:solidFill>
              <a:srgbClr val="E3E9F5"/>
            </a:solidFill>
            <a:prstDash val="solid"/>
          </a:ln>
        </p:spPr>
      </p:sp>
      <p:sp>
        <p:nvSpPr>
          <p:cNvPr id="28" name="Shape 26"/>
          <p:cNvSpPr/>
          <p:nvPr/>
        </p:nvSpPr>
        <p:spPr>
          <a:xfrm>
            <a:off x="640080" y="4270248"/>
            <a:ext cx="502920" cy="502920"/>
          </a:xfrm>
          <a:prstGeom prst="ellipse">
            <a:avLst/>
          </a:prstGeom>
          <a:solidFill>
            <a:srgbClr val="FF6A2B"/>
          </a:solidFill>
          <a:ln/>
        </p:spPr>
      </p:sp>
      <p:sp>
        <p:nvSpPr>
          <p:cNvPr id="29" name="Text 27"/>
          <p:cNvSpPr/>
          <p:nvPr/>
        </p:nvSpPr>
        <p:spPr>
          <a:xfrm>
            <a:off x="640080" y="4270248"/>
            <a:ext cx="502920" cy="502920"/>
          </a:xfrm>
          <a:prstGeom prst="rect">
            <a:avLst/>
          </a:prstGeom>
          <a:noFill/>
          <a:ln/>
        </p:spPr>
        <p:txBody>
          <a:bodyPr wrap="square" lIns="0" tIns="0" rIns="0" bIns="0" rtlCol="0" anchor="ctr"/>
          <a:lstStyle/>
          <a:p>
            <a:pPr marL="0" indent="0" algn="ctr">
              <a:buNone/>
            </a:pPr>
            <a:r>
              <a:rPr lang="en-US" sz="1600" dirty="0">
                <a:solidFill>
                  <a:srgbClr val="000000"/>
                </a:solidFill>
              </a:rPr>
              <a:t>④</a:t>
            </a:r>
            <a:endParaRPr lang="en-US" sz="1600" dirty="0"/>
          </a:p>
        </p:txBody>
      </p:sp>
      <p:sp>
        <p:nvSpPr>
          <p:cNvPr id="30" name="Text 28"/>
          <p:cNvSpPr/>
          <p:nvPr/>
        </p:nvSpPr>
        <p:spPr>
          <a:xfrm>
            <a:off x="1325880" y="4197096"/>
            <a:ext cx="2880360" cy="822960"/>
          </a:xfrm>
          <a:prstGeom prst="rect">
            <a:avLst/>
          </a:prstGeom>
          <a:noFill/>
          <a:ln/>
        </p:spPr>
        <p:txBody>
          <a:bodyPr wrap="square" lIns="0" tIns="0" rIns="0" bIns="0" rtlCol="0" anchor="ctr"/>
          <a:lstStyle/>
          <a:p>
            <a:pPr marL="0" indent="0">
              <a:lnSpc>
                <a:spcPct val="110000"/>
              </a:lnSpc>
              <a:buNone/>
            </a:pPr>
            <a:r>
              <a:rPr lang="en-US" sz="1250" b="1" dirty="0">
                <a:solidFill>
                  <a:srgbClr val="132A52"/>
                </a:solidFill>
                <a:latin typeface="Calibri" pitchFamily="34" charset="0"/>
                <a:ea typeface="Calibri" pitchFamily="34" charset="-122"/>
                <a:cs typeface="Calibri" pitchFamily="34" charset="-120"/>
              </a:rPr>
              <a:t>Enters the Trading Dashboard</a:t>
            </a:r>
            <a:endParaRPr lang="en-US" sz="1250" dirty="0"/>
          </a:p>
        </p:txBody>
      </p:sp>
      <p:sp>
        <p:nvSpPr>
          <p:cNvPr id="31" name="Text 29"/>
          <p:cNvSpPr/>
          <p:nvPr/>
        </p:nvSpPr>
        <p:spPr>
          <a:xfrm>
            <a:off x="4343400" y="4197096"/>
            <a:ext cx="2606040" cy="822960"/>
          </a:xfrm>
          <a:prstGeom prst="rect">
            <a:avLst/>
          </a:prstGeom>
          <a:noFill/>
          <a:ln/>
        </p:spPr>
        <p:txBody>
          <a:bodyPr wrap="square" lIns="0" tIns="0" rIns="0" bIns="0" rtlCol="0" anchor="ctr"/>
          <a:lstStyle/>
          <a:p>
            <a:pPr marL="0" indent="0">
              <a:lnSpc>
                <a:spcPct val="110000"/>
              </a:lnSpc>
              <a:buNone/>
            </a:pPr>
            <a:r>
              <a:rPr lang="en-US" sz="1030" b="1" dirty="0">
                <a:solidFill>
                  <a:srgbClr val="132A52"/>
                </a:solidFill>
                <a:latin typeface="Calibri" pitchFamily="34" charset="0"/>
                <a:ea typeface="Calibri" pitchFamily="34" charset="-122"/>
                <a:cs typeface="Calibri" pitchFamily="34" charset="-120"/>
              </a:rPr>
              <a:t>Action: </a:t>
            </a:r>
            <a:r>
              <a:rPr lang="en-US" sz="1030" dirty="0">
                <a:solidFill>
                  <a:srgbClr val="2B3A55"/>
                </a:solidFill>
                <a:latin typeface="Calibri" pitchFamily="34" charset="0"/>
                <a:ea typeface="Calibri" pitchFamily="34" charset="-122"/>
                <a:cs typeface="Calibri" pitchFamily="34" charset="-120"/>
              </a:rPr>
              <a:t>Lands in a denser, data-heavy trading interface</a:t>
            </a:r>
            <a:endParaRPr lang="en-US" sz="1030" dirty="0"/>
          </a:p>
        </p:txBody>
      </p:sp>
      <p:sp>
        <p:nvSpPr>
          <p:cNvPr id="32" name="Text 30"/>
          <p:cNvSpPr/>
          <p:nvPr/>
        </p:nvSpPr>
        <p:spPr>
          <a:xfrm>
            <a:off x="7040880" y="4197096"/>
            <a:ext cx="2423160" cy="822960"/>
          </a:xfrm>
          <a:prstGeom prst="rect">
            <a:avLst/>
          </a:prstGeom>
          <a:noFill/>
          <a:ln/>
        </p:spPr>
        <p:txBody>
          <a:bodyPr wrap="square" lIns="0" tIns="0" rIns="0" bIns="0" rtlCol="0" anchor="ctr"/>
          <a:lstStyle/>
          <a:p>
            <a:pPr marL="0" indent="0">
              <a:lnSpc>
                <a:spcPct val="110000"/>
              </a:lnSpc>
              <a:buNone/>
            </a:pPr>
            <a:r>
              <a:rPr lang="en-US" sz="1030" b="1" dirty="0">
                <a:solidFill>
                  <a:srgbClr val="FF6A2B"/>
                </a:solidFill>
                <a:latin typeface="Calibri" pitchFamily="34" charset="0"/>
                <a:ea typeface="Calibri" pitchFamily="34" charset="-122"/>
                <a:cs typeface="Calibri" pitchFamily="34" charset="-120"/>
              </a:rPr>
              <a:t>Emotion: </a:t>
            </a:r>
            <a:r>
              <a:rPr lang="en-US" sz="1030" dirty="0">
                <a:solidFill>
                  <a:srgbClr val="2B3A55"/>
                </a:solidFill>
                <a:latin typeface="Calibri" pitchFamily="34" charset="0"/>
                <a:ea typeface="Calibri" pitchFamily="34" charset="-122"/>
                <a:cs typeface="Calibri" pitchFamily="34" charset="-120"/>
              </a:rPr>
              <a:t>Overwhelmed by the shift from marketing site to app</a:t>
            </a:r>
            <a:endParaRPr lang="en-US" sz="1030" dirty="0"/>
          </a:p>
        </p:txBody>
      </p:sp>
      <p:sp>
        <p:nvSpPr>
          <p:cNvPr id="33" name="Text 31"/>
          <p:cNvSpPr/>
          <p:nvPr/>
        </p:nvSpPr>
        <p:spPr>
          <a:xfrm>
            <a:off x="9555480" y="4197096"/>
            <a:ext cx="2011680" cy="822960"/>
          </a:xfrm>
          <a:prstGeom prst="rect">
            <a:avLst/>
          </a:prstGeom>
          <a:noFill/>
          <a:ln/>
        </p:spPr>
        <p:txBody>
          <a:bodyPr wrap="square" lIns="0" tIns="0" rIns="0" bIns="0" rtlCol="0" anchor="ctr"/>
          <a:lstStyle/>
          <a:p>
            <a:pPr marL="0" indent="0">
              <a:lnSpc>
                <a:spcPct val="110000"/>
              </a:lnSpc>
              <a:buNone/>
            </a:pPr>
            <a:r>
              <a:rPr lang="en-US" sz="1030" b="1" dirty="0">
                <a:solidFill>
                  <a:srgbClr val="1C7293"/>
                </a:solidFill>
                <a:latin typeface="Calibri" pitchFamily="34" charset="0"/>
                <a:ea typeface="Calibri" pitchFamily="34" charset="-122"/>
                <a:cs typeface="Calibri" pitchFamily="34" charset="-120"/>
              </a:rPr>
              <a:t>Opportunity: </a:t>
            </a:r>
            <a:r>
              <a:rPr lang="en-US" sz="1030" dirty="0">
                <a:solidFill>
                  <a:srgbClr val="2B3A55"/>
                </a:solidFill>
                <a:latin typeface="Calibri" pitchFamily="34" charset="0"/>
                <a:ea typeface="Calibri" pitchFamily="34" charset="-122"/>
                <a:cs typeface="Calibri" pitchFamily="34" charset="-120"/>
              </a:rPr>
              <a:t>Offer a short guided tour on first login</a:t>
            </a:r>
            <a:endParaRPr lang="en-US" sz="1030" dirty="0"/>
          </a:p>
        </p:txBody>
      </p:sp>
      <p:sp>
        <p:nvSpPr>
          <p:cNvPr id="34" name="Shape 32"/>
          <p:cNvSpPr/>
          <p:nvPr/>
        </p:nvSpPr>
        <p:spPr>
          <a:xfrm>
            <a:off x="640080" y="5065776"/>
            <a:ext cx="10972800" cy="0"/>
          </a:xfrm>
          <a:prstGeom prst="line">
            <a:avLst/>
          </a:prstGeom>
          <a:noFill/>
          <a:ln w="12700">
            <a:solidFill>
              <a:srgbClr val="E3E9F5"/>
            </a:solidFill>
            <a:prstDash val="solid"/>
          </a:ln>
        </p:spPr>
      </p:sp>
      <p:sp>
        <p:nvSpPr>
          <p:cNvPr id="35" name="Shape 33"/>
          <p:cNvSpPr/>
          <p:nvPr/>
        </p:nvSpPr>
        <p:spPr>
          <a:xfrm>
            <a:off x="640080" y="5166360"/>
            <a:ext cx="502920" cy="502920"/>
          </a:xfrm>
          <a:prstGeom prst="ellipse">
            <a:avLst/>
          </a:prstGeom>
          <a:solidFill>
            <a:srgbClr val="132A52"/>
          </a:solidFill>
          <a:ln/>
        </p:spPr>
      </p:sp>
      <p:sp>
        <p:nvSpPr>
          <p:cNvPr id="36" name="Text 34"/>
          <p:cNvSpPr/>
          <p:nvPr/>
        </p:nvSpPr>
        <p:spPr>
          <a:xfrm>
            <a:off x="640080" y="5166360"/>
            <a:ext cx="502920" cy="502920"/>
          </a:xfrm>
          <a:prstGeom prst="rect">
            <a:avLst/>
          </a:prstGeom>
          <a:noFill/>
          <a:ln/>
        </p:spPr>
        <p:txBody>
          <a:bodyPr wrap="square" lIns="0" tIns="0" rIns="0" bIns="0" rtlCol="0" anchor="ctr"/>
          <a:lstStyle/>
          <a:p>
            <a:pPr marL="0" indent="0" algn="ctr">
              <a:buNone/>
            </a:pPr>
            <a:r>
              <a:rPr lang="en-US" sz="1600" dirty="0">
                <a:solidFill>
                  <a:srgbClr val="000000"/>
                </a:solidFill>
              </a:rPr>
              <a:t>⑤</a:t>
            </a:r>
            <a:endParaRPr lang="en-US" sz="1600" dirty="0"/>
          </a:p>
        </p:txBody>
      </p:sp>
      <p:sp>
        <p:nvSpPr>
          <p:cNvPr id="37" name="Text 35"/>
          <p:cNvSpPr/>
          <p:nvPr/>
        </p:nvSpPr>
        <p:spPr>
          <a:xfrm>
            <a:off x="1325880" y="5093208"/>
            <a:ext cx="2880360" cy="822960"/>
          </a:xfrm>
          <a:prstGeom prst="rect">
            <a:avLst/>
          </a:prstGeom>
          <a:noFill/>
          <a:ln/>
        </p:spPr>
        <p:txBody>
          <a:bodyPr wrap="square" lIns="0" tIns="0" rIns="0" bIns="0" rtlCol="0" anchor="ctr"/>
          <a:lstStyle/>
          <a:p>
            <a:pPr marL="0" indent="0">
              <a:lnSpc>
                <a:spcPct val="110000"/>
              </a:lnSpc>
              <a:buNone/>
            </a:pPr>
            <a:r>
              <a:rPr lang="en-US" sz="1250" b="1" dirty="0">
                <a:solidFill>
                  <a:srgbClr val="132A52"/>
                </a:solidFill>
                <a:latin typeface="Calibri" pitchFamily="34" charset="0"/>
                <a:ea typeface="Calibri" pitchFamily="34" charset="-122"/>
                <a:cs typeface="Calibri" pitchFamily="34" charset="-120"/>
              </a:rPr>
              <a:t>Places Her First Trade</a:t>
            </a:r>
            <a:endParaRPr lang="en-US" sz="1250" dirty="0"/>
          </a:p>
        </p:txBody>
      </p:sp>
      <p:sp>
        <p:nvSpPr>
          <p:cNvPr id="38" name="Text 36"/>
          <p:cNvSpPr/>
          <p:nvPr/>
        </p:nvSpPr>
        <p:spPr>
          <a:xfrm>
            <a:off x="4343400" y="5093208"/>
            <a:ext cx="2606040" cy="822960"/>
          </a:xfrm>
          <a:prstGeom prst="rect">
            <a:avLst/>
          </a:prstGeom>
          <a:noFill/>
          <a:ln/>
        </p:spPr>
        <p:txBody>
          <a:bodyPr wrap="square" lIns="0" tIns="0" rIns="0" bIns="0" rtlCol="0" anchor="ctr"/>
          <a:lstStyle/>
          <a:p>
            <a:pPr marL="0" indent="0">
              <a:lnSpc>
                <a:spcPct val="110000"/>
              </a:lnSpc>
              <a:buNone/>
            </a:pPr>
            <a:r>
              <a:rPr lang="en-US" sz="1030" b="1" dirty="0">
                <a:solidFill>
                  <a:srgbClr val="132A52"/>
                </a:solidFill>
                <a:latin typeface="Calibri" pitchFamily="34" charset="0"/>
                <a:ea typeface="Calibri" pitchFamily="34" charset="-122"/>
                <a:cs typeface="Calibri" pitchFamily="34" charset="-120"/>
              </a:rPr>
              <a:t>Action: </a:t>
            </a:r>
            <a:r>
              <a:rPr lang="en-US" sz="1030" dirty="0">
                <a:solidFill>
                  <a:srgbClr val="2B3A55"/>
                </a:solidFill>
                <a:latin typeface="Calibri" pitchFamily="34" charset="0"/>
                <a:ea typeface="Calibri" pitchFamily="34" charset="-122"/>
                <a:cs typeface="Calibri" pitchFamily="34" charset="-120"/>
              </a:rPr>
              <a:t>Uses ARQ suggestions to invest in a stock or fund</a:t>
            </a:r>
            <a:endParaRPr lang="en-US" sz="1030" dirty="0"/>
          </a:p>
        </p:txBody>
      </p:sp>
      <p:sp>
        <p:nvSpPr>
          <p:cNvPr id="39" name="Text 37"/>
          <p:cNvSpPr/>
          <p:nvPr/>
        </p:nvSpPr>
        <p:spPr>
          <a:xfrm>
            <a:off x="7040880" y="5093208"/>
            <a:ext cx="2423160" cy="822960"/>
          </a:xfrm>
          <a:prstGeom prst="rect">
            <a:avLst/>
          </a:prstGeom>
          <a:noFill/>
          <a:ln/>
        </p:spPr>
        <p:txBody>
          <a:bodyPr wrap="square" lIns="0" tIns="0" rIns="0" bIns="0" rtlCol="0" anchor="ctr"/>
          <a:lstStyle/>
          <a:p>
            <a:pPr marL="0" indent="0">
              <a:lnSpc>
                <a:spcPct val="110000"/>
              </a:lnSpc>
              <a:buNone/>
            </a:pPr>
            <a:r>
              <a:rPr lang="en-US" sz="1030" b="1" dirty="0">
                <a:solidFill>
                  <a:srgbClr val="FF6A2B"/>
                </a:solidFill>
                <a:latin typeface="Calibri" pitchFamily="34" charset="0"/>
                <a:ea typeface="Calibri" pitchFamily="34" charset="-122"/>
                <a:cs typeface="Calibri" pitchFamily="34" charset="-120"/>
              </a:rPr>
              <a:t>Emotion: </a:t>
            </a:r>
            <a:r>
              <a:rPr lang="en-US" sz="1030" dirty="0">
                <a:solidFill>
                  <a:srgbClr val="2B3A55"/>
                </a:solidFill>
                <a:latin typeface="Calibri" pitchFamily="34" charset="0"/>
                <a:ea typeface="Calibri" pitchFamily="34" charset="-122"/>
                <a:cs typeface="Calibri" pitchFamily="34" charset="-120"/>
              </a:rPr>
              <a:t>Confident, but wishes for more built-in guidance</a:t>
            </a:r>
            <a:endParaRPr lang="en-US" sz="1030" dirty="0"/>
          </a:p>
        </p:txBody>
      </p:sp>
      <p:sp>
        <p:nvSpPr>
          <p:cNvPr id="40" name="Text 38"/>
          <p:cNvSpPr/>
          <p:nvPr/>
        </p:nvSpPr>
        <p:spPr>
          <a:xfrm>
            <a:off x="9555480" y="5093208"/>
            <a:ext cx="2011680" cy="822960"/>
          </a:xfrm>
          <a:prstGeom prst="rect">
            <a:avLst/>
          </a:prstGeom>
          <a:noFill/>
          <a:ln/>
        </p:spPr>
        <p:txBody>
          <a:bodyPr wrap="square" lIns="0" tIns="0" rIns="0" bIns="0" rtlCol="0" anchor="ctr"/>
          <a:lstStyle/>
          <a:p>
            <a:pPr marL="0" indent="0">
              <a:lnSpc>
                <a:spcPct val="110000"/>
              </a:lnSpc>
              <a:buNone/>
            </a:pPr>
            <a:r>
              <a:rPr lang="en-US" sz="1030" b="1" dirty="0">
                <a:solidFill>
                  <a:srgbClr val="1C7293"/>
                </a:solidFill>
                <a:latin typeface="Calibri" pitchFamily="34" charset="0"/>
                <a:ea typeface="Calibri" pitchFamily="34" charset="-122"/>
                <a:cs typeface="Calibri" pitchFamily="34" charset="-120"/>
              </a:rPr>
              <a:t>Opportunity: </a:t>
            </a:r>
            <a:r>
              <a:rPr lang="en-US" sz="1030" dirty="0">
                <a:solidFill>
                  <a:srgbClr val="2B3A55"/>
                </a:solidFill>
                <a:latin typeface="Calibri" pitchFamily="34" charset="0"/>
                <a:ea typeface="Calibri" pitchFamily="34" charset="-122"/>
                <a:cs typeface="Calibri" pitchFamily="34" charset="-120"/>
              </a:rPr>
              <a:t>Add contextual tooltips for a first-time "beginner mode"</a:t>
            </a:r>
            <a:endParaRPr lang="en-US" sz="103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AF0FA"/>
        </a:solidFill>
        <a:effectLst/>
      </p:bgPr>
    </p:bg>
    <p:spTree>
      <p:nvGrpSpPr>
        <p:cNvPr id="1" name=""/>
        <p:cNvGrpSpPr/>
        <p:nvPr/>
      </p:nvGrpSpPr>
      <p:grpSpPr>
        <a:xfrm>
          <a:off x="0" y="0"/>
          <a:ext cx="0" cy="0"/>
          <a:chOff x="0" y="0"/>
          <a:chExt cx="0" cy="0"/>
        </a:xfrm>
      </p:grpSpPr>
      <p:sp>
        <p:nvSpPr>
          <p:cNvPr id="2" name="Text 0"/>
          <p:cNvSpPr/>
          <p:nvPr/>
        </p:nvSpPr>
        <p:spPr>
          <a:xfrm>
            <a:off x="457200" y="256032"/>
            <a:ext cx="4572000" cy="320040"/>
          </a:xfrm>
          <a:prstGeom prst="rect">
            <a:avLst/>
          </a:prstGeom>
          <a:noFill/>
          <a:ln/>
        </p:spPr>
        <p:txBody>
          <a:bodyPr wrap="square" lIns="0" tIns="0" rIns="0" bIns="0" rtlCol="0" anchor="ctr"/>
          <a:lstStyle/>
          <a:p>
            <a:pPr marL="0" indent="0">
              <a:buNone/>
            </a:pPr>
            <a:r>
              <a:rPr lang="en-US" sz="1100" b="1" dirty="0">
                <a:solidFill>
                  <a:srgbClr val="132A52"/>
                </a:solidFill>
                <a:latin typeface="Calibri" pitchFamily="34" charset="0"/>
                <a:ea typeface="Calibri" pitchFamily="34" charset="-122"/>
                <a:cs typeface="Calibri" pitchFamily="34" charset="-120"/>
              </a:rPr>
              <a:t>Angel One</a:t>
            </a:r>
            <a:endParaRPr lang="en-US" sz="1100" dirty="0"/>
          </a:p>
        </p:txBody>
      </p:sp>
      <p:sp>
        <p:nvSpPr>
          <p:cNvPr id="3" name="Text 1"/>
          <p:cNvSpPr/>
          <p:nvPr/>
        </p:nvSpPr>
        <p:spPr>
          <a:xfrm>
            <a:off x="7132320" y="256032"/>
            <a:ext cx="4572000" cy="320040"/>
          </a:xfrm>
          <a:prstGeom prst="rect">
            <a:avLst/>
          </a:prstGeom>
          <a:noFill/>
          <a:ln/>
        </p:spPr>
        <p:txBody>
          <a:bodyPr wrap="square" lIns="0" tIns="0" rIns="0" bIns="0" rtlCol="0" anchor="ctr"/>
          <a:lstStyle/>
          <a:p>
            <a:pPr marL="0" indent="0" algn="r">
              <a:buNone/>
            </a:pPr>
            <a:r>
              <a:rPr lang="en-US" sz="1100" dirty="0">
                <a:solidFill>
                  <a:srgbClr val="5B6B85"/>
                </a:solidFill>
                <a:latin typeface="Calibri" pitchFamily="34" charset="0"/>
                <a:ea typeface="Calibri" pitchFamily="34" charset="-122"/>
                <a:cs typeface="Calibri" pitchFamily="34" charset="-120"/>
              </a:rPr>
              <a:t>UX Research &amp; Analysis</a:t>
            </a:r>
            <a:endParaRPr lang="en-US" sz="1100" dirty="0"/>
          </a:p>
        </p:txBody>
      </p:sp>
      <p:sp>
        <p:nvSpPr>
          <p:cNvPr id="4" name="Shape 2"/>
          <p:cNvSpPr/>
          <p:nvPr/>
        </p:nvSpPr>
        <p:spPr>
          <a:xfrm rot="5400000">
            <a:off x="10881360" y="-548640"/>
            <a:ext cx="2377440" cy="2377440"/>
          </a:xfrm>
          <a:prstGeom prst="triangle">
            <a:avLst/>
          </a:prstGeom>
          <a:solidFill>
            <a:srgbClr val="132A52">
              <a:alpha val="8000"/>
            </a:srgbClr>
          </a:solidFill>
          <a:ln/>
        </p:spPr>
      </p:sp>
      <p:sp>
        <p:nvSpPr>
          <p:cNvPr id="5" name="Shape 3"/>
          <p:cNvSpPr/>
          <p:nvPr/>
        </p:nvSpPr>
        <p:spPr>
          <a:xfrm rot="16200000">
            <a:off x="-640080" y="5760720"/>
            <a:ext cx="2011680" cy="2011680"/>
          </a:xfrm>
          <a:prstGeom prst="triangle">
            <a:avLst/>
          </a:prstGeom>
          <a:solidFill>
            <a:srgbClr val="FF6A2B">
              <a:alpha val="6000"/>
            </a:srgbClr>
          </a:solidFill>
          <a:ln/>
        </p:spPr>
      </p:sp>
      <p:sp>
        <p:nvSpPr>
          <p:cNvPr id="6" name="Text 4"/>
          <p:cNvSpPr/>
          <p:nvPr/>
        </p:nvSpPr>
        <p:spPr>
          <a:xfrm>
            <a:off x="640080" y="868680"/>
            <a:ext cx="8229600" cy="640080"/>
          </a:xfrm>
          <a:prstGeom prst="rect">
            <a:avLst/>
          </a:prstGeom>
          <a:noFill/>
          <a:ln/>
        </p:spPr>
        <p:txBody>
          <a:bodyPr wrap="square" lIns="0" tIns="0" rIns="0" bIns="0" rtlCol="0" anchor="ctr"/>
          <a:lstStyle/>
          <a:p>
            <a:pPr marL="0" indent="0">
              <a:buNone/>
            </a:pPr>
            <a:r>
              <a:rPr lang="en-US" sz="3200" b="1" dirty="0">
                <a:solidFill>
                  <a:srgbClr val="132A52"/>
                </a:solidFill>
                <a:latin typeface="Century Schoolbook" pitchFamily="34" charset="0"/>
                <a:ea typeface="Century Schoolbook" pitchFamily="34" charset="-122"/>
                <a:cs typeface="Century Schoolbook" pitchFamily="34" charset="-120"/>
              </a:rPr>
              <a:t>Personality &amp; Scenario</a:t>
            </a:r>
            <a:endParaRPr lang="en-US" sz="3200" dirty="0"/>
          </a:p>
        </p:txBody>
      </p:sp>
      <p:sp>
        <p:nvSpPr>
          <p:cNvPr id="7" name="Text 5"/>
          <p:cNvSpPr/>
          <p:nvPr/>
        </p:nvSpPr>
        <p:spPr>
          <a:xfrm>
            <a:off x="640080" y="1691640"/>
            <a:ext cx="1005840" cy="365760"/>
          </a:xfrm>
          <a:prstGeom prst="rect">
            <a:avLst/>
          </a:prstGeom>
          <a:noFill/>
          <a:ln/>
        </p:spPr>
        <p:txBody>
          <a:bodyPr wrap="square" lIns="0" tIns="0" rIns="0" bIns="0" rtlCol="0" anchor="ctr"/>
          <a:lstStyle/>
          <a:p>
            <a:pPr marL="0" indent="0">
              <a:buNone/>
            </a:pPr>
            <a:r>
              <a:rPr lang="en-US" sz="1300" b="1" dirty="0">
                <a:solidFill>
                  <a:srgbClr val="132A52"/>
                </a:solidFill>
                <a:latin typeface="Calibri" pitchFamily="34" charset="0"/>
                <a:ea typeface="Calibri" pitchFamily="34" charset="-122"/>
                <a:cs typeface="Calibri" pitchFamily="34" charset="-120"/>
              </a:rPr>
              <a:t>Traits: </a:t>
            </a:r>
            <a:endParaRPr lang="en-US" sz="1300" dirty="0"/>
          </a:p>
        </p:txBody>
      </p:sp>
      <p:sp>
        <p:nvSpPr>
          <p:cNvPr id="8" name="Text 6"/>
          <p:cNvSpPr/>
          <p:nvPr/>
        </p:nvSpPr>
        <p:spPr>
          <a:xfrm>
            <a:off x="1600200" y="1691640"/>
            <a:ext cx="8686800" cy="365760"/>
          </a:xfrm>
          <a:prstGeom prst="rect">
            <a:avLst/>
          </a:prstGeom>
          <a:noFill/>
          <a:ln/>
        </p:spPr>
        <p:txBody>
          <a:bodyPr wrap="square" lIns="0" tIns="0" rIns="0" bIns="0" rtlCol="0" anchor="ctr"/>
          <a:lstStyle/>
          <a:p>
            <a:pPr marL="0" indent="0">
              <a:buNone/>
            </a:pPr>
            <a:r>
              <a:rPr lang="en-US" sz="1300" dirty="0">
                <a:solidFill>
                  <a:srgbClr val="2B3A55"/>
                </a:solidFill>
                <a:latin typeface="Calibri" pitchFamily="34" charset="0"/>
                <a:ea typeface="Calibri" pitchFamily="34" charset="-122"/>
                <a:cs typeface="Calibri" pitchFamily="34" charset="-120"/>
              </a:rPr>
              <a:t>Practical  •  Cautious  •  Value-conscious  •  Tech-comfortable  •  Time-poor</a:t>
            </a:r>
            <a:endParaRPr lang="en-US" sz="1300" dirty="0"/>
          </a:p>
        </p:txBody>
      </p:sp>
      <p:sp>
        <p:nvSpPr>
          <p:cNvPr id="9" name="Shape 7"/>
          <p:cNvSpPr/>
          <p:nvPr/>
        </p:nvSpPr>
        <p:spPr>
          <a:xfrm>
            <a:off x="640080" y="2194560"/>
            <a:ext cx="10881360" cy="1005840"/>
          </a:xfrm>
          <a:prstGeom prst="roundRect">
            <a:avLst>
              <a:gd name="adj" fmla="val 9091"/>
            </a:avLst>
          </a:prstGeom>
          <a:solidFill>
            <a:srgbClr val="132A52"/>
          </a:solidFill>
          <a:ln/>
        </p:spPr>
      </p:sp>
      <p:sp>
        <p:nvSpPr>
          <p:cNvPr id="10" name="Text 8"/>
          <p:cNvSpPr/>
          <p:nvPr/>
        </p:nvSpPr>
        <p:spPr>
          <a:xfrm>
            <a:off x="1005840" y="2194560"/>
            <a:ext cx="10149840" cy="1005840"/>
          </a:xfrm>
          <a:prstGeom prst="rect">
            <a:avLst/>
          </a:prstGeom>
          <a:noFill/>
          <a:ln/>
        </p:spPr>
        <p:txBody>
          <a:bodyPr wrap="square" lIns="0" tIns="0" rIns="0" bIns="0" rtlCol="0" anchor="ctr"/>
          <a:lstStyle/>
          <a:p>
            <a:pPr marL="0" indent="0">
              <a:buNone/>
            </a:pPr>
            <a:r>
              <a:rPr lang="en-US" sz="1500" i="1" dirty="0">
                <a:solidFill>
                  <a:srgbClr val="FFFFFF"/>
                </a:solidFill>
                <a:latin typeface="Calibri" pitchFamily="34" charset="0"/>
                <a:ea typeface="Calibri" pitchFamily="34" charset="-122"/>
                <a:cs typeface="Calibri" pitchFamily="34" charset="-120"/>
              </a:rPr>
              <a:t>"I want one clear next step — not two banners fighting for my attention — when I'm ready to start investing."</a:t>
            </a:r>
            <a:endParaRPr lang="en-US" sz="1500" dirty="0"/>
          </a:p>
        </p:txBody>
      </p:sp>
      <p:sp>
        <p:nvSpPr>
          <p:cNvPr id="11" name="Text 9"/>
          <p:cNvSpPr/>
          <p:nvPr/>
        </p:nvSpPr>
        <p:spPr>
          <a:xfrm>
            <a:off x="640080" y="3429000"/>
            <a:ext cx="3657600" cy="365760"/>
          </a:xfrm>
          <a:prstGeom prst="rect">
            <a:avLst/>
          </a:prstGeom>
          <a:noFill/>
          <a:ln/>
        </p:spPr>
        <p:txBody>
          <a:bodyPr wrap="square" lIns="0" tIns="0" rIns="0" bIns="0" rtlCol="0" anchor="ctr"/>
          <a:lstStyle/>
          <a:p>
            <a:pPr marL="0" indent="0">
              <a:buNone/>
            </a:pPr>
            <a:r>
              <a:rPr lang="en-US" sz="1400" b="1" dirty="0">
                <a:solidFill>
                  <a:srgbClr val="132A52"/>
                </a:solidFill>
                <a:latin typeface="Calibri" pitchFamily="34" charset="0"/>
                <a:ea typeface="Calibri" pitchFamily="34" charset="-122"/>
                <a:cs typeface="Calibri" pitchFamily="34" charset="-120"/>
              </a:rPr>
              <a:t>Scenario</a:t>
            </a:r>
            <a:endParaRPr lang="en-US" sz="1400" dirty="0"/>
          </a:p>
        </p:txBody>
      </p:sp>
      <p:sp>
        <p:nvSpPr>
          <p:cNvPr id="12" name="Text 10"/>
          <p:cNvSpPr/>
          <p:nvPr/>
        </p:nvSpPr>
        <p:spPr>
          <a:xfrm>
            <a:off x="640080" y="3840480"/>
            <a:ext cx="10881360" cy="1188720"/>
          </a:xfrm>
          <a:prstGeom prst="rect">
            <a:avLst/>
          </a:prstGeom>
          <a:noFill/>
          <a:ln/>
        </p:spPr>
        <p:txBody>
          <a:bodyPr wrap="square" lIns="0" tIns="0" rIns="0" bIns="0" rtlCol="0" anchor="ctr"/>
          <a:lstStyle/>
          <a:p>
            <a:pPr marL="0" indent="0">
              <a:lnSpc>
                <a:spcPct val="130000"/>
              </a:lnSpc>
              <a:buNone/>
            </a:pPr>
            <a:r>
              <a:rPr lang="en-US" sz="1250" dirty="0">
                <a:solidFill>
                  <a:srgbClr val="2B3A55"/>
                </a:solidFill>
                <a:latin typeface="Calibri" pitchFamily="34" charset="0"/>
                <a:ea typeface="Calibri" pitchFamily="34" charset="-122"/>
                <a:cs typeface="Calibri" pitchFamily="34" charset="-120"/>
              </a:rPr>
              <a:t>Priya opens Angel One's website on a Sunday afternoon intending to start a monthly SIP. The homepage's account-opening banner and app-download banner both compete for her first click, and once she has opened an account, comparing charges before committing means jumping between several separate pages. By the time she reaches the trading dashboard, the shift in interface density leaves her unsure whether she is doing things correctly.</a:t>
            </a:r>
            <a:endParaRPr lang="en-US" sz="1250" dirty="0"/>
          </a:p>
        </p:txBody>
      </p:sp>
      <p:sp>
        <p:nvSpPr>
          <p:cNvPr id="13" name="Shape 11"/>
          <p:cNvSpPr/>
          <p:nvPr/>
        </p:nvSpPr>
        <p:spPr>
          <a:xfrm>
            <a:off x="822960" y="5212080"/>
            <a:ext cx="960120" cy="960120"/>
          </a:xfrm>
          <a:prstGeom prst="ellipse">
            <a:avLst/>
          </a:prstGeom>
          <a:solidFill>
            <a:srgbClr val="FFFFFF"/>
          </a:solidFill>
          <a:ln/>
        </p:spPr>
      </p:sp>
      <p:sp>
        <p:nvSpPr>
          <p:cNvPr id="14" name="Text 12"/>
          <p:cNvSpPr/>
          <p:nvPr/>
        </p:nvSpPr>
        <p:spPr>
          <a:xfrm>
            <a:off x="822960" y="5212080"/>
            <a:ext cx="960120" cy="96012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15" name="Shape 13"/>
          <p:cNvSpPr/>
          <p:nvPr/>
        </p:nvSpPr>
        <p:spPr>
          <a:xfrm>
            <a:off x="822960" y="5212080"/>
            <a:ext cx="960120" cy="960120"/>
          </a:xfrm>
          <a:prstGeom prst="ellipse">
            <a:avLst/>
          </a:prstGeom>
          <a:ln w="19050">
            <a:solidFill>
              <a:srgbClr val="132A52"/>
            </a:solidFill>
            <a:prstDash val="solid"/>
          </a:ln>
        </p:spPr>
      </p:sp>
      <p:sp>
        <p:nvSpPr>
          <p:cNvPr id="16" name="Text 14"/>
          <p:cNvSpPr/>
          <p:nvPr/>
        </p:nvSpPr>
        <p:spPr>
          <a:xfrm>
            <a:off x="320040" y="6263640"/>
            <a:ext cx="1965960" cy="548640"/>
          </a:xfrm>
          <a:prstGeom prst="rect">
            <a:avLst/>
          </a:prstGeom>
          <a:noFill/>
          <a:ln/>
        </p:spPr>
        <p:txBody>
          <a:bodyPr wrap="square" lIns="0" tIns="0" rIns="0" bIns="0" rtlCol="0" anchor="ctr"/>
          <a:lstStyle/>
          <a:p>
            <a:pPr marL="0" indent="0" algn="ctr">
              <a:lnSpc>
                <a:spcPct val="110000"/>
              </a:lnSpc>
              <a:buNone/>
            </a:pPr>
            <a:r>
              <a:rPr lang="en-US" sz="1050" dirty="0">
                <a:solidFill>
                  <a:srgbClr val="5B6B85"/>
                </a:solidFill>
                <a:latin typeface="Calibri" pitchFamily="34" charset="0"/>
                <a:ea typeface="Calibri" pitchFamily="34" charset="-122"/>
                <a:cs typeface="Calibri" pitchFamily="34" charset="-120"/>
              </a:rPr>
              <a:t>Weighs two competing</a:t>
            </a:r>
            <a:endParaRPr lang="en-US" sz="1050" dirty="0"/>
          </a:p>
          <a:p>
            <a:pPr marL="0" indent="0" algn="ctr">
              <a:lnSpc>
                <a:spcPct val="110000"/>
              </a:lnSpc>
              <a:buNone/>
            </a:pPr>
            <a:r>
              <a:rPr lang="en-US" sz="1050" dirty="0">
                <a:solidFill>
                  <a:srgbClr val="5B6B85"/>
                </a:solidFill>
                <a:latin typeface="Calibri" pitchFamily="34" charset="0"/>
                <a:ea typeface="Calibri" pitchFamily="34" charset="-122"/>
                <a:cs typeface="Calibri" pitchFamily="34" charset="-120"/>
              </a:rPr>
              <a:t>homepage banners</a:t>
            </a:r>
            <a:endParaRPr lang="en-US" sz="1050" dirty="0"/>
          </a:p>
        </p:txBody>
      </p:sp>
      <p:sp>
        <p:nvSpPr>
          <p:cNvPr id="17" name="Shape 15"/>
          <p:cNvSpPr/>
          <p:nvPr/>
        </p:nvSpPr>
        <p:spPr>
          <a:xfrm>
            <a:off x="4480560" y="5212080"/>
            <a:ext cx="960120" cy="960120"/>
          </a:xfrm>
          <a:prstGeom prst="ellipse">
            <a:avLst/>
          </a:prstGeom>
          <a:solidFill>
            <a:srgbClr val="FFFFFF"/>
          </a:solidFill>
          <a:ln/>
        </p:spPr>
      </p:sp>
      <p:sp>
        <p:nvSpPr>
          <p:cNvPr id="18" name="Text 16"/>
          <p:cNvSpPr/>
          <p:nvPr/>
        </p:nvSpPr>
        <p:spPr>
          <a:xfrm>
            <a:off x="4480560" y="5212080"/>
            <a:ext cx="960120" cy="96012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19" name="Shape 17"/>
          <p:cNvSpPr/>
          <p:nvPr/>
        </p:nvSpPr>
        <p:spPr>
          <a:xfrm>
            <a:off x="4480560" y="5212080"/>
            <a:ext cx="960120" cy="960120"/>
          </a:xfrm>
          <a:prstGeom prst="ellipse">
            <a:avLst/>
          </a:prstGeom>
          <a:ln w="19050">
            <a:solidFill>
              <a:srgbClr val="132A52"/>
            </a:solidFill>
            <a:prstDash val="solid"/>
          </a:ln>
        </p:spPr>
      </p:sp>
      <p:sp>
        <p:nvSpPr>
          <p:cNvPr id="20" name="Text 18"/>
          <p:cNvSpPr/>
          <p:nvPr/>
        </p:nvSpPr>
        <p:spPr>
          <a:xfrm>
            <a:off x="3977640" y="6263640"/>
            <a:ext cx="1965960" cy="548640"/>
          </a:xfrm>
          <a:prstGeom prst="rect">
            <a:avLst/>
          </a:prstGeom>
          <a:noFill/>
          <a:ln/>
        </p:spPr>
        <p:txBody>
          <a:bodyPr wrap="square" lIns="0" tIns="0" rIns="0" bIns="0" rtlCol="0" anchor="ctr"/>
          <a:lstStyle/>
          <a:p>
            <a:pPr marL="0" indent="0" algn="ctr">
              <a:lnSpc>
                <a:spcPct val="110000"/>
              </a:lnSpc>
              <a:buNone/>
            </a:pPr>
            <a:r>
              <a:rPr lang="en-US" sz="1050" dirty="0">
                <a:solidFill>
                  <a:srgbClr val="5B6B85"/>
                </a:solidFill>
                <a:latin typeface="Calibri" pitchFamily="34" charset="0"/>
                <a:ea typeface="Calibri" pitchFamily="34" charset="-122"/>
                <a:cs typeface="Calibri" pitchFamily="34" charset="-120"/>
              </a:rPr>
              <a:t>Hunts across pages for</a:t>
            </a:r>
            <a:endParaRPr lang="en-US" sz="1050" dirty="0"/>
          </a:p>
          <a:p>
            <a:pPr marL="0" indent="0" algn="ctr">
              <a:lnSpc>
                <a:spcPct val="110000"/>
              </a:lnSpc>
              <a:buNone/>
            </a:pPr>
            <a:r>
              <a:rPr lang="en-US" sz="1050" dirty="0">
                <a:solidFill>
                  <a:srgbClr val="5B6B85"/>
                </a:solidFill>
                <a:latin typeface="Calibri" pitchFamily="34" charset="0"/>
                <a:ea typeface="Calibri" pitchFamily="34" charset="-122"/>
                <a:cs typeface="Calibri" pitchFamily="34" charset="-120"/>
              </a:rPr>
              <a:t>clear pricing details</a:t>
            </a:r>
            <a:endParaRPr lang="en-US" sz="1050" dirty="0"/>
          </a:p>
        </p:txBody>
      </p:sp>
      <p:sp>
        <p:nvSpPr>
          <p:cNvPr id="21" name="Shape 19"/>
          <p:cNvSpPr/>
          <p:nvPr/>
        </p:nvSpPr>
        <p:spPr>
          <a:xfrm>
            <a:off x="8138160" y="5212080"/>
            <a:ext cx="960120" cy="960120"/>
          </a:xfrm>
          <a:prstGeom prst="ellipse">
            <a:avLst/>
          </a:prstGeom>
          <a:solidFill>
            <a:srgbClr val="FFFFFF"/>
          </a:solidFill>
          <a:ln/>
        </p:spPr>
      </p:sp>
      <p:sp>
        <p:nvSpPr>
          <p:cNvPr id="22" name="Text 20"/>
          <p:cNvSpPr/>
          <p:nvPr/>
        </p:nvSpPr>
        <p:spPr>
          <a:xfrm>
            <a:off x="8138160" y="5212080"/>
            <a:ext cx="960120" cy="96012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23" name="Shape 21"/>
          <p:cNvSpPr/>
          <p:nvPr/>
        </p:nvSpPr>
        <p:spPr>
          <a:xfrm>
            <a:off x="8138160" y="5212080"/>
            <a:ext cx="960120" cy="960120"/>
          </a:xfrm>
          <a:prstGeom prst="ellipse">
            <a:avLst/>
          </a:prstGeom>
          <a:ln w="19050">
            <a:solidFill>
              <a:srgbClr val="132A52"/>
            </a:solidFill>
            <a:prstDash val="solid"/>
          </a:ln>
        </p:spPr>
      </p:sp>
      <p:sp>
        <p:nvSpPr>
          <p:cNvPr id="24" name="Text 22"/>
          <p:cNvSpPr/>
          <p:nvPr/>
        </p:nvSpPr>
        <p:spPr>
          <a:xfrm>
            <a:off x="7635240" y="6263640"/>
            <a:ext cx="1965960" cy="548640"/>
          </a:xfrm>
          <a:prstGeom prst="rect">
            <a:avLst/>
          </a:prstGeom>
          <a:noFill/>
          <a:ln/>
        </p:spPr>
        <p:txBody>
          <a:bodyPr wrap="square" lIns="0" tIns="0" rIns="0" bIns="0" rtlCol="0" anchor="ctr"/>
          <a:lstStyle/>
          <a:p>
            <a:pPr marL="0" indent="0" algn="ctr">
              <a:lnSpc>
                <a:spcPct val="110000"/>
              </a:lnSpc>
              <a:buNone/>
            </a:pPr>
            <a:r>
              <a:rPr lang="en-US" sz="1050" dirty="0">
                <a:solidFill>
                  <a:srgbClr val="5B6B85"/>
                </a:solidFill>
                <a:latin typeface="Calibri" pitchFamily="34" charset="0"/>
                <a:ea typeface="Calibri" pitchFamily="34" charset="-122"/>
                <a:cs typeface="Calibri" pitchFamily="34" charset="-120"/>
              </a:rPr>
              <a:t>Meets a denser dashboard</a:t>
            </a:r>
            <a:endParaRPr lang="en-US" sz="1050" dirty="0"/>
          </a:p>
          <a:p>
            <a:pPr marL="0" indent="0" algn="ctr">
              <a:lnSpc>
                <a:spcPct val="110000"/>
              </a:lnSpc>
              <a:buNone/>
            </a:pPr>
            <a:r>
              <a:rPr lang="en-US" sz="1050" dirty="0">
                <a:solidFill>
                  <a:srgbClr val="5B6B85"/>
                </a:solidFill>
                <a:latin typeface="Calibri" pitchFamily="34" charset="0"/>
                <a:ea typeface="Calibri" pitchFamily="34" charset="-122"/>
                <a:cs typeface="Calibri" pitchFamily="34" charset="-120"/>
              </a:rPr>
              <a:t>after signing up</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4572000" cy="320040"/>
          </a:xfrm>
          <a:prstGeom prst="rect">
            <a:avLst/>
          </a:prstGeom>
          <a:noFill/>
          <a:ln/>
        </p:spPr>
        <p:txBody>
          <a:bodyPr wrap="square" lIns="0" tIns="0" rIns="0" bIns="0" rtlCol="0" anchor="ctr"/>
          <a:lstStyle/>
          <a:p>
            <a:pPr marL="0" indent="0">
              <a:buNone/>
            </a:pPr>
            <a:r>
              <a:rPr lang="en-US" sz="1100" b="1" dirty="0">
                <a:solidFill>
                  <a:srgbClr val="132A52"/>
                </a:solidFill>
                <a:latin typeface="Calibri" pitchFamily="34" charset="0"/>
                <a:ea typeface="Calibri" pitchFamily="34" charset="-122"/>
                <a:cs typeface="Calibri" pitchFamily="34" charset="-120"/>
              </a:rPr>
              <a:t>Angel One</a:t>
            </a:r>
            <a:endParaRPr lang="en-US" sz="1100" dirty="0"/>
          </a:p>
        </p:txBody>
      </p:sp>
      <p:sp>
        <p:nvSpPr>
          <p:cNvPr id="3" name="Text 1"/>
          <p:cNvSpPr/>
          <p:nvPr/>
        </p:nvSpPr>
        <p:spPr>
          <a:xfrm>
            <a:off x="7132320" y="256032"/>
            <a:ext cx="4572000" cy="320040"/>
          </a:xfrm>
          <a:prstGeom prst="rect">
            <a:avLst/>
          </a:prstGeom>
          <a:noFill/>
          <a:ln/>
        </p:spPr>
        <p:txBody>
          <a:bodyPr wrap="square" lIns="0" tIns="0" rIns="0" bIns="0" rtlCol="0" anchor="ctr"/>
          <a:lstStyle/>
          <a:p>
            <a:pPr marL="0" indent="0" algn="r">
              <a:buNone/>
            </a:pPr>
            <a:r>
              <a:rPr lang="en-US" sz="1100" dirty="0">
                <a:solidFill>
                  <a:srgbClr val="5B6B85"/>
                </a:solidFill>
                <a:latin typeface="Calibri" pitchFamily="34" charset="0"/>
                <a:ea typeface="Calibri" pitchFamily="34" charset="-122"/>
                <a:cs typeface="Calibri" pitchFamily="34" charset="-120"/>
              </a:rPr>
              <a:t>UX Research &amp; Analysis</a:t>
            </a:r>
            <a:endParaRPr lang="en-US" sz="1100" dirty="0"/>
          </a:p>
        </p:txBody>
      </p:sp>
      <p:sp>
        <p:nvSpPr>
          <p:cNvPr id="4" name="Shape 2"/>
          <p:cNvSpPr/>
          <p:nvPr/>
        </p:nvSpPr>
        <p:spPr>
          <a:xfrm rot="5400000">
            <a:off x="10881360" y="-548640"/>
            <a:ext cx="2377440" cy="2377440"/>
          </a:xfrm>
          <a:prstGeom prst="triangle">
            <a:avLst/>
          </a:prstGeom>
          <a:solidFill>
            <a:srgbClr val="132A52">
              <a:alpha val="8000"/>
            </a:srgbClr>
          </a:solidFill>
          <a:ln/>
        </p:spPr>
      </p:sp>
      <p:sp>
        <p:nvSpPr>
          <p:cNvPr id="5" name="Shape 3"/>
          <p:cNvSpPr/>
          <p:nvPr/>
        </p:nvSpPr>
        <p:spPr>
          <a:xfrm rot="16200000">
            <a:off x="-640080" y="5760720"/>
            <a:ext cx="2011680" cy="2011680"/>
          </a:xfrm>
          <a:prstGeom prst="triangle">
            <a:avLst/>
          </a:prstGeom>
          <a:solidFill>
            <a:srgbClr val="FF6A2B">
              <a:alpha val="6000"/>
            </a:srgbClr>
          </a:solidFill>
          <a:ln/>
        </p:spPr>
      </p:sp>
      <p:sp>
        <p:nvSpPr>
          <p:cNvPr id="6" name="Text 4"/>
          <p:cNvSpPr/>
          <p:nvPr/>
        </p:nvSpPr>
        <p:spPr>
          <a:xfrm>
            <a:off x="640080" y="868680"/>
            <a:ext cx="7315200" cy="640080"/>
          </a:xfrm>
          <a:prstGeom prst="rect">
            <a:avLst/>
          </a:prstGeom>
          <a:noFill/>
          <a:ln/>
        </p:spPr>
        <p:txBody>
          <a:bodyPr wrap="square" lIns="0" tIns="0" rIns="0" bIns="0" rtlCol="0" anchor="ctr"/>
          <a:lstStyle/>
          <a:p>
            <a:pPr marL="0" indent="0">
              <a:buNone/>
            </a:pPr>
            <a:r>
              <a:rPr lang="en-US" sz="3200" b="1" dirty="0">
                <a:solidFill>
                  <a:srgbClr val="132A52"/>
                </a:solidFill>
                <a:latin typeface="Century Schoolbook" pitchFamily="34" charset="0"/>
                <a:ea typeface="Century Schoolbook" pitchFamily="34" charset="-122"/>
                <a:cs typeface="Century Schoolbook" pitchFamily="34" charset="-120"/>
              </a:rPr>
              <a:t>UX Insights</a:t>
            </a:r>
            <a:endParaRPr lang="en-US" sz="3200" dirty="0"/>
          </a:p>
        </p:txBody>
      </p:sp>
      <p:sp>
        <p:nvSpPr>
          <p:cNvPr id="7" name="Shape 5"/>
          <p:cNvSpPr/>
          <p:nvPr/>
        </p:nvSpPr>
        <p:spPr>
          <a:xfrm>
            <a:off x="640080" y="1737360"/>
            <a:ext cx="5303520" cy="4480560"/>
          </a:xfrm>
          <a:prstGeom prst="roundRect">
            <a:avLst>
              <a:gd name="adj" fmla="val 2449"/>
            </a:avLst>
          </a:prstGeom>
          <a:solidFill>
            <a:srgbClr val="132A52"/>
          </a:solidFill>
          <a:ln/>
        </p:spPr>
      </p:sp>
      <p:sp>
        <p:nvSpPr>
          <p:cNvPr id="8" name="Text 6"/>
          <p:cNvSpPr/>
          <p:nvPr/>
        </p:nvSpPr>
        <p:spPr>
          <a:xfrm>
            <a:off x="914400" y="1965960"/>
            <a:ext cx="4572000" cy="457200"/>
          </a:xfrm>
          <a:prstGeom prst="rect">
            <a:avLst/>
          </a:prstGeom>
          <a:noFill/>
          <a:ln/>
        </p:spPr>
        <p:txBody>
          <a:bodyPr wrap="square" lIns="0" tIns="0" rIns="0" bIns="0" rtlCol="0" anchor="ctr"/>
          <a:lstStyle/>
          <a:p>
            <a:pPr marL="0" indent="0">
              <a:buNone/>
            </a:pPr>
            <a:r>
              <a:rPr lang="en-US" sz="1500" b="1" dirty="0">
                <a:solidFill>
                  <a:srgbClr val="5CD6A9"/>
                </a:solidFill>
                <a:latin typeface="Calibri" pitchFamily="34" charset="0"/>
                <a:ea typeface="Calibri" pitchFamily="34" charset="-122"/>
                <a:cs typeface="Calibri" pitchFamily="34" charset="-120"/>
              </a:rPr>
              <a:t>✅  STRENGTHS</a:t>
            </a:r>
            <a:endParaRPr lang="en-US" sz="1500" dirty="0"/>
          </a:p>
        </p:txBody>
      </p:sp>
      <p:sp>
        <p:nvSpPr>
          <p:cNvPr id="9" name="Text 7"/>
          <p:cNvSpPr/>
          <p:nvPr/>
        </p:nvSpPr>
        <p:spPr>
          <a:xfrm>
            <a:off x="914400" y="2468880"/>
            <a:ext cx="4754880" cy="3566160"/>
          </a:xfrm>
          <a:prstGeom prst="rect">
            <a:avLst/>
          </a:prstGeom>
          <a:noFill/>
          <a:ln/>
        </p:spPr>
        <p:txBody>
          <a:bodyPr wrap="square" lIns="0" tIns="0" rIns="0" bIns="0" rtlCol="0" anchor="ctr"/>
          <a:lstStyle/>
          <a:p>
            <a:pPr marL="342900" indent="-342900">
              <a:lnSpc>
                <a:spcPct val="120000"/>
              </a:lnSpc>
              <a:spcAft>
                <a:spcPts val="1100"/>
              </a:spcAft>
              <a:buSzPct val="100000"/>
              <a:buChar char="★"/>
            </a:pPr>
            <a:r>
              <a:rPr lang="en-US" sz="1200" dirty="0">
                <a:solidFill>
                  <a:srgbClr val="DCE4F5"/>
                </a:solidFill>
                <a:latin typeface="Calibri" pitchFamily="34" charset="0"/>
                <a:ea typeface="Calibri" pitchFamily="34" charset="-122"/>
                <a:cs typeface="Calibri" pitchFamily="34" charset="-120"/>
              </a:rPr>
              <a:t>Strong regulatory trust — SEBI registration &amp; exchange codes clearly disclosed</a:t>
            </a:r>
            <a:endParaRPr lang="en-US" sz="1200" dirty="0"/>
          </a:p>
          <a:p>
            <a:pPr marL="342900" indent="-342900">
              <a:lnSpc>
                <a:spcPct val="120000"/>
              </a:lnSpc>
              <a:spcAft>
                <a:spcPts val="1100"/>
              </a:spcAft>
              <a:buSzPct val="100000"/>
              <a:buChar char="★"/>
            </a:pPr>
            <a:r>
              <a:rPr lang="en-US" sz="1200" dirty="0">
                <a:solidFill>
                  <a:srgbClr val="DCE4F5"/>
                </a:solidFill>
                <a:latin typeface="Calibri" pitchFamily="34" charset="0"/>
                <a:ea typeface="Calibri" pitchFamily="34" charset="-122"/>
                <a:cs typeface="Calibri" pitchFamily="34" charset="-120"/>
              </a:rPr>
              <a:t>Comprehensive product range: equities, F&amp;O, mutual funds, IPOs, US stocks</a:t>
            </a:r>
            <a:endParaRPr lang="en-US" sz="1200" dirty="0"/>
          </a:p>
          <a:p>
            <a:pPr marL="342900" indent="-342900">
              <a:lnSpc>
                <a:spcPct val="120000"/>
              </a:lnSpc>
              <a:spcAft>
                <a:spcPts val="1100"/>
              </a:spcAft>
              <a:buSzPct val="100000"/>
              <a:buChar char="★"/>
            </a:pPr>
            <a:r>
              <a:rPr lang="en-US" sz="1200" dirty="0">
                <a:solidFill>
                  <a:srgbClr val="DCE4F5"/>
                </a:solidFill>
                <a:latin typeface="Calibri" pitchFamily="34" charset="0"/>
                <a:ea typeface="Calibri" pitchFamily="34" charset="-122"/>
                <a:cs typeface="Calibri" pitchFamily="34" charset="-120"/>
              </a:rPr>
              <a:t>ARQ recommendations give beginners a curated starting point</a:t>
            </a:r>
            <a:endParaRPr lang="en-US" sz="1200" dirty="0"/>
          </a:p>
          <a:p>
            <a:pPr marL="342900" indent="-342900">
              <a:lnSpc>
                <a:spcPct val="120000"/>
              </a:lnSpc>
              <a:spcAft>
                <a:spcPts val="1100"/>
              </a:spcAft>
              <a:buSzPct val="100000"/>
              <a:buChar char="★"/>
            </a:pPr>
            <a:r>
              <a:rPr lang="en-US" sz="1200" dirty="0">
                <a:solidFill>
                  <a:srgbClr val="DCE4F5"/>
                </a:solidFill>
                <a:latin typeface="Calibri" pitchFamily="34" charset="0"/>
                <a:ea typeface="Calibri" pitchFamily="34" charset="-122"/>
                <a:cs typeface="Calibri" pitchFamily="34" charset="-120"/>
              </a:rPr>
              <a:t>Streamlined, fast mobile-number + OTP + e-KYC account opening</a:t>
            </a:r>
            <a:endParaRPr lang="en-US" sz="1200" dirty="0"/>
          </a:p>
          <a:p>
            <a:pPr marL="342900" indent="-342900">
              <a:lnSpc>
                <a:spcPct val="120000"/>
              </a:lnSpc>
              <a:spcAft>
                <a:spcPts val="1100"/>
              </a:spcAft>
              <a:buSzPct val="100000"/>
              <a:buChar char="★"/>
            </a:pPr>
            <a:r>
              <a:rPr lang="en-US" sz="1200" dirty="0">
                <a:solidFill>
                  <a:srgbClr val="DCE4F5"/>
                </a:solidFill>
                <a:latin typeface="Calibri" pitchFamily="34" charset="0"/>
                <a:ea typeface="Calibri" pitchFamily="34" charset="-122"/>
                <a:cs typeface="Calibri" pitchFamily="34" charset="-120"/>
              </a:rPr>
              <a:t>Large, well-established customer base signals reliability</a:t>
            </a:r>
            <a:endParaRPr lang="en-US" sz="1200" dirty="0"/>
          </a:p>
        </p:txBody>
      </p:sp>
      <p:sp>
        <p:nvSpPr>
          <p:cNvPr id="10" name="Shape 8"/>
          <p:cNvSpPr/>
          <p:nvPr/>
        </p:nvSpPr>
        <p:spPr>
          <a:xfrm>
            <a:off x="6217920" y="1737360"/>
            <a:ext cx="5303520" cy="4480560"/>
          </a:xfrm>
          <a:prstGeom prst="roundRect">
            <a:avLst>
              <a:gd name="adj" fmla="val 2449"/>
            </a:avLst>
          </a:prstGeom>
          <a:solidFill>
            <a:srgbClr val="F4F7FC"/>
          </a:solidFill>
          <a:ln w="12700">
            <a:solidFill>
              <a:srgbClr val="D7E1F2"/>
            </a:solidFill>
            <a:prstDash val="solid"/>
          </a:ln>
        </p:spPr>
      </p:sp>
      <p:sp>
        <p:nvSpPr>
          <p:cNvPr id="11" name="Text 9"/>
          <p:cNvSpPr/>
          <p:nvPr/>
        </p:nvSpPr>
        <p:spPr>
          <a:xfrm>
            <a:off x="6492240" y="1965960"/>
            <a:ext cx="4572000" cy="457200"/>
          </a:xfrm>
          <a:prstGeom prst="rect">
            <a:avLst/>
          </a:prstGeom>
          <a:noFill/>
          <a:ln/>
        </p:spPr>
        <p:txBody>
          <a:bodyPr wrap="square" lIns="0" tIns="0" rIns="0" bIns="0" rtlCol="0" anchor="ctr"/>
          <a:lstStyle/>
          <a:p>
            <a:pPr marL="0" indent="0">
              <a:buNone/>
            </a:pPr>
            <a:r>
              <a:rPr lang="en-US" sz="1500" b="1" dirty="0">
                <a:solidFill>
                  <a:srgbClr val="C23B22"/>
                </a:solidFill>
                <a:latin typeface="Calibri" pitchFamily="34" charset="0"/>
                <a:ea typeface="Calibri" pitchFamily="34" charset="-122"/>
                <a:cs typeface="Calibri" pitchFamily="34" charset="-120"/>
              </a:rPr>
              <a:t>⚠  WEAKNESSES</a:t>
            </a:r>
            <a:endParaRPr lang="en-US" sz="1500" dirty="0"/>
          </a:p>
        </p:txBody>
      </p:sp>
      <p:sp>
        <p:nvSpPr>
          <p:cNvPr id="12" name="Text 10"/>
          <p:cNvSpPr/>
          <p:nvPr/>
        </p:nvSpPr>
        <p:spPr>
          <a:xfrm>
            <a:off x="6492240" y="2468880"/>
            <a:ext cx="4754880" cy="3566160"/>
          </a:xfrm>
          <a:prstGeom prst="rect">
            <a:avLst/>
          </a:prstGeom>
          <a:noFill/>
          <a:ln/>
        </p:spPr>
        <p:txBody>
          <a:bodyPr wrap="square" lIns="0" tIns="0" rIns="0" bIns="0" rtlCol="0" anchor="ctr"/>
          <a:lstStyle/>
          <a:p>
            <a:pPr marL="342900" indent="-342900">
              <a:lnSpc>
                <a:spcPct val="120000"/>
              </a:lnSpc>
              <a:spcAft>
                <a:spcPts val="1100"/>
              </a:spcAft>
              <a:buSzPct val="100000"/>
              <a:buChar char="✗"/>
            </a:pPr>
            <a:r>
              <a:rPr lang="en-US" sz="1200" dirty="0">
                <a:solidFill>
                  <a:srgbClr val="2B3A55"/>
                </a:solidFill>
                <a:latin typeface="Calibri" pitchFamily="34" charset="0"/>
                <a:ea typeface="Calibri" pitchFamily="34" charset="-122"/>
                <a:cs typeface="Calibri" pitchFamily="34" charset="-120"/>
              </a:rPr>
              <a:t>Two competing homepage CTAs dilute a clear primary action</a:t>
            </a:r>
            <a:endParaRPr lang="en-US" sz="1200" dirty="0"/>
          </a:p>
          <a:p>
            <a:pPr marL="342900" indent="-342900">
              <a:lnSpc>
                <a:spcPct val="120000"/>
              </a:lnSpc>
              <a:spcAft>
                <a:spcPts val="1100"/>
              </a:spcAft>
              <a:buSzPct val="100000"/>
              <a:buChar char="✗"/>
            </a:pPr>
            <a:r>
              <a:rPr lang="en-US" sz="1200" dirty="0">
                <a:solidFill>
                  <a:srgbClr val="2B3A55"/>
                </a:solidFill>
                <a:latin typeface="Calibri" pitchFamily="34" charset="0"/>
                <a:ea typeface="Calibri" pitchFamily="34" charset="-122"/>
                <a:cs typeface="Calibri" pitchFamily="34" charset="-120"/>
              </a:rPr>
              <a:t>Pricing &amp; product comparisons scattered across separate pages</a:t>
            </a:r>
            <a:endParaRPr lang="en-US" sz="1200" dirty="0"/>
          </a:p>
          <a:p>
            <a:pPr marL="342900" indent="-342900">
              <a:lnSpc>
                <a:spcPct val="120000"/>
              </a:lnSpc>
              <a:spcAft>
                <a:spcPts val="1100"/>
              </a:spcAft>
              <a:buSzPct val="100000"/>
              <a:buChar char="✗"/>
            </a:pPr>
            <a:r>
              <a:rPr lang="en-US" sz="1200" dirty="0">
                <a:solidFill>
                  <a:srgbClr val="2B3A55"/>
                </a:solidFill>
                <a:latin typeface="Calibri" pitchFamily="34" charset="0"/>
                <a:ea typeface="Calibri" pitchFamily="34" charset="-122"/>
                <a:cs typeface="Calibri" pitchFamily="34" charset="-120"/>
              </a:rPr>
              <a:t>No accessibility controls for contrast or text size</a:t>
            </a:r>
            <a:endParaRPr lang="en-US" sz="1200" dirty="0"/>
          </a:p>
          <a:p>
            <a:pPr marL="342900" indent="-342900">
              <a:lnSpc>
                <a:spcPct val="120000"/>
              </a:lnSpc>
              <a:spcAft>
                <a:spcPts val="1100"/>
              </a:spcAft>
              <a:buSzPct val="100000"/>
              <a:buChar char="✗"/>
            </a:pPr>
            <a:r>
              <a:rPr lang="en-US" sz="1200" dirty="0">
                <a:solidFill>
                  <a:srgbClr val="2B3A55"/>
                </a:solidFill>
                <a:latin typeface="Calibri" pitchFamily="34" charset="0"/>
                <a:ea typeface="Calibri" pitchFamily="34" charset="-122"/>
                <a:cs typeface="Calibri" pitchFamily="34" charset="-120"/>
              </a:rPr>
              <a:t>Marketing site and trading dashboard feel like different products</a:t>
            </a:r>
            <a:endParaRPr lang="en-US" sz="1200" dirty="0"/>
          </a:p>
          <a:p>
            <a:pPr marL="342900" indent="-342900">
              <a:lnSpc>
                <a:spcPct val="120000"/>
              </a:lnSpc>
              <a:spcAft>
                <a:spcPts val="1100"/>
              </a:spcAft>
              <a:buSzPct val="100000"/>
              <a:buChar char="✗"/>
            </a:pPr>
            <a:r>
              <a:rPr lang="en-US" sz="1200" dirty="0">
                <a:solidFill>
                  <a:srgbClr val="2B3A55"/>
                </a:solidFill>
                <a:latin typeface="Calibri" pitchFamily="34" charset="0"/>
                <a:ea typeface="Calibri" pitchFamily="34" charset="-122"/>
                <a:cs typeface="Calibri" pitchFamily="34" charset="-120"/>
              </a:rPr>
              <a:t>No role-based path for first-time vs. experienced investors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AF0FA"/>
        </a:solidFill>
        <a:effectLst/>
      </p:bgPr>
    </p:bg>
    <p:spTree>
      <p:nvGrpSpPr>
        <p:cNvPr id="1" name=""/>
        <p:cNvGrpSpPr/>
        <p:nvPr/>
      </p:nvGrpSpPr>
      <p:grpSpPr>
        <a:xfrm>
          <a:off x="0" y="0"/>
          <a:ext cx="0" cy="0"/>
          <a:chOff x="0" y="0"/>
          <a:chExt cx="0" cy="0"/>
        </a:xfrm>
      </p:grpSpPr>
      <p:sp>
        <p:nvSpPr>
          <p:cNvPr id="2" name="Text 0"/>
          <p:cNvSpPr/>
          <p:nvPr/>
        </p:nvSpPr>
        <p:spPr>
          <a:xfrm>
            <a:off x="457200" y="256032"/>
            <a:ext cx="4572000" cy="320040"/>
          </a:xfrm>
          <a:prstGeom prst="rect">
            <a:avLst/>
          </a:prstGeom>
          <a:noFill/>
          <a:ln/>
        </p:spPr>
        <p:txBody>
          <a:bodyPr wrap="square" lIns="0" tIns="0" rIns="0" bIns="0" rtlCol="0" anchor="ctr"/>
          <a:lstStyle/>
          <a:p>
            <a:pPr marL="0" indent="0">
              <a:buNone/>
            </a:pPr>
            <a:r>
              <a:rPr lang="en-US" sz="1100" b="1" dirty="0">
                <a:solidFill>
                  <a:srgbClr val="132A52"/>
                </a:solidFill>
                <a:latin typeface="Calibri" pitchFamily="34" charset="0"/>
                <a:ea typeface="Calibri" pitchFamily="34" charset="-122"/>
                <a:cs typeface="Calibri" pitchFamily="34" charset="-120"/>
              </a:rPr>
              <a:t>Angel One</a:t>
            </a:r>
            <a:endParaRPr lang="en-US" sz="1100" dirty="0"/>
          </a:p>
        </p:txBody>
      </p:sp>
      <p:sp>
        <p:nvSpPr>
          <p:cNvPr id="3" name="Text 1"/>
          <p:cNvSpPr/>
          <p:nvPr/>
        </p:nvSpPr>
        <p:spPr>
          <a:xfrm>
            <a:off x="7132320" y="256032"/>
            <a:ext cx="4572000" cy="320040"/>
          </a:xfrm>
          <a:prstGeom prst="rect">
            <a:avLst/>
          </a:prstGeom>
          <a:noFill/>
          <a:ln/>
        </p:spPr>
        <p:txBody>
          <a:bodyPr wrap="square" lIns="0" tIns="0" rIns="0" bIns="0" rtlCol="0" anchor="ctr"/>
          <a:lstStyle/>
          <a:p>
            <a:pPr marL="0" indent="0" algn="r">
              <a:buNone/>
            </a:pPr>
            <a:r>
              <a:rPr lang="en-US" sz="1100" dirty="0">
                <a:solidFill>
                  <a:srgbClr val="5B6B85"/>
                </a:solidFill>
                <a:latin typeface="Calibri" pitchFamily="34" charset="0"/>
                <a:ea typeface="Calibri" pitchFamily="34" charset="-122"/>
                <a:cs typeface="Calibri" pitchFamily="34" charset="-120"/>
              </a:rPr>
              <a:t>UX Research &amp; Analysis</a:t>
            </a:r>
            <a:endParaRPr lang="en-US" sz="1100" dirty="0"/>
          </a:p>
        </p:txBody>
      </p:sp>
      <p:sp>
        <p:nvSpPr>
          <p:cNvPr id="4" name="Shape 2"/>
          <p:cNvSpPr/>
          <p:nvPr/>
        </p:nvSpPr>
        <p:spPr>
          <a:xfrm rot="5400000">
            <a:off x="10881360" y="-548640"/>
            <a:ext cx="2377440" cy="2377440"/>
          </a:xfrm>
          <a:prstGeom prst="triangle">
            <a:avLst/>
          </a:prstGeom>
          <a:solidFill>
            <a:srgbClr val="132A52">
              <a:alpha val="8000"/>
            </a:srgbClr>
          </a:solidFill>
          <a:ln/>
        </p:spPr>
      </p:sp>
      <p:sp>
        <p:nvSpPr>
          <p:cNvPr id="5" name="Shape 3"/>
          <p:cNvSpPr/>
          <p:nvPr/>
        </p:nvSpPr>
        <p:spPr>
          <a:xfrm rot="16200000">
            <a:off x="-640080" y="5760720"/>
            <a:ext cx="2011680" cy="2011680"/>
          </a:xfrm>
          <a:prstGeom prst="triangle">
            <a:avLst/>
          </a:prstGeom>
          <a:solidFill>
            <a:srgbClr val="FF6A2B">
              <a:alpha val="6000"/>
            </a:srgbClr>
          </a:solidFill>
          <a:ln/>
        </p:spPr>
      </p:sp>
      <p:sp>
        <p:nvSpPr>
          <p:cNvPr id="6" name="Text 4"/>
          <p:cNvSpPr/>
          <p:nvPr/>
        </p:nvSpPr>
        <p:spPr>
          <a:xfrm>
            <a:off x="640080" y="868680"/>
            <a:ext cx="9144000" cy="640080"/>
          </a:xfrm>
          <a:prstGeom prst="rect">
            <a:avLst/>
          </a:prstGeom>
          <a:noFill/>
          <a:ln/>
        </p:spPr>
        <p:txBody>
          <a:bodyPr wrap="square" lIns="0" tIns="0" rIns="0" bIns="0" rtlCol="0" anchor="ctr"/>
          <a:lstStyle/>
          <a:p>
            <a:pPr marL="0" indent="0">
              <a:buNone/>
            </a:pPr>
            <a:r>
              <a:rPr lang="en-US" sz="3200" b="1" dirty="0">
                <a:solidFill>
                  <a:srgbClr val="132A52"/>
                </a:solidFill>
                <a:latin typeface="Century Schoolbook" pitchFamily="34" charset="0"/>
                <a:ea typeface="Century Schoolbook" pitchFamily="34" charset="-122"/>
                <a:cs typeface="Century Schoolbook" pitchFamily="34" charset="-120"/>
              </a:rPr>
              <a:t>Design Recommendations</a:t>
            </a:r>
            <a:endParaRPr lang="en-US" sz="3200" dirty="0"/>
          </a:p>
        </p:txBody>
      </p:sp>
      <p:sp>
        <p:nvSpPr>
          <p:cNvPr id="7" name="Shape 5"/>
          <p:cNvSpPr/>
          <p:nvPr/>
        </p:nvSpPr>
        <p:spPr>
          <a:xfrm>
            <a:off x="640080" y="1737360"/>
            <a:ext cx="5257800" cy="2057400"/>
          </a:xfrm>
          <a:prstGeom prst="roundRect">
            <a:avLst>
              <a:gd name="adj" fmla="val 4444"/>
            </a:avLst>
          </a:prstGeom>
          <a:solidFill>
            <a:srgbClr val="FFFFFF"/>
          </a:solidFill>
          <a:ln w="12700">
            <a:solidFill>
              <a:srgbClr val="D7E1F2"/>
            </a:solidFill>
            <a:prstDash val="solid"/>
          </a:ln>
          <a:effectLst>
            <a:outerShdw blurRad="76200" dist="25400" dir="5400000" algn="bl" rotWithShape="0">
              <a:srgbClr val="1B2A52">
                <a:alpha val="10000"/>
              </a:srgbClr>
            </a:outerShdw>
          </a:effectLst>
        </p:spPr>
      </p:sp>
      <p:sp>
        <p:nvSpPr>
          <p:cNvPr id="8" name="Shape 6"/>
          <p:cNvSpPr/>
          <p:nvPr/>
        </p:nvSpPr>
        <p:spPr>
          <a:xfrm>
            <a:off x="914400" y="2011680"/>
            <a:ext cx="548640" cy="548640"/>
          </a:xfrm>
          <a:prstGeom prst="ellipse">
            <a:avLst/>
          </a:prstGeom>
          <a:solidFill>
            <a:srgbClr val="FF6A2B"/>
          </a:solidFill>
          <a:ln/>
        </p:spPr>
      </p:sp>
      <p:sp>
        <p:nvSpPr>
          <p:cNvPr id="9" name="Text 7"/>
          <p:cNvSpPr/>
          <p:nvPr/>
        </p:nvSpPr>
        <p:spPr>
          <a:xfrm>
            <a:off x="914400" y="201168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0" name="Text 8"/>
          <p:cNvSpPr/>
          <p:nvPr/>
        </p:nvSpPr>
        <p:spPr>
          <a:xfrm>
            <a:off x="1645920" y="1993392"/>
            <a:ext cx="4023360" cy="594360"/>
          </a:xfrm>
          <a:prstGeom prst="rect">
            <a:avLst/>
          </a:prstGeom>
          <a:noFill/>
          <a:ln/>
        </p:spPr>
        <p:txBody>
          <a:bodyPr wrap="square" lIns="0" tIns="0" rIns="0" bIns="0" rtlCol="0" anchor="ctr"/>
          <a:lstStyle/>
          <a:p>
            <a:pPr marL="0" indent="0">
              <a:lnSpc>
                <a:spcPct val="110000"/>
              </a:lnSpc>
              <a:buNone/>
            </a:pPr>
            <a:r>
              <a:rPr lang="en-US" sz="1350" b="1" dirty="0">
                <a:solidFill>
                  <a:srgbClr val="132A52"/>
                </a:solidFill>
                <a:latin typeface="Calibri" pitchFamily="34" charset="0"/>
                <a:ea typeface="Calibri" pitchFamily="34" charset="-122"/>
                <a:cs typeface="Calibri" pitchFamily="34" charset="-120"/>
              </a:rPr>
              <a:t>Establish One Primary Action</a:t>
            </a:r>
            <a:endParaRPr lang="en-US" sz="1350" dirty="0"/>
          </a:p>
        </p:txBody>
      </p:sp>
      <p:sp>
        <p:nvSpPr>
          <p:cNvPr id="11" name="Text 9"/>
          <p:cNvSpPr/>
          <p:nvPr/>
        </p:nvSpPr>
        <p:spPr>
          <a:xfrm>
            <a:off x="914400" y="2651760"/>
            <a:ext cx="4754880" cy="1051560"/>
          </a:xfrm>
          <a:prstGeom prst="rect">
            <a:avLst/>
          </a:prstGeom>
          <a:noFill/>
          <a:ln/>
        </p:spPr>
        <p:txBody>
          <a:bodyPr wrap="square" lIns="0" tIns="0" rIns="0" bIns="0" rtlCol="0" anchor="ctr"/>
          <a:lstStyle/>
          <a:p>
            <a:pPr marL="0" indent="0">
              <a:lnSpc>
                <a:spcPct val="120000"/>
              </a:lnSpc>
              <a:buNone/>
            </a:pPr>
            <a:r>
              <a:rPr lang="en-US" sz="1080" dirty="0">
                <a:solidFill>
                  <a:srgbClr val="2B3A55"/>
                </a:solidFill>
                <a:latin typeface="Calibri" pitchFamily="34" charset="0"/>
                <a:ea typeface="Calibri" pitchFamily="34" charset="-122"/>
                <a:cs typeface="Calibri" pitchFamily="34" charset="-120"/>
              </a:rPr>
              <a:t>Prioritize account opening as the clear default homepage action; make app download a secondary, lower-weight prompt shown after sign-up.</a:t>
            </a:r>
            <a:endParaRPr lang="en-US" sz="1080" dirty="0"/>
          </a:p>
        </p:txBody>
      </p:sp>
      <p:sp>
        <p:nvSpPr>
          <p:cNvPr id="12" name="Shape 10"/>
          <p:cNvSpPr/>
          <p:nvPr/>
        </p:nvSpPr>
        <p:spPr>
          <a:xfrm>
            <a:off x="6217920" y="1737360"/>
            <a:ext cx="5257800" cy="2057400"/>
          </a:xfrm>
          <a:prstGeom prst="roundRect">
            <a:avLst>
              <a:gd name="adj" fmla="val 4444"/>
            </a:avLst>
          </a:prstGeom>
          <a:solidFill>
            <a:srgbClr val="FFFFFF"/>
          </a:solidFill>
          <a:ln w="12700">
            <a:solidFill>
              <a:srgbClr val="D7E1F2"/>
            </a:solidFill>
            <a:prstDash val="solid"/>
          </a:ln>
          <a:effectLst>
            <a:outerShdw blurRad="76200" dist="25400" dir="5400000" algn="bl" rotWithShape="0">
              <a:srgbClr val="1B2A52">
                <a:alpha val="10000"/>
              </a:srgbClr>
            </a:outerShdw>
          </a:effectLst>
        </p:spPr>
      </p:sp>
      <p:sp>
        <p:nvSpPr>
          <p:cNvPr id="13" name="Shape 11"/>
          <p:cNvSpPr/>
          <p:nvPr/>
        </p:nvSpPr>
        <p:spPr>
          <a:xfrm>
            <a:off x="6492240" y="2011680"/>
            <a:ext cx="548640" cy="548640"/>
          </a:xfrm>
          <a:prstGeom prst="ellipse">
            <a:avLst/>
          </a:prstGeom>
          <a:solidFill>
            <a:srgbClr val="FF6A2B"/>
          </a:solidFill>
          <a:ln/>
        </p:spPr>
      </p:sp>
      <p:sp>
        <p:nvSpPr>
          <p:cNvPr id="14" name="Text 12"/>
          <p:cNvSpPr/>
          <p:nvPr/>
        </p:nvSpPr>
        <p:spPr>
          <a:xfrm>
            <a:off x="6492240" y="201168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5" name="Text 13"/>
          <p:cNvSpPr/>
          <p:nvPr/>
        </p:nvSpPr>
        <p:spPr>
          <a:xfrm>
            <a:off x="7223760" y="1993392"/>
            <a:ext cx="4023360" cy="594360"/>
          </a:xfrm>
          <a:prstGeom prst="rect">
            <a:avLst/>
          </a:prstGeom>
          <a:noFill/>
          <a:ln/>
        </p:spPr>
        <p:txBody>
          <a:bodyPr wrap="square" lIns="0" tIns="0" rIns="0" bIns="0" rtlCol="0" anchor="ctr"/>
          <a:lstStyle/>
          <a:p>
            <a:pPr marL="0" indent="0">
              <a:lnSpc>
                <a:spcPct val="110000"/>
              </a:lnSpc>
              <a:buNone/>
            </a:pPr>
            <a:r>
              <a:rPr lang="en-US" sz="1350" b="1" dirty="0">
                <a:solidFill>
                  <a:srgbClr val="132A52"/>
                </a:solidFill>
                <a:latin typeface="Calibri" pitchFamily="34" charset="0"/>
                <a:ea typeface="Calibri" pitchFamily="34" charset="-122"/>
                <a:cs typeface="Calibri" pitchFamily="34" charset="-120"/>
              </a:rPr>
              <a:t>Consolidate Pricing &amp; Comparison</a:t>
            </a:r>
            <a:endParaRPr lang="en-US" sz="1350" dirty="0"/>
          </a:p>
        </p:txBody>
      </p:sp>
      <p:sp>
        <p:nvSpPr>
          <p:cNvPr id="16" name="Text 14"/>
          <p:cNvSpPr/>
          <p:nvPr/>
        </p:nvSpPr>
        <p:spPr>
          <a:xfrm>
            <a:off x="6492240" y="2651760"/>
            <a:ext cx="4754880" cy="1051560"/>
          </a:xfrm>
          <a:prstGeom prst="rect">
            <a:avLst/>
          </a:prstGeom>
          <a:noFill/>
          <a:ln/>
        </p:spPr>
        <p:txBody>
          <a:bodyPr wrap="square" lIns="0" tIns="0" rIns="0" bIns="0" rtlCol="0" anchor="ctr"/>
          <a:lstStyle/>
          <a:p>
            <a:pPr marL="0" indent="0">
              <a:lnSpc>
                <a:spcPct val="120000"/>
              </a:lnSpc>
              <a:buNone/>
            </a:pPr>
            <a:r>
              <a:rPr lang="en-US" sz="1080" dirty="0">
                <a:solidFill>
                  <a:srgbClr val="2B3A55"/>
                </a:solidFill>
                <a:latin typeface="Calibri" pitchFamily="34" charset="0"/>
                <a:ea typeface="Calibri" pitchFamily="34" charset="-122"/>
                <a:cs typeface="Calibri" pitchFamily="34" charset="-120"/>
              </a:rPr>
              <a:t>Bring brokerage charges, product features, and platform tools together on a single comparison page instead of spreading them across the site.</a:t>
            </a:r>
            <a:endParaRPr lang="en-US" sz="1080" dirty="0"/>
          </a:p>
        </p:txBody>
      </p:sp>
      <p:sp>
        <p:nvSpPr>
          <p:cNvPr id="17" name="Shape 15"/>
          <p:cNvSpPr/>
          <p:nvPr/>
        </p:nvSpPr>
        <p:spPr>
          <a:xfrm>
            <a:off x="640080" y="4023360"/>
            <a:ext cx="5257800" cy="2057400"/>
          </a:xfrm>
          <a:prstGeom prst="roundRect">
            <a:avLst>
              <a:gd name="adj" fmla="val 4444"/>
            </a:avLst>
          </a:prstGeom>
          <a:solidFill>
            <a:srgbClr val="FFFFFF"/>
          </a:solidFill>
          <a:ln w="12700">
            <a:solidFill>
              <a:srgbClr val="D7E1F2"/>
            </a:solidFill>
            <a:prstDash val="solid"/>
          </a:ln>
          <a:effectLst>
            <a:outerShdw blurRad="76200" dist="25400" dir="5400000" algn="bl" rotWithShape="0">
              <a:srgbClr val="1B2A52">
                <a:alpha val="10000"/>
              </a:srgbClr>
            </a:outerShdw>
          </a:effectLst>
        </p:spPr>
      </p:sp>
      <p:sp>
        <p:nvSpPr>
          <p:cNvPr id="18" name="Shape 16"/>
          <p:cNvSpPr/>
          <p:nvPr/>
        </p:nvSpPr>
        <p:spPr>
          <a:xfrm>
            <a:off x="914400" y="4297680"/>
            <a:ext cx="548640" cy="548640"/>
          </a:xfrm>
          <a:prstGeom prst="ellipse">
            <a:avLst/>
          </a:prstGeom>
          <a:solidFill>
            <a:srgbClr val="FF6A2B"/>
          </a:solidFill>
          <a:ln/>
        </p:spPr>
      </p:sp>
      <p:sp>
        <p:nvSpPr>
          <p:cNvPr id="19" name="Text 17"/>
          <p:cNvSpPr/>
          <p:nvPr/>
        </p:nvSpPr>
        <p:spPr>
          <a:xfrm>
            <a:off x="914400" y="429768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0" name="Text 18"/>
          <p:cNvSpPr/>
          <p:nvPr/>
        </p:nvSpPr>
        <p:spPr>
          <a:xfrm>
            <a:off x="1645920" y="4279392"/>
            <a:ext cx="4023360" cy="594360"/>
          </a:xfrm>
          <a:prstGeom prst="rect">
            <a:avLst/>
          </a:prstGeom>
          <a:noFill/>
          <a:ln/>
        </p:spPr>
        <p:txBody>
          <a:bodyPr wrap="square" lIns="0" tIns="0" rIns="0" bIns="0" rtlCol="0" anchor="ctr"/>
          <a:lstStyle/>
          <a:p>
            <a:pPr marL="0" indent="0">
              <a:lnSpc>
                <a:spcPct val="110000"/>
              </a:lnSpc>
              <a:buNone/>
            </a:pPr>
            <a:r>
              <a:rPr lang="en-US" sz="1350" b="1" dirty="0">
                <a:solidFill>
                  <a:srgbClr val="132A52"/>
                </a:solidFill>
                <a:latin typeface="Calibri" pitchFamily="34" charset="0"/>
                <a:ea typeface="Calibri" pitchFamily="34" charset="-122"/>
                <a:cs typeface="Calibri" pitchFamily="34" charset="-120"/>
              </a:rPr>
              <a:t>Bridge the Site-to-App Gap</a:t>
            </a:r>
            <a:endParaRPr lang="en-US" sz="1350" dirty="0"/>
          </a:p>
        </p:txBody>
      </p:sp>
      <p:sp>
        <p:nvSpPr>
          <p:cNvPr id="21" name="Text 19"/>
          <p:cNvSpPr/>
          <p:nvPr/>
        </p:nvSpPr>
        <p:spPr>
          <a:xfrm>
            <a:off x="914400" y="4937760"/>
            <a:ext cx="4754880" cy="1051560"/>
          </a:xfrm>
          <a:prstGeom prst="rect">
            <a:avLst/>
          </a:prstGeom>
          <a:noFill/>
          <a:ln/>
        </p:spPr>
        <p:txBody>
          <a:bodyPr wrap="square" lIns="0" tIns="0" rIns="0" bIns="0" rtlCol="0" anchor="ctr"/>
          <a:lstStyle/>
          <a:p>
            <a:pPr marL="0" indent="0">
              <a:lnSpc>
                <a:spcPct val="120000"/>
              </a:lnSpc>
              <a:buNone/>
            </a:pPr>
            <a:r>
              <a:rPr lang="en-US" sz="1080" dirty="0">
                <a:solidFill>
                  <a:srgbClr val="2B3A55"/>
                </a:solidFill>
                <a:latin typeface="Calibri" pitchFamily="34" charset="0"/>
                <a:ea typeface="Calibri" pitchFamily="34" charset="-122"/>
                <a:cs typeface="Calibri" pitchFamily="34" charset="-120"/>
              </a:rPr>
              <a:t>Introduce a short guided walkthrough on first login so the shift from the marketing site to the trading dashboard feels like one connected product.</a:t>
            </a:r>
            <a:endParaRPr lang="en-US" sz="1080" dirty="0"/>
          </a:p>
        </p:txBody>
      </p:sp>
      <p:sp>
        <p:nvSpPr>
          <p:cNvPr id="22" name="Shape 20"/>
          <p:cNvSpPr/>
          <p:nvPr/>
        </p:nvSpPr>
        <p:spPr>
          <a:xfrm>
            <a:off x="6217920" y="4023360"/>
            <a:ext cx="5257800" cy="2057400"/>
          </a:xfrm>
          <a:prstGeom prst="roundRect">
            <a:avLst>
              <a:gd name="adj" fmla="val 4444"/>
            </a:avLst>
          </a:prstGeom>
          <a:solidFill>
            <a:srgbClr val="FFFFFF"/>
          </a:solidFill>
          <a:ln w="12700">
            <a:solidFill>
              <a:srgbClr val="D7E1F2"/>
            </a:solidFill>
            <a:prstDash val="solid"/>
          </a:ln>
          <a:effectLst>
            <a:outerShdw blurRad="76200" dist="25400" dir="5400000" algn="bl" rotWithShape="0">
              <a:srgbClr val="1B2A52">
                <a:alpha val="10000"/>
              </a:srgbClr>
            </a:outerShdw>
          </a:effectLst>
        </p:spPr>
      </p:sp>
      <p:sp>
        <p:nvSpPr>
          <p:cNvPr id="23" name="Shape 21"/>
          <p:cNvSpPr/>
          <p:nvPr/>
        </p:nvSpPr>
        <p:spPr>
          <a:xfrm>
            <a:off x="6492240" y="4297680"/>
            <a:ext cx="548640" cy="548640"/>
          </a:xfrm>
          <a:prstGeom prst="ellipse">
            <a:avLst/>
          </a:prstGeom>
          <a:solidFill>
            <a:srgbClr val="FF6A2B"/>
          </a:solidFill>
          <a:ln/>
        </p:spPr>
      </p:sp>
      <p:sp>
        <p:nvSpPr>
          <p:cNvPr id="24" name="Text 22"/>
          <p:cNvSpPr/>
          <p:nvPr/>
        </p:nvSpPr>
        <p:spPr>
          <a:xfrm>
            <a:off x="6492240" y="429768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5" name="Text 23"/>
          <p:cNvSpPr/>
          <p:nvPr/>
        </p:nvSpPr>
        <p:spPr>
          <a:xfrm>
            <a:off x="7223760" y="4279392"/>
            <a:ext cx="4023360" cy="594360"/>
          </a:xfrm>
          <a:prstGeom prst="rect">
            <a:avLst/>
          </a:prstGeom>
          <a:noFill/>
          <a:ln/>
        </p:spPr>
        <p:txBody>
          <a:bodyPr wrap="square" lIns="0" tIns="0" rIns="0" bIns="0" rtlCol="0" anchor="ctr"/>
          <a:lstStyle/>
          <a:p>
            <a:pPr marL="0" indent="0">
              <a:lnSpc>
                <a:spcPct val="110000"/>
              </a:lnSpc>
              <a:buNone/>
            </a:pPr>
            <a:r>
              <a:rPr lang="en-US" sz="1350" b="1" dirty="0">
                <a:solidFill>
                  <a:srgbClr val="132A52"/>
                </a:solidFill>
                <a:latin typeface="Calibri" pitchFamily="34" charset="0"/>
                <a:ea typeface="Calibri" pitchFamily="34" charset="-122"/>
                <a:cs typeface="Calibri" pitchFamily="34" charset="-120"/>
              </a:rPr>
              <a:t>Add Role-Based Entry Points</a:t>
            </a:r>
            <a:endParaRPr lang="en-US" sz="1350" dirty="0"/>
          </a:p>
        </p:txBody>
      </p:sp>
      <p:sp>
        <p:nvSpPr>
          <p:cNvPr id="26" name="Text 24"/>
          <p:cNvSpPr/>
          <p:nvPr/>
        </p:nvSpPr>
        <p:spPr>
          <a:xfrm>
            <a:off x="6492240" y="4937760"/>
            <a:ext cx="4754880" cy="1051560"/>
          </a:xfrm>
          <a:prstGeom prst="rect">
            <a:avLst/>
          </a:prstGeom>
          <a:noFill/>
          <a:ln/>
        </p:spPr>
        <p:txBody>
          <a:bodyPr wrap="square" lIns="0" tIns="0" rIns="0" bIns="0" rtlCol="0" anchor="ctr"/>
          <a:lstStyle/>
          <a:p>
            <a:pPr marL="0" indent="0">
              <a:lnSpc>
                <a:spcPct val="120000"/>
              </a:lnSpc>
              <a:buNone/>
            </a:pPr>
            <a:r>
              <a:rPr lang="en-US" sz="1080" dirty="0">
                <a:solidFill>
                  <a:srgbClr val="2B3A55"/>
                </a:solidFill>
                <a:latin typeface="Calibri" pitchFamily="34" charset="0"/>
                <a:ea typeface="Calibri" pitchFamily="34" charset="-122"/>
                <a:cs typeface="Calibri" pitchFamily="34" charset="-120"/>
              </a:rPr>
              <a:t>Offer brief entry paths — "I'm new to investing," "I trade actively," "I'm comparing brokers" — so each visitor reaches relevant content faster.</a:t>
            </a:r>
            <a:endParaRPr lang="en-US" sz="10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4572000" cy="320040"/>
          </a:xfrm>
          <a:prstGeom prst="rect">
            <a:avLst/>
          </a:prstGeom>
          <a:noFill/>
          <a:ln/>
        </p:spPr>
        <p:txBody>
          <a:bodyPr wrap="square" lIns="0" tIns="0" rIns="0" bIns="0" rtlCol="0" anchor="ctr"/>
          <a:lstStyle/>
          <a:p>
            <a:pPr marL="0" indent="0">
              <a:buNone/>
            </a:pPr>
            <a:r>
              <a:rPr lang="en-US" sz="1100" b="1" dirty="0">
                <a:solidFill>
                  <a:srgbClr val="132A52"/>
                </a:solidFill>
                <a:latin typeface="Calibri" pitchFamily="34" charset="0"/>
                <a:ea typeface="Calibri" pitchFamily="34" charset="-122"/>
                <a:cs typeface="Calibri" pitchFamily="34" charset="-120"/>
              </a:rPr>
              <a:t>Angel One</a:t>
            </a:r>
            <a:endParaRPr lang="en-US" sz="1100" dirty="0"/>
          </a:p>
        </p:txBody>
      </p:sp>
      <p:sp>
        <p:nvSpPr>
          <p:cNvPr id="3" name="Text 1"/>
          <p:cNvSpPr/>
          <p:nvPr/>
        </p:nvSpPr>
        <p:spPr>
          <a:xfrm>
            <a:off x="7132320" y="256032"/>
            <a:ext cx="4572000" cy="320040"/>
          </a:xfrm>
          <a:prstGeom prst="rect">
            <a:avLst/>
          </a:prstGeom>
          <a:noFill/>
          <a:ln/>
        </p:spPr>
        <p:txBody>
          <a:bodyPr wrap="square" lIns="0" tIns="0" rIns="0" bIns="0" rtlCol="0" anchor="ctr"/>
          <a:lstStyle/>
          <a:p>
            <a:pPr marL="0" indent="0" algn="r">
              <a:buNone/>
            </a:pPr>
            <a:r>
              <a:rPr lang="en-US" sz="1100" dirty="0">
                <a:solidFill>
                  <a:srgbClr val="5B6B85"/>
                </a:solidFill>
                <a:latin typeface="Calibri" pitchFamily="34" charset="0"/>
                <a:ea typeface="Calibri" pitchFamily="34" charset="-122"/>
                <a:cs typeface="Calibri" pitchFamily="34" charset="-120"/>
              </a:rPr>
              <a:t>UX Research &amp; Interface Analysis</a:t>
            </a:r>
            <a:endParaRPr lang="en-US" sz="1100" dirty="0"/>
          </a:p>
        </p:txBody>
      </p:sp>
      <p:sp>
        <p:nvSpPr>
          <p:cNvPr id="4" name="Shape 2"/>
          <p:cNvSpPr/>
          <p:nvPr/>
        </p:nvSpPr>
        <p:spPr>
          <a:xfrm rot="5400000">
            <a:off x="10881360" y="-548640"/>
            <a:ext cx="2377440" cy="2377440"/>
          </a:xfrm>
          <a:prstGeom prst="triangle">
            <a:avLst/>
          </a:prstGeom>
          <a:solidFill>
            <a:srgbClr val="132A52">
              <a:alpha val="8000"/>
            </a:srgbClr>
          </a:solidFill>
          <a:ln/>
        </p:spPr>
      </p:sp>
      <p:sp>
        <p:nvSpPr>
          <p:cNvPr id="5" name="Shape 3"/>
          <p:cNvSpPr/>
          <p:nvPr/>
        </p:nvSpPr>
        <p:spPr>
          <a:xfrm rot="16200000">
            <a:off x="-640080" y="5760720"/>
            <a:ext cx="2011680" cy="2011680"/>
          </a:xfrm>
          <a:prstGeom prst="triangle">
            <a:avLst/>
          </a:prstGeom>
          <a:solidFill>
            <a:srgbClr val="FF6A2B">
              <a:alpha val="6000"/>
            </a:srgbClr>
          </a:solidFill>
          <a:ln/>
        </p:spPr>
      </p:sp>
      <p:sp>
        <p:nvSpPr>
          <p:cNvPr id="6" name="Text 4"/>
          <p:cNvSpPr/>
          <p:nvPr/>
        </p:nvSpPr>
        <p:spPr>
          <a:xfrm>
            <a:off x="640080" y="868680"/>
            <a:ext cx="7315200" cy="640080"/>
          </a:xfrm>
          <a:prstGeom prst="rect">
            <a:avLst/>
          </a:prstGeom>
          <a:noFill/>
          <a:ln/>
        </p:spPr>
        <p:txBody>
          <a:bodyPr wrap="square" lIns="0" tIns="0" rIns="0" bIns="0" rtlCol="0" anchor="ctr"/>
          <a:lstStyle/>
          <a:p>
            <a:pPr marL="0" indent="0">
              <a:buNone/>
            </a:pPr>
            <a:r>
              <a:rPr lang="en-US" sz="3200" b="1" dirty="0">
                <a:solidFill>
                  <a:srgbClr val="132A52"/>
                </a:solidFill>
                <a:latin typeface="Century Schoolbook" pitchFamily="34" charset="0"/>
                <a:ea typeface="Century Schoolbook" pitchFamily="34" charset="-122"/>
                <a:cs typeface="Century Schoolbook" pitchFamily="34" charset="-120"/>
              </a:rPr>
              <a:t>Conclusion</a:t>
            </a:r>
            <a:endParaRPr lang="en-US" sz="3200" dirty="0"/>
          </a:p>
        </p:txBody>
      </p:sp>
      <p:sp>
        <p:nvSpPr>
          <p:cNvPr id="7" name="Shape 5"/>
          <p:cNvSpPr/>
          <p:nvPr/>
        </p:nvSpPr>
        <p:spPr>
          <a:xfrm>
            <a:off x="640080" y="1783080"/>
            <a:ext cx="10881360" cy="1188720"/>
          </a:xfrm>
          <a:prstGeom prst="roundRect">
            <a:avLst>
              <a:gd name="adj" fmla="val 7692"/>
            </a:avLst>
          </a:prstGeom>
          <a:solidFill>
            <a:srgbClr val="F4F7FC"/>
          </a:solidFill>
          <a:ln w="12700">
            <a:solidFill>
              <a:srgbClr val="D7E1F2"/>
            </a:solidFill>
            <a:prstDash val="solid"/>
          </a:ln>
        </p:spPr>
      </p:sp>
      <p:sp>
        <p:nvSpPr>
          <p:cNvPr id="8" name="Shape 6"/>
          <p:cNvSpPr/>
          <p:nvPr/>
        </p:nvSpPr>
        <p:spPr>
          <a:xfrm>
            <a:off x="868680" y="2103120"/>
            <a:ext cx="548640" cy="548640"/>
          </a:xfrm>
          <a:prstGeom prst="ellipse">
            <a:avLst/>
          </a:prstGeom>
          <a:solidFill>
            <a:srgbClr val="132A52"/>
          </a:solidFill>
          <a:ln/>
        </p:spPr>
      </p:sp>
      <p:sp>
        <p:nvSpPr>
          <p:cNvPr id="9" name="Text 7"/>
          <p:cNvSpPr/>
          <p:nvPr/>
        </p:nvSpPr>
        <p:spPr>
          <a:xfrm>
            <a:off x="868680" y="210312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0" name="Text 8"/>
          <p:cNvSpPr/>
          <p:nvPr/>
        </p:nvSpPr>
        <p:spPr>
          <a:xfrm>
            <a:off x="1691640" y="1783080"/>
            <a:ext cx="9646920" cy="1188720"/>
          </a:xfrm>
          <a:prstGeom prst="rect">
            <a:avLst/>
          </a:prstGeom>
          <a:noFill/>
          <a:ln/>
        </p:spPr>
        <p:txBody>
          <a:bodyPr wrap="square" lIns="0" tIns="0" rIns="0" bIns="0" rtlCol="0" anchor="ctr"/>
          <a:lstStyle/>
          <a:p>
            <a:pPr marL="0" indent="0">
              <a:lnSpc>
                <a:spcPct val="125000"/>
              </a:lnSpc>
              <a:buNone/>
            </a:pPr>
            <a:r>
              <a:rPr lang="en-US" sz="1300" dirty="0">
                <a:solidFill>
                  <a:srgbClr val="2B3A55"/>
                </a:solidFill>
                <a:latin typeface="Calibri" pitchFamily="34" charset="0"/>
                <a:ea typeface="Calibri" pitchFamily="34" charset="-122"/>
                <a:cs typeface="Calibri" pitchFamily="34" charset="-120"/>
              </a:rPr>
              <a:t>Angel One is a well-trusted, SEBI-registered platform that succeeds at its core goal: converting an interested visitor into a funded, active investing account through a fast, modern onboarding flow.</a:t>
            </a:r>
            <a:endParaRPr lang="en-US" sz="1300" dirty="0"/>
          </a:p>
        </p:txBody>
      </p:sp>
      <p:sp>
        <p:nvSpPr>
          <p:cNvPr id="11" name="Shape 9"/>
          <p:cNvSpPr/>
          <p:nvPr/>
        </p:nvSpPr>
        <p:spPr>
          <a:xfrm>
            <a:off x="640080" y="3200400"/>
            <a:ext cx="10881360" cy="1188720"/>
          </a:xfrm>
          <a:prstGeom prst="roundRect">
            <a:avLst>
              <a:gd name="adj" fmla="val 7692"/>
            </a:avLst>
          </a:prstGeom>
          <a:solidFill>
            <a:srgbClr val="F4F7FC"/>
          </a:solidFill>
          <a:ln w="12700">
            <a:solidFill>
              <a:srgbClr val="D7E1F2"/>
            </a:solidFill>
            <a:prstDash val="solid"/>
          </a:ln>
        </p:spPr>
      </p:sp>
      <p:sp>
        <p:nvSpPr>
          <p:cNvPr id="12" name="Shape 10"/>
          <p:cNvSpPr/>
          <p:nvPr/>
        </p:nvSpPr>
        <p:spPr>
          <a:xfrm>
            <a:off x="868680" y="3520440"/>
            <a:ext cx="548640" cy="548640"/>
          </a:xfrm>
          <a:prstGeom prst="ellipse">
            <a:avLst/>
          </a:prstGeom>
          <a:solidFill>
            <a:srgbClr val="132A52"/>
          </a:solidFill>
          <a:ln/>
        </p:spPr>
      </p:sp>
      <p:sp>
        <p:nvSpPr>
          <p:cNvPr id="13" name="Text 11"/>
          <p:cNvSpPr/>
          <p:nvPr/>
        </p:nvSpPr>
        <p:spPr>
          <a:xfrm>
            <a:off x="868680" y="352044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4" name="Text 12"/>
          <p:cNvSpPr/>
          <p:nvPr/>
        </p:nvSpPr>
        <p:spPr>
          <a:xfrm>
            <a:off x="1691640" y="3200400"/>
            <a:ext cx="9646920" cy="1188720"/>
          </a:xfrm>
          <a:prstGeom prst="rect">
            <a:avLst/>
          </a:prstGeom>
          <a:noFill/>
          <a:ln/>
        </p:spPr>
        <p:txBody>
          <a:bodyPr wrap="square" lIns="0" tIns="0" rIns="0" bIns="0" rtlCol="0" anchor="ctr"/>
          <a:lstStyle/>
          <a:p>
            <a:pPr marL="0" indent="0">
              <a:lnSpc>
                <a:spcPct val="125000"/>
              </a:lnSpc>
              <a:buNone/>
            </a:pPr>
            <a:r>
              <a:rPr lang="en-US" sz="1300" dirty="0">
                <a:solidFill>
                  <a:srgbClr val="2B3A55"/>
                </a:solidFill>
                <a:latin typeface="Calibri" pitchFamily="34" charset="0"/>
                <a:ea typeface="Calibri" pitchFamily="34" charset="-122"/>
                <a:cs typeface="Calibri" pitchFamily="34" charset="-120"/>
              </a:rPr>
              <a:t>First-time investors like Priya still face real friction: two competing homepage actions, pricing information spread across several pages, a sharp jump in interface density once inside the trading dashboard, and no role-based path to guide different types of visitors.</a:t>
            </a:r>
            <a:endParaRPr lang="en-US" sz="1300" dirty="0"/>
          </a:p>
        </p:txBody>
      </p:sp>
      <p:sp>
        <p:nvSpPr>
          <p:cNvPr id="15" name="Shape 13"/>
          <p:cNvSpPr/>
          <p:nvPr/>
        </p:nvSpPr>
        <p:spPr>
          <a:xfrm>
            <a:off x="640080" y="4617720"/>
            <a:ext cx="10881360" cy="1188720"/>
          </a:xfrm>
          <a:prstGeom prst="roundRect">
            <a:avLst>
              <a:gd name="adj" fmla="val 7692"/>
            </a:avLst>
          </a:prstGeom>
          <a:solidFill>
            <a:srgbClr val="F4F7FC"/>
          </a:solidFill>
          <a:ln w="12700">
            <a:solidFill>
              <a:srgbClr val="D7E1F2"/>
            </a:solidFill>
            <a:prstDash val="solid"/>
          </a:ln>
        </p:spPr>
      </p:sp>
      <p:sp>
        <p:nvSpPr>
          <p:cNvPr id="16" name="Shape 14"/>
          <p:cNvSpPr/>
          <p:nvPr/>
        </p:nvSpPr>
        <p:spPr>
          <a:xfrm>
            <a:off x="868680" y="4937760"/>
            <a:ext cx="548640" cy="548640"/>
          </a:xfrm>
          <a:prstGeom prst="ellipse">
            <a:avLst/>
          </a:prstGeom>
          <a:solidFill>
            <a:srgbClr val="132A52"/>
          </a:solidFill>
          <a:ln/>
        </p:spPr>
      </p:sp>
      <p:sp>
        <p:nvSpPr>
          <p:cNvPr id="17" name="Text 15"/>
          <p:cNvSpPr/>
          <p:nvPr/>
        </p:nvSpPr>
        <p:spPr>
          <a:xfrm>
            <a:off x="868680" y="4937760"/>
            <a:ext cx="54864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8" name="Text 16"/>
          <p:cNvSpPr/>
          <p:nvPr/>
        </p:nvSpPr>
        <p:spPr>
          <a:xfrm>
            <a:off x="1691640" y="4617720"/>
            <a:ext cx="9646920" cy="1188720"/>
          </a:xfrm>
          <a:prstGeom prst="rect">
            <a:avLst/>
          </a:prstGeom>
          <a:noFill/>
          <a:ln/>
        </p:spPr>
        <p:txBody>
          <a:bodyPr wrap="square" lIns="0" tIns="0" rIns="0" bIns="0" rtlCol="0" anchor="ctr"/>
          <a:lstStyle/>
          <a:p>
            <a:pPr marL="0" indent="0">
              <a:lnSpc>
                <a:spcPct val="125000"/>
              </a:lnSpc>
              <a:buNone/>
            </a:pPr>
            <a:r>
              <a:rPr lang="en-US" sz="1300" dirty="0">
                <a:solidFill>
                  <a:srgbClr val="2B3A55"/>
                </a:solidFill>
                <a:latin typeface="Calibri" pitchFamily="34" charset="0"/>
                <a:ea typeface="Calibri" pitchFamily="34" charset="-122"/>
                <a:cs typeface="Calibri" pitchFamily="34" charset="-120"/>
              </a:rPr>
              <a:t>Closing these UX gaps — through a single clear primary action, consolidated pricing information, a guided first-login experience, and role-based entry points — would let first-time investors convert their trust in the Angel One brand into genuine confidence using the product.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1D3B"/>
        </a:solidFill>
        <a:effectLst/>
      </p:bgPr>
    </p:bg>
    <p:spTree>
      <p:nvGrpSpPr>
        <p:cNvPr id="1" name=""/>
        <p:cNvGrpSpPr/>
        <p:nvPr/>
      </p:nvGrpSpPr>
      <p:grpSpPr>
        <a:xfrm>
          <a:off x="0" y="0"/>
          <a:ext cx="0" cy="0"/>
          <a:chOff x="0" y="0"/>
          <a:chExt cx="0" cy="0"/>
        </a:xfrm>
      </p:grpSpPr>
      <p:sp>
        <p:nvSpPr>
          <p:cNvPr id="2" name="Shape 0"/>
          <p:cNvSpPr/>
          <p:nvPr/>
        </p:nvSpPr>
        <p:spPr>
          <a:xfrm>
            <a:off x="-1097280" y="-1097280"/>
            <a:ext cx="5486400" cy="5486400"/>
          </a:xfrm>
          <a:prstGeom prst="triangle">
            <a:avLst/>
          </a:prstGeom>
          <a:solidFill>
            <a:srgbClr val="132A52">
              <a:alpha val="80000"/>
            </a:srgbClr>
          </a:solidFill>
          <a:ln/>
        </p:spPr>
      </p:sp>
      <p:sp>
        <p:nvSpPr>
          <p:cNvPr id="3" name="Shape 1"/>
          <p:cNvSpPr/>
          <p:nvPr/>
        </p:nvSpPr>
        <p:spPr>
          <a:xfrm rot="10800000">
            <a:off x="8778240" y="4206240"/>
            <a:ext cx="5029200" cy="5029200"/>
          </a:xfrm>
          <a:prstGeom prst="triangle">
            <a:avLst/>
          </a:prstGeom>
          <a:solidFill>
            <a:srgbClr val="FF6A2B">
              <a:alpha val="22000"/>
            </a:srgbClr>
          </a:solidFill>
          <a:ln/>
        </p:spPr>
      </p:sp>
      <p:sp>
        <p:nvSpPr>
          <p:cNvPr id="4" name="Shape 2"/>
          <p:cNvSpPr/>
          <p:nvPr/>
        </p:nvSpPr>
        <p:spPr>
          <a:xfrm>
            <a:off x="5623560" y="1188720"/>
            <a:ext cx="960120" cy="960120"/>
          </a:xfrm>
          <a:prstGeom prst="ellipse">
            <a:avLst/>
          </a:prstGeom>
          <a:solidFill>
            <a:srgbClr val="132A52"/>
          </a:solidFill>
          <a:ln/>
        </p:spPr>
      </p:sp>
      <p:sp>
        <p:nvSpPr>
          <p:cNvPr id="5" name="Text 3"/>
          <p:cNvSpPr/>
          <p:nvPr/>
        </p:nvSpPr>
        <p:spPr>
          <a:xfrm>
            <a:off x="5623560" y="1188720"/>
            <a:ext cx="960120" cy="96012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Text 4"/>
          <p:cNvSpPr/>
          <p:nvPr/>
        </p:nvSpPr>
        <p:spPr>
          <a:xfrm>
            <a:off x="0" y="2468880"/>
            <a:ext cx="12188952" cy="1005840"/>
          </a:xfrm>
          <a:prstGeom prst="rect">
            <a:avLst/>
          </a:prstGeom>
          <a:noFill/>
          <a:ln/>
        </p:spPr>
        <p:txBody>
          <a:bodyPr wrap="square" lIns="0" tIns="0" rIns="0" bIns="0" rtlCol="0" anchor="ctr"/>
          <a:lstStyle/>
          <a:p>
            <a:pPr marL="0" indent="0" algn="ctr">
              <a:buNone/>
            </a:pPr>
            <a:r>
              <a:rPr lang="en-US" sz="4400" b="1" dirty="0">
                <a:solidFill>
                  <a:srgbClr val="FFFFFF"/>
                </a:solidFill>
                <a:latin typeface="Century Schoolbook" pitchFamily="34" charset="0"/>
                <a:ea typeface="Century Schoolbook" pitchFamily="34" charset="-122"/>
                <a:cs typeface="Century Schoolbook" pitchFamily="34" charset="-120"/>
              </a:rPr>
              <a:t>THANK YOU</a:t>
            </a:r>
            <a:endParaRPr lang="en-US" sz="4400" dirty="0"/>
          </a:p>
        </p:txBody>
      </p:sp>
      <p:sp>
        <p:nvSpPr>
          <p:cNvPr id="7" name="Shape 5"/>
          <p:cNvSpPr/>
          <p:nvPr/>
        </p:nvSpPr>
        <p:spPr>
          <a:xfrm>
            <a:off x="3803904" y="3657600"/>
            <a:ext cx="4572000" cy="685800"/>
          </a:xfrm>
          <a:prstGeom prst="roundRect">
            <a:avLst>
              <a:gd name="adj" fmla="val 10667"/>
            </a:avLst>
          </a:prstGeom>
          <a:solidFill>
            <a:srgbClr val="132A52"/>
          </a:solidFill>
          <a:ln/>
        </p:spPr>
      </p:sp>
      <p:sp>
        <p:nvSpPr>
          <p:cNvPr id="8" name="Text 6"/>
          <p:cNvSpPr/>
          <p:nvPr/>
        </p:nvSpPr>
        <p:spPr>
          <a:xfrm>
            <a:off x="3803904" y="3657600"/>
            <a:ext cx="4572000" cy="685800"/>
          </a:xfrm>
          <a:prstGeom prst="rect">
            <a:avLst/>
          </a:prstGeom>
          <a:noFill/>
          <a:ln/>
        </p:spPr>
        <p:txBody>
          <a:bodyPr wrap="square" lIns="0" tIns="0" rIns="0" bIns="0" rtlCol="0" anchor="ctr"/>
          <a:lstStyle/>
          <a:p>
            <a:pPr marL="0" indent="0" algn="ctr">
              <a:buNone/>
            </a:pPr>
            <a:r>
              <a:rPr lang="en-US" sz="1250" dirty="0">
                <a:solidFill>
                  <a:srgbClr val="CBD6EC"/>
                </a:solidFill>
                <a:latin typeface="Calibri" pitchFamily="34" charset="0"/>
                <a:ea typeface="Calibri" pitchFamily="34" charset="-122"/>
                <a:cs typeface="Calibri" pitchFamily="34" charset="-120"/>
              </a:rPr>
              <a:t>User Persona for the Angel One Website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1274</Words>
  <Application>Microsoft Office PowerPoint</Application>
  <PresentationFormat>Widescreen</PresentationFormat>
  <Paragraphs>203</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Century Schoolbook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Ayan .</cp:lastModifiedBy>
  <cp:revision>2</cp:revision>
  <dcterms:created xsi:type="dcterms:W3CDTF">2026-08-07T07:34:29Z</dcterms:created>
  <dcterms:modified xsi:type="dcterms:W3CDTF">2026-08-07T10:51:44Z</dcterms:modified>
</cp:coreProperties>
</file>